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67" r:id="rId2"/>
    <p:sldId id="268" r:id="rId3"/>
    <p:sldId id="260" r:id="rId4"/>
    <p:sldId id="261" r:id="rId5"/>
    <p:sldId id="262" r:id="rId6"/>
    <p:sldId id="263"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8" r:id="rId23"/>
    <p:sldId id="287" r:id="rId24"/>
    <p:sldId id="286" r:id="rId25"/>
    <p:sldId id="285"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03" r:id="rId41"/>
    <p:sldId id="318" r:id="rId42"/>
    <p:sldId id="289" r:id="rId43"/>
    <p:sldId id="290" r:id="rId44"/>
    <p:sldId id="292" r:id="rId45"/>
    <p:sldId id="294" r:id="rId46"/>
    <p:sldId id="296" r:id="rId47"/>
    <p:sldId id="298" r:id="rId48"/>
    <p:sldId id="300" r:id="rId49"/>
    <p:sldId id="302" r:id="rId50"/>
    <p:sldId id="320" r:id="rId51"/>
    <p:sldId id="321" r:id="rId52"/>
    <p:sldId id="322" r:id="rId53"/>
    <p:sldId id="323" r:id="rId54"/>
    <p:sldId id="324" r:id="rId55"/>
    <p:sldId id="325" r:id="rId56"/>
    <p:sldId id="326" r:id="rId57"/>
    <p:sldId id="327" r:id="rId58"/>
    <p:sldId id="328" r:id="rId59"/>
    <p:sldId id="329" r:id="rId60"/>
    <p:sldId id="330" r:id="rId61"/>
    <p:sldId id="331" r:id="rId62"/>
    <p:sldId id="332" r:id="rId63"/>
    <p:sldId id="333" r:id="rId64"/>
    <p:sldId id="334" r:id="rId65"/>
    <p:sldId id="335" r:id="rId66"/>
    <p:sldId id="336" r:id="rId67"/>
    <p:sldId id="338" r:id="rId68"/>
    <p:sldId id="340" r:id="rId69"/>
    <p:sldId id="342" r:id="rId70"/>
    <p:sldId id="344" r:id="rId71"/>
    <p:sldId id="346" r:id="rId72"/>
    <p:sldId id="348" r:id="rId73"/>
    <p:sldId id="350" r:id="rId74"/>
    <p:sldId id="352" r:id="rId75"/>
    <p:sldId id="354" r:id="rId76"/>
    <p:sldId id="356" r:id="rId77"/>
    <p:sldId id="358" r:id="rId78"/>
    <p:sldId id="360" r:id="rId79"/>
    <p:sldId id="362" r:id="rId80"/>
    <p:sldId id="364" r:id="rId81"/>
    <p:sldId id="366" r:id="rId8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82FAFC-EE55-49FA-A959-03B634DE6351}" v="250" dt="2025-04-12T21:08:44.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734" y="-7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495E33-B0E4-41F4-9EA6-4D788DB1F9D5}" type="datetimeFigureOut">
              <a:rPr lang="en-US" smtClean="0"/>
              <a:t>4/23/2025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20F39C-0CD2-4FB8-B081-3921AB4BE585}" type="slidenum">
              <a:rPr lang="en-US" smtClean="0"/>
              <a:t>‹#›</a:t>
            </a:fld>
            <a:endParaRPr lang="en-US"/>
          </a:p>
        </p:txBody>
      </p:sp>
    </p:spTree>
    <p:extLst>
      <p:ext uri="{BB962C8B-B14F-4D97-AF65-F5344CB8AC3E}">
        <p14:creationId xmlns:p14="http://schemas.microsoft.com/office/powerpoint/2010/main" val="1755092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20F39C-0CD2-4FB8-B081-3921AB4BE585}" type="slidenum">
              <a:rPr lang="en-US" smtClean="0"/>
              <a:t>1</a:t>
            </a:fld>
            <a:endParaRPr lang="en-US"/>
          </a:p>
        </p:txBody>
      </p:sp>
    </p:spTree>
    <p:extLst>
      <p:ext uri="{BB962C8B-B14F-4D97-AF65-F5344CB8AC3E}">
        <p14:creationId xmlns:p14="http://schemas.microsoft.com/office/powerpoint/2010/main" val="2989996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Slide Image Placeholder 1"/>
          <p:cNvSpPr>
            <a:spLocks noGrp="1" noRot="1" noChangeAspect="1"/>
          </p:cNvSpPr>
          <p:nvPr>
            <p:ph type="sldImg"/>
          </p:nvPr>
        </p:nvSpPr>
        <p:spPr/>
      </p:sp>
      <p:sp>
        <p:nvSpPr>
          <p:cNvPr id="1048595" name="Notes Placeholder 2"/>
          <p:cNvSpPr>
            <a:spLocks noGrp="1"/>
          </p:cNvSpPr>
          <p:nvPr>
            <p:ph type="body" idx="1"/>
          </p:nvPr>
        </p:nvSpPr>
        <p:spPr/>
        <p:txBody>
          <a:bodyPr/>
          <a:lstStyle/>
          <a:p>
            <a:endParaRPr lang="en-US" dirty="0"/>
          </a:p>
        </p:txBody>
      </p:sp>
      <p:sp>
        <p:nvSpPr>
          <p:cNvPr id="1048596" name="Slide Number Placeholder 3"/>
          <p:cNvSpPr>
            <a:spLocks noGrp="1"/>
          </p:cNvSpPr>
          <p:nvPr>
            <p:ph type="sldNum" sz="quarter" idx="10"/>
          </p:nvPr>
        </p:nvSpPr>
        <p:spPr/>
        <p:txBody>
          <a:bodyPr/>
          <a:lstStyle/>
          <a:p>
            <a:fld id="{8D6EB123-6EA6-416D-BA46-C77855E1AB51}"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fld id="{8D6EB123-6EA6-416D-BA46-C77855E1AB51}" type="slidenum">
              <a:rPr lang="en-US" smtClean="0"/>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Slide Image Placeholder 1"/>
          <p:cNvSpPr>
            <a:spLocks noGrp="1" noRot="1" noChangeAspect="1"/>
          </p:cNvSpPr>
          <p:nvPr>
            <p:ph type="sldImg"/>
          </p:nvPr>
        </p:nvSpPr>
        <p:spPr/>
      </p:sp>
      <p:sp>
        <p:nvSpPr>
          <p:cNvPr id="1048605" name="Notes Placeholder 2"/>
          <p:cNvSpPr>
            <a:spLocks noGrp="1"/>
          </p:cNvSpPr>
          <p:nvPr>
            <p:ph type="body" idx="1"/>
          </p:nvPr>
        </p:nvSpPr>
        <p:spPr/>
        <p:txBody>
          <a:bodyPr/>
          <a:lstStyle/>
          <a:p>
            <a:endParaRPr lang="en-US" dirty="0"/>
          </a:p>
        </p:txBody>
      </p:sp>
      <p:sp>
        <p:nvSpPr>
          <p:cNvPr id="1048606" name="Slide Number Placeholder 3"/>
          <p:cNvSpPr>
            <a:spLocks noGrp="1"/>
          </p:cNvSpPr>
          <p:nvPr>
            <p:ph type="sldNum" sz="quarter" idx="10"/>
          </p:nvPr>
        </p:nvSpPr>
        <p:spPr/>
        <p:txBody>
          <a:bodyPr/>
          <a:lstStyle/>
          <a:p>
            <a:fld id="{8D6EB123-6EA6-416D-BA46-C77855E1AB51}"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Slide Image Placeholder 1"/>
          <p:cNvSpPr>
            <a:spLocks noGrp="1" noRot="1" noChangeAspect="1"/>
          </p:cNvSpPr>
          <p:nvPr>
            <p:ph type="sldImg"/>
          </p:nvPr>
        </p:nvSpPr>
        <p:spPr/>
      </p:sp>
      <p:sp>
        <p:nvSpPr>
          <p:cNvPr id="1048610" name="Notes Placeholder 2"/>
          <p:cNvSpPr>
            <a:spLocks noGrp="1"/>
          </p:cNvSpPr>
          <p:nvPr>
            <p:ph type="body" idx="1"/>
          </p:nvPr>
        </p:nvSpPr>
        <p:spPr/>
        <p:txBody>
          <a:bodyPr/>
          <a:lstStyle/>
          <a:p>
            <a:endParaRPr lang="en-US" dirty="0"/>
          </a:p>
        </p:txBody>
      </p:sp>
      <p:sp>
        <p:nvSpPr>
          <p:cNvPr id="1048611" name="Slide Number Placeholder 3"/>
          <p:cNvSpPr>
            <a:spLocks noGrp="1"/>
          </p:cNvSpPr>
          <p:nvPr>
            <p:ph type="sldNum" sz="quarter" idx="10"/>
          </p:nvPr>
        </p:nvSpPr>
        <p:spPr/>
        <p:txBody>
          <a:bodyPr/>
          <a:lstStyle/>
          <a:p>
            <a:fld id="{8D6EB123-6EA6-416D-BA46-C77855E1AB51}"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Slide Image Placeholder 1"/>
          <p:cNvSpPr>
            <a:spLocks noGrp="1" noRot="1" noChangeAspect="1"/>
          </p:cNvSpPr>
          <p:nvPr>
            <p:ph type="sldImg"/>
          </p:nvPr>
        </p:nvSpPr>
        <p:spPr/>
      </p:sp>
      <p:sp>
        <p:nvSpPr>
          <p:cNvPr id="1048615" name="Notes Placeholder 2"/>
          <p:cNvSpPr>
            <a:spLocks noGrp="1"/>
          </p:cNvSpPr>
          <p:nvPr>
            <p:ph type="body" idx="1"/>
          </p:nvPr>
        </p:nvSpPr>
        <p:spPr/>
        <p:txBody>
          <a:bodyPr/>
          <a:lstStyle/>
          <a:p>
            <a:endParaRPr lang="en-US" dirty="0"/>
          </a:p>
        </p:txBody>
      </p:sp>
      <p:sp>
        <p:nvSpPr>
          <p:cNvPr id="1048616" name="Slide Number Placeholder 3"/>
          <p:cNvSpPr>
            <a:spLocks noGrp="1"/>
          </p:cNvSpPr>
          <p:nvPr>
            <p:ph type="sldNum" sz="quarter" idx="10"/>
          </p:nvPr>
        </p:nvSpPr>
        <p:spPr/>
        <p:txBody>
          <a:bodyPr/>
          <a:lstStyle/>
          <a:p>
            <a:fld id="{8D6EB123-6EA6-416D-BA46-C77855E1AB51}"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Slide Image Placeholder 1"/>
          <p:cNvSpPr>
            <a:spLocks noGrp="1" noRot="1" noChangeAspect="1"/>
          </p:cNvSpPr>
          <p:nvPr>
            <p:ph type="sldImg"/>
          </p:nvPr>
        </p:nvSpPr>
        <p:spPr/>
      </p:sp>
      <p:sp>
        <p:nvSpPr>
          <p:cNvPr id="1048615" name="Notes Placeholder 2"/>
          <p:cNvSpPr>
            <a:spLocks noGrp="1"/>
          </p:cNvSpPr>
          <p:nvPr>
            <p:ph type="body" idx="1"/>
          </p:nvPr>
        </p:nvSpPr>
        <p:spPr/>
        <p:txBody>
          <a:bodyPr/>
          <a:lstStyle/>
          <a:p>
            <a:endParaRPr lang="en-US" dirty="0"/>
          </a:p>
        </p:txBody>
      </p:sp>
      <p:sp>
        <p:nvSpPr>
          <p:cNvPr id="1048616" name="Slide Number Placeholder 3"/>
          <p:cNvSpPr>
            <a:spLocks noGrp="1"/>
          </p:cNvSpPr>
          <p:nvPr>
            <p:ph type="sldNum" sz="quarter" idx="10"/>
          </p:nvPr>
        </p:nvSpPr>
        <p:spPr/>
        <p:txBody>
          <a:bodyPr/>
          <a:lstStyle/>
          <a:p>
            <a:fld id="{8D6EB123-6EA6-416D-BA46-C77855E1AB51}" type="slidenum">
              <a:rPr lang="en-US" smtClean="0"/>
              <a:t>42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6DC907B-7AED-4637-B5DB-3A151F719135}"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4014585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DC907B-7AED-4637-B5DB-3A151F719135}"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1549625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DC907B-7AED-4637-B5DB-3A151F719135}"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2019094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6DC907B-7AED-4637-B5DB-3A151F719135}" type="datetimeFigureOut">
              <a:rPr lang="en-US" smtClean="0"/>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2395233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6DC907B-7AED-4637-B5DB-3A151F719135}" type="datetimeFigureOut">
              <a:rPr lang="en-US" smtClean="0"/>
              <a:t>4/23/2025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1280471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6DC907B-7AED-4637-B5DB-3A151F719135}" type="datetimeFigureOut">
              <a:rPr lang="en-US" smtClean="0"/>
              <a:t>4/23/2025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606483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DC907B-7AED-4637-B5DB-3A151F719135}" type="datetimeFigureOut">
              <a:rPr lang="en-US" smtClean="0"/>
              <a:t>4/23/2025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3009938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DC907B-7AED-4637-B5DB-3A151F719135}" type="datetimeFigureOut">
              <a:rPr lang="en-US" smtClean="0"/>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1909196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DC907B-7AED-4637-B5DB-3A151F719135}" type="datetimeFigureOut">
              <a:rPr lang="en-US" smtClean="0"/>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2394285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DC907B-7AED-4637-B5DB-3A151F719135}"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3162125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DC907B-7AED-4637-B5DB-3A151F719135}"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229515-23A5-4C2F-9E5C-022CE59138F8}" type="slidenum">
              <a:rPr lang="en-US" smtClean="0"/>
              <a:t>‹#›</a:t>
            </a:fld>
            <a:endParaRPr lang="en-US"/>
          </a:p>
        </p:txBody>
      </p:sp>
    </p:spTree>
    <p:extLst>
      <p:ext uri="{BB962C8B-B14F-4D97-AF65-F5344CB8AC3E}">
        <p14:creationId xmlns:p14="http://schemas.microsoft.com/office/powerpoint/2010/main" val="2352056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DC907B-7AED-4637-B5DB-3A151F719135}" type="datetimeFigureOut">
              <a:rPr lang="en-US" smtClean="0"/>
              <a:t>4/23/2025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229515-23A5-4C2F-9E5C-022CE59138F8}" type="slidenum">
              <a:rPr lang="en-US" smtClean="0"/>
              <a:t>‹#›</a:t>
            </a:fld>
            <a:endParaRPr lang="en-US"/>
          </a:p>
        </p:txBody>
      </p:sp>
    </p:spTree>
    <p:extLst>
      <p:ext uri="{BB962C8B-B14F-4D97-AF65-F5344CB8AC3E}">
        <p14:creationId xmlns:p14="http://schemas.microsoft.com/office/powerpoint/2010/main" val="3103421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108/JEEE-03-2021-0123"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177/03063070231159568"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hbr.org/2020/04/a-way-forward-for-small-business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abacademies.org/articles/Functional-strategies-for-small-businesses-during-crisis-situations-1528-2686-27-3-527.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doi.org/10.1080/08985626.2018.1541594"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1177/0266242620945102"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doi.org/10.1016/j.jbusres.2020.05.025"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doi.org/10.1080/08985626.2018.1541590"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doi.org/10.14254/2071-8330.2020/13-3/16"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1002/smj.3161"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doi.org/10.1007/s11187-021-00476-7"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doi.org/10.22219/jiko.v5i3.11838"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doi.org/10.1007/s11187-021-00479-4"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doi.org/10.1002/sej.1430"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doi.org/10.1177/0266242612448077"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doi.org/10.35564/jbes.2020.0215"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doi.org/10.1108/IJEBR-04-2020-0214"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doi.org/10.1177/0266242620949136"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doi.org/10.1016/j.jbvi.2020.e00187"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doi.org/10.1016/j.jbvi.2020.e00169"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doi.org/10.1177/0266242620936590"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doi.org/10.1073/pnas.2006991117"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doi.org/10.1177/1042258717753142"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doi.org/10.1016/j.respol.2022.104517"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doi.org/10.1080/13662716.2020.1838273"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Content Placeholder 2"/>
          <p:cNvSpPr>
            <a:spLocks noGrp="1"/>
          </p:cNvSpPr>
          <p:nvPr>
            <p:ph idx="1"/>
          </p:nvPr>
        </p:nvSpPr>
        <p:spPr>
          <a:xfrm>
            <a:off x="0" y="0"/>
            <a:ext cx="9144000" cy="6858000"/>
          </a:xfrm>
        </p:spPr>
        <p:txBody>
          <a:bodyPr>
            <a:normAutofit fontScale="63929" lnSpcReduction="20000"/>
          </a:bodyPr>
          <a:lstStyle/>
          <a:p>
            <a:pPr marL="0" indent="0" algn="ctr">
              <a:buNone/>
            </a:pPr>
            <a:endParaRPr lang="en-US" sz="3600" b="1" dirty="0">
              <a:latin typeface="Times New Roman" panose="02020603050405020304" pitchFamily="18" charset="0"/>
              <a:cs typeface="Times New Roman" panose="02020603050405020304" pitchFamily="18" charset="0"/>
            </a:endParaRPr>
          </a:p>
          <a:p>
            <a:pPr marL="0" indent="0" algn="ctr">
              <a:buNone/>
            </a:pPr>
            <a:r>
              <a:rPr lang="en-US" sz="3600" b="1" dirty="0">
                <a:latin typeface="Times New Roman" panose="02020603050405020304" pitchFamily="18" charset="0"/>
                <a:cs typeface="Times New Roman" panose="02020603050405020304" pitchFamily="18" charset="0"/>
              </a:rPr>
              <a:t>SUMMARY TABLE OF LITERATURE (STOL )</a:t>
            </a:r>
          </a:p>
          <a:p>
            <a:pPr marL="0" indent="0" algn="ctr">
              <a:buNone/>
            </a:pPr>
            <a:r>
              <a:rPr lang="en-US" sz="3600" b="1" dirty="0">
                <a:latin typeface="Times New Roman" panose="02020603050405020304" pitchFamily="18" charset="0"/>
                <a:cs typeface="Times New Roman" panose="02020603050405020304" pitchFamily="18" charset="0"/>
              </a:rPr>
              <a:t>              </a:t>
            </a:r>
          </a:p>
          <a:p>
            <a:pPr marL="0" indent="0" algn="ctr">
              <a:buNone/>
            </a:pPr>
            <a:r>
              <a:rPr lang="en-US" sz="3600" i="1" dirty="0">
                <a:latin typeface="Times New Roman" panose="02020603050405020304" pitchFamily="18" charset="0"/>
                <a:cs typeface="Times New Roman" panose="02020603050405020304" pitchFamily="18" charset="0"/>
              </a:rPr>
              <a:t>Part requirements for Seminar </a:t>
            </a:r>
          </a:p>
          <a:p>
            <a:pPr marL="0" indent="0" algn="ctr">
              <a:buNone/>
            </a:pPr>
            <a:r>
              <a:rPr lang="en-US" sz="3600" b="1" dirty="0">
                <a:latin typeface="Times New Roman" panose="02020603050405020304" pitchFamily="18" charset="0"/>
                <a:cs typeface="Times New Roman" panose="02020603050405020304" pitchFamily="18" charset="0"/>
              </a:rPr>
              <a:t>NAME: </a:t>
            </a:r>
          </a:p>
          <a:p>
            <a:pPr marL="0" indent="0" algn="ctr">
              <a:buNone/>
            </a:pPr>
            <a:r>
              <a:rPr lang="en-US" sz="3600" b="1" dirty="0" err="1">
                <a:latin typeface="Times New Roman" panose="02020603050405020304" pitchFamily="18" charset="0"/>
                <a:cs typeface="Times New Roman" panose="02020603050405020304" pitchFamily="18" charset="0"/>
              </a:rPr>
              <a:t>Emmanson</a:t>
            </a:r>
            <a:r>
              <a:rPr lang="en-US" sz="3600" b="1" dirty="0">
                <a:latin typeface="Times New Roman" panose="02020603050405020304" pitchFamily="18" charset="0"/>
                <a:cs typeface="Times New Roman" panose="02020603050405020304" pitchFamily="18" charset="0"/>
              </a:rPr>
              <a:t> Mercy Joy</a:t>
            </a:r>
          </a:p>
          <a:p>
            <a:pPr marL="0" indent="0" algn="ctr">
              <a:buNone/>
            </a:pPr>
            <a:r>
              <a:rPr lang="en-US" b="1" dirty="0">
                <a:latin typeface="Times New Roman" panose="02020603050405020304" pitchFamily="18" charset="0"/>
                <a:cs typeface="Times New Roman" panose="02020603050405020304" pitchFamily="18" charset="0"/>
              </a:rPr>
              <a:t>MATRIC NO: </a:t>
            </a:r>
          </a:p>
          <a:p>
            <a:pPr marL="0" indent="0" algn="ctr">
              <a:buNone/>
            </a:pPr>
            <a:r>
              <a:rPr lang="en-US" b="1" dirty="0">
                <a:latin typeface="Times New Roman" panose="02020603050405020304" pitchFamily="18" charset="0"/>
                <a:cs typeface="Times New Roman" panose="02020603050405020304" pitchFamily="18" charset="0"/>
              </a:rPr>
              <a:t>PG/ 24/0896</a:t>
            </a:r>
          </a:p>
          <a:p>
            <a:pPr marL="0" indent="0" algn="ctr">
              <a:buNone/>
            </a:pPr>
            <a:r>
              <a:rPr lang="en-US" b="1" dirty="0">
                <a:latin typeface="Times New Roman" panose="02020603050405020304" pitchFamily="18" charset="0"/>
                <a:cs typeface="Times New Roman" panose="02020603050405020304" pitchFamily="18" charset="0"/>
              </a:rPr>
              <a:t>COURSE:</a:t>
            </a:r>
          </a:p>
          <a:p>
            <a:pPr marL="0" indent="0" algn="ctr">
              <a:buNone/>
            </a:pPr>
            <a:r>
              <a:rPr lang="en-US" b="1" dirty="0">
                <a:latin typeface="Times New Roman" panose="02020603050405020304" pitchFamily="18" charset="0"/>
                <a:cs typeface="Times New Roman" panose="02020603050405020304" pitchFamily="18" charset="0"/>
              </a:rPr>
              <a:t>Business administration</a:t>
            </a:r>
          </a:p>
          <a:p>
            <a:pPr marL="0" indent="0" algn="ctr">
              <a:buNone/>
            </a:pPr>
            <a:r>
              <a:rPr lang="en-US" b="1" dirty="0">
                <a:latin typeface="Times New Roman" panose="02020603050405020304" pitchFamily="18" charset="0"/>
                <a:cs typeface="Times New Roman" panose="02020603050405020304" pitchFamily="18" charset="0"/>
              </a:rPr>
              <a:t>AREA OF SPECIALIZATION: </a:t>
            </a:r>
          </a:p>
          <a:p>
            <a:pPr marL="0" indent="0" algn="ctr">
              <a:buNone/>
            </a:pPr>
            <a:r>
              <a:rPr lang="en-US" b="1" dirty="0">
                <a:latin typeface="Times New Roman" panose="02020603050405020304" pitchFamily="18" charset="0"/>
                <a:cs typeface="Times New Roman" panose="02020603050405020304" pitchFamily="18" charset="0"/>
              </a:rPr>
              <a:t>Entrepreneurship and small business management</a:t>
            </a:r>
          </a:p>
          <a:p>
            <a:pPr marL="0" indent="0" algn="ctr">
              <a:buNone/>
            </a:pPr>
            <a:r>
              <a:rPr lang="en-US" b="1" dirty="0">
                <a:latin typeface="Times New Roman" panose="02020603050405020304" pitchFamily="18" charset="0"/>
                <a:cs typeface="Times New Roman" panose="02020603050405020304" pitchFamily="18" charset="0"/>
              </a:rPr>
              <a:t>AREA OF INTEREST:</a:t>
            </a:r>
          </a:p>
          <a:p>
            <a:pPr marL="0" indent="0" algn="ctr">
              <a:buNone/>
            </a:pPr>
            <a:r>
              <a:rPr lang="en-US" b="1" dirty="0">
                <a:latin typeface="Times New Roman" panose="02020603050405020304" pitchFamily="18" charset="0"/>
                <a:cs typeface="Times New Roman" panose="02020603050405020304" pitchFamily="18" charset="0"/>
              </a:rPr>
              <a:t>Small business and entrepreneurship in time of crises</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 PRESENTED TO:</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DR. SOETAN &amp; DR. MAKINDE</a:t>
            </a:r>
          </a:p>
          <a:p>
            <a:pPr marL="0" indent="0" algn="ctr">
              <a:buNone/>
            </a:pPr>
            <a:r>
              <a:rPr lang="en-US" altLang="en-US" b="1" dirty="0">
                <a:latin typeface="Times New Roman" panose="02020603050405020304" pitchFamily="18" charset="0"/>
                <a:cs typeface="Times New Roman" panose="02020603050405020304" pitchFamily="18" charset="0"/>
              </a:rPr>
              <a:t>                   SCHOOL OF MANAGEMENT SCIENCES, BABCOCK UNIVERSITY, ILISHAN REMO, OGUN STATE, NIGERIA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Title 1"/>
          <p:cNvSpPr>
            <a:spLocks noGrp="1"/>
          </p:cNvSpPr>
          <p:nvPr>
            <p:ph type="ctrTitle"/>
          </p:nvPr>
        </p:nvSpPr>
        <p:spPr>
          <a:xfrm>
            <a:off x="1371600" y="76200"/>
            <a:ext cx="6400800" cy="457200"/>
          </a:xfrm>
        </p:spPr>
        <p:txBody>
          <a:bodyPr>
            <a:noAutofit/>
          </a:bodyPr>
          <a:lstStyle/>
          <a:p>
            <a:r>
              <a:rPr lang="en-US" sz="4000" b="1" dirty="0"/>
              <a:t>ARTICLE 1</a:t>
            </a:r>
          </a:p>
        </p:txBody>
      </p:sp>
      <p:sp>
        <p:nvSpPr>
          <p:cNvPr id="1048593" name="Subtitle 2"/>
          <p:cNvSpPr>
            <a:spLocks noGrp="1"/>
          </p:cNvSpPr>
          <p:nvPr>
            <p:ph type="subTitle" idx="1"/>
          </p:nvPr>
        </p:nvSpPr>
        <p:spPr>
          <a:xfrm>
            <a:off x="1257300" y="731949"/>
            <a:ext cx="6629400" cy="6096000"/>
          </a:xfrm>
        </p:spPr>
        <p:txBody>
          <a:bodyPr>
            <a:noAutofit/>
          </a:bodyPr>
          <a:lstStyle/>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p:txBody>
      </p:sp>
      <p:graphicFrame>
        <p:nvGraphicFramePr>
          <p:cNvPr id="4194304" name="Table 3"/>
          <p:cNvGraphicFramePr>
            <a:graphicFrameLocks noGrp="1"/>
          </p:cNvGraphicFramePr>
          <p:nvPr>
            <p:extLst>
              <p:ext uri="{D42A27DB-BD31-4B8C-83A1-F6EECF244321}">
                <p14:modId xmlns:p14="http://schemas.microsoft.com/office/powerpoint/2010/main" val="3505946018"/>
              </p:ext>
            </p:extLst>
          </p:nvPr>
        </p:nvGraphicFramePr>
        <p:xfrm>
          <a:off x="0" y="533401"/>
          <a:ext cx="9144000" cy="6095997"/>
        </p:xfrm>
        <a:graphic>
          <a:graphicData uri="http://schemas.openxmlformats.org/drawingml/2006/table">
            <a:tbl>
              <a:tblPr firstRow="1" bandRow="1">
                <a:tableStyleId>{5C22544A-7EE6-4342-B048-85BDC9FD1C3A}</a:tableStyleId>
              </a:tblPr>
              <a:tblGrid>
                <a:gridCol w="1255521">
                  <a:extLst>
                    <a:ext uri="{9D8B030D-6E8A-4147-A177-3AD203B41FA5}">
                      <a16:colId xmlns:a16="http://schemas.microsoft.com/office/drawing/2014/main" val="20000"/>
                    </a:ext>
                  </a:extLst>
                </a:gridCol>
                <a:gridCol w="7888479">
                  <a:extLst>
                    <a:ext uri="{9D8B030D-6E8A-4147-A177-3AD203B41FA5}">
                      <a16:colId xmlns:a16="http://schemas.microsoft.com/office/drawing/2014/main" val="20001"/>
                    </a:ext>
                  </a:extLst>
                </a:gridCol>
              </a:tblGrid>
              <a:tr h="649583">
                <a:tc>
                  <a:txBody>
                    <a:bodyPr/>
                    <a:lstStyle/>
                    <a:p>
                      <a:pPr algn="l"/>
                      <a:r>
                        <a:rPr lang="en-US" sz="1800" b="1" dirty="0">
                          <a:solidFill>
                            <a:schemeClr val="tx1"/>
                          </a:solidFill>
                          <a:latin typeface="+mn-lt"/>
                        </a:rPr>
                        <a:t>Author/Date:</a:t>
                      </a:r>
                      <a:endParaRPr lang="en-US" sz="1800" b="1" dirty="0">
                        <a:latin typeface="+mn-lt"/>
                      </a:endParaRPr>
                    </a:p>
                  </a:txBody>
                  <a:tcPr marL="68580" marR="68580"/>
                </a:tc>
                <a:tc>
                  <a:txBody>
                    <a:bodyPr/>
                    <a:lstStyle/>
                    <a:p>
                      <a:pPr marL="0" marR="0" indent="0" algn="just" defTabSz="914400" rtl="0" eaLnBrk="1" fontAlgn="auto" latinLnBrk="0" hangingPunct="1">
                        <a:lnSpc>
                          <a:spcPct val="100000"/>
                        </a:lnSpc>
                        <a:spcBef>
                          <a:spcPts val="0"/>
                        </a:spcBef>
                        <a:spcAft>
                          <a:spcPts val="0"/>
                        </a:spcAft>
                        <a:buClrTx/>
                        <a:buSzTx/>
                        <a:buFontTx/>
                        <a:buNone/>
                      </a:pPr>
                      <a:r>
                        <a:rPr lang="en-GB" b="0" dirty="0"/>
                        <a:t>Alexander, N, Martin, O,  Joern, B,(2022).</a:t>
                      </a:r>
                      <a:endParaRPr lang="en-US" sz="1800" b="0" dirty="0">
                        <a:solidFill>
                          <a:schemeClr val="bg1"/>
                        </a:solidFill>
                        <a:latin typeface="+mn-lt"/>
                      </a:endParaRPr>
                    </a:p>
                  </a:txBody>
                  <a:tcPr marL="68580" marR="68580"/>
                </a:tc>
                <a:extLst>
                  <a:ext uri="{0D108BD9-81ED-4DB2-BD59-A6C34878D82A}">
                    <a16:rowId xmlns:a16="http://schemas.microsoft.com/office/drawing/2014/main" val="10000"/>
                  </a:ext>
                </a:extLst>
              </a:tr>
              <a:tr h="649583">
                <a:tc>
                  <a:txBody>
                    <a:bodyPr/>
                    <a:lstStyle/>
                    <a:p>
                      <a:pPr algn="l"/>
                      <a:r>
                        <a:rPr lang="en-US" sz="1800" b="1" dirty="0">
                          <a:solidFill>
                            <a:schemeClr val="tx1"/>
                          </a:solidFill>
                          <a:latin typeface="+mn-lt"/>
                        </a:rPr>
                        <a:t>Title:</a:t>
                      </a:r>
                      <a:endParaRPr lang="en-US" sz="1800" b="1" dirty="0">
                        <a:latin typeface="+mn-lt"/>
                      </a:endParaRPr>
                    </a:p>
                  </a:txBody>
                  <a:tcPr marL="68580" marR="68580"/>
                </a:tc>
                <a:tc>
                  <a:txBody>
                    <a:bodyPr/>
                    <a:lstStyle/>
                    <a:p>
                      <a:pPr algn="just"/>
                      <a:r>
                        <a:rPr lang="en-US" dirty="0"/>
                        <a:t>Small businesses and entrepreneurship in times of crises: the renaissance of entrepreneur-focused micro perspectives</a:t>
                      </a:r>
                      <a:endParaRPr lang="en-US" sz="1800" b="0" dirty="0">
                        <a:latin typeface="+mn-lt"/>
                      </a:endParaRPr>
                    </a:p>
                  </a:txBody>
                  <a:tcPr marL="68580" marR="68580"/>
                </a:tc>
                <a:extLst>
                  <a:ext uri="{0D108BD9-81ED-4DB2-BD59-A6C34878D82A}">
                    <a16:rowId xmlns:a16="http://schemas.microsoft.com/office/drawing/2014/main" val="10001"/>
                  </a:ext>
                </a:extLst>
              </a:tr>
              <a:tr h="649583">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pPr algn="l"/>
                      <a:r>
                        <a:rPr lang="en-US" i="1" dirty="0"/>
                        <a:t>International Small Business Journal / </a:t>
                      </a:r>
                      <a:r>
                        <a:rPr lang="en-US" dirty="0"/>
                        <a:t>https://doi.org/10.1177/02662426211063390</a:t>
                      </a:r>
                      <a:endParaRPr lang="en-US" sz="1800" b="0" dirty="0">
                        <a:solidFill>
                          <a:srgbClr val="FF0000"/>
                        </a:solidFill>
                        <a:latin typeface="+mn-lt"/>
                      </a:endParaRPr>
                    </a:p>
                  </a:txBody>
                  <a:tcPr marL="68580" marR="68580"/>
                </a:tc>
                <a:extLst>
                  <a:ext uri="{0D108BD9-81ED-4DB2-BD59-A6C34878D82A}">
                    <a16:rowId xmlns:a16="http://schemas.microsoft.com/office/drawing/2014/main" val="10002"/>
                  </a:ext>
                </a:extLst>
              </a:tr>
              <a:tr h="976480">
                <a:tc>
                  <a:txBody>
                    <a:bodyPr/>
                    <a:lstStyle/>
                    <a:p>
                      <a:pPr algn="l"/>
                      <a:r>
                        <a:rPr lang="en-US" sz="1800" b="1" dirty="0">
                          <a:solidFill>
                            <a:schemeClr val="tx1"/>
                          </a:solidFill>
                          <a:latin typeface="+mn-lt"/>
                        </a:rPr>
                        <a:t>Statement of Problem</a:t>
                      </a:r>
                      <a:endParaRPr lang="en-US" sz="1800" b="1" dirty="0">
                        <a:latin typeface="+mn-lt"/>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dirty="0"/>
                        <a:t>Previous research on crises' impacts has predominantly adopted macro-level perspectives, overlooking the central role of individual entrepreneurs in small businesses during crises.</a:t>
                      </a:r>
                      <a:endParaRPr lang="en-US" sz="1800" b="0" i="0" kern="1200" dirty="0">
                        <a:solidFill>
                          <a:schemeClr val="tx1"/>
                        </a:solidFill>
                        <a:effectLst/>
                        <a:latin typeface="+mn-lt"/>
                        <a:ea typeface="+mn-ea"/>
                        <a:cs typeface="+mn-cs"/>
                      </a:endParaRPr>
                    </a:p>
                  </a:txBody>
                  <a:tcPr marL="68580" marR="68580"/>
                </a:tc>
                <a:extLst>
                  <a:ext uri="{0D108BD9-81ED-4DB2-BD59-A6C34878D82A}">
                    <a16:rowId xmlns:a16="http://schemas.microsoft.com/office/drawing/2014/main" val="10003"/>
                  </a:ext>
                </a:extLst>
              </a:tr>
              <a:tr h="649583">
                <a:tc>
                  <a:txBody>
                    <a:bodyPr/>
                    <a:lstStyle/>
                    <a:p>
                      <a:pPr algn="l"/>
                      <a:r>
                        <a:rPr lang="en-US" sz="1800" b="1" dirty="0">
                          <a:solidFill>
                            <a:schemeClr val="tx1"/>
                          </a:solidFill>
                          <a:latin typeface="+mn-lt"/>
                        </a:rPr>
                        <a:t>Methodology</a:t>
                      </a:r>
                      <a:endParaRPr lang="en-US" sz="1800" b="1" dirty="0">
                        <a:latin typeface="+mn-lt"/>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sz="1800" b="0" i="0" dirty="0">
                          <a:solidFill>
                            <a:schemeClr val="tx1"/>
                          </a:solidFill>
                          <a:latin typeface="+mn-lt"/>
                        </a:rPr>
                        <a:t>Quantitative Explanatory Design. </a:t>
                      </a:r>
                    </a:p>
                  </a:txBody>
                  <a:tcPr marL="68580" marR="68580"/>
                </a:tc>
                <a:extLst>
                  <a:ext uri="{0D108BD9-81ED-4DB2-BD59-A6C34878D82A}">
                    <a16:rowId xmlns:a16="http://schemas.microsoft.com/office/drawing/2014/main" val="10004"/>
                  </a:ext>
                </a:extLst>
              </a:tr>
              <a:tr h="927976">
                <a:tc>
                  <a:txBody>
                    <a:bodyPr/>
                    <a:lstStyle/>
                    <a:p>
                      <a:pPr algn="l"/>
                      <a:r>
                        <a:rPr lang="en-US" sz="1800" b="1" dirty="0">
                          <a:solidFill>
                            <a:schemeClr val="tx1"/>
                          </a:solidFill>
                          <a:latin typeface="+mn-lt"/>
                        </a:rPr>
                        <a:t>Findings:</a:t>
                      </a:r>
                      <a:endParaRPr lang="en-US" sz="1800" b="1" dirty="0">
                        <a:latin typeface="+mn-lt"/>
                      </a:endParaRPr>
                    </a:p>
                  </a:txBody>
                  <a:tcPr marL="68580" marR="68580"/>
                </a:tc>
                <a:tc>
                  <a:txBody>
                    <a:bodyPr/>
                    <a:lstStyle/>
                    <a:p>
                      <a:pPr algn="just"/>
                      <a:r>
                        <a:rPr lang="en-US" dirty="0"/>
                        <a:t>The findings emphasized the necessity of considering entrepreneurs as focal actors in crisis management, highlighting their ability to adapt and pivot business models during crises.</a:t>
                      </a:r>
                      <a:endParaRPr lang="en-US" sz="1800" b="0" i="0" kern="1200" dirty="0">
                        <a:solidFill>
                          <a:schemeClr val="tx1"/>
                        </a:solidFill>
                        <a:effectLst/>
                        <a:latin typeface="+mn-lt"/>
                        <a:ea typeface="+mn-ea"/>
                        <a:cs typeface="+mn-cs"/>
                      </a:endParaRPr>
                    </a:p>
                  </a:txBody>
                  <a:tcPr marL="68580" marR="68580"/>
                </a:tc>
                <a:extLst>
                  <a:ext uri="{0D108BD9-81ED-4DB2-BD59-A6C34878D82A}">
                    <a16:rowId xmlns:a16="http://schemas.microsoft.com/office/drawing/2014/main" val="10005"/>
                  </a:ext>
                </a:extLst>
              </a:tr>
              <a:tr h="927976">
                <a:tc>
                  <a:txBody>
                    <a:bodyPr/>
                    <a:lstStyle/>
                    <a:p>
                      <a:pPr algn="l"/>
                      <a:r>
                        <a:rPr lang="en-US" sz="1800" b="1" dirty="0">
                          <a:solidFill>
                            <a:schemeClr val="tx1"/>
                          </a:solidFill>
                          <a:latin typeface="+mn-lt"/>
                        </a:rPr>
                        <a:t>Contribution  to knowledge</a:t>
                      </a:r>
                      <a:endParaRPr lang="en-US" sz="1800" b="1" dirty="0">
                        <a:latin typeface="+mn-lt"/>
                      </a:endParaRPr>
                    </a:p>
                  </a:txBody>
                  <a:tcPr marL="68580" marR="68580"/>
                </a:tc>
                <a:tc>
                  <a:txBody>
                    <a:bodyPr/>
                    <a:lstStyle/>
                    <a:p>
                      <a:pPr algn="just"/>
                      <a:r>
                        <a:rPr lang="en-US" dirty="0"/>
                        <a:t>The study introduced a conceptual model that integrates micro-level (individual entrepreneur) and macro-level (economic and industry) factors, providing a holistic understanding of small business responses to crises.</a:t>
                      </a:r>
                      <a:endParaRPr lang="en-US" sz="1800" b="0" i="0" u="none" strike="noStrike" kern="1200" baseline="0" dirty="0">
                        <a:solidFill>
                          <a:schemeClr val="tx1"/>
                        </a:solidFill>
                        <a:latin typeface="+mn-lt"/>
                        <a:ea typeface="+mn-ea"/>
                        <a:cs typeface="+mn-cs"/>
                      </a:endParaRPr>
                    </a:p>
                  </a:txBody>
                  <a:tcPr marL="68580" marR="68580"/>
                </a:tc>
                <a:extLst>
                  <a:ext uri="{0D108BD9-81ED-4DB2-BD59-A6C34878D82A}">
                    <a16:rowId xmlns:a16="http://schemas.microsoft.com/office/drawing/2014/main" val="10006"/>
                  </a:ext>
                </a:extLst>
              </a:tr>
              <a:tr h="665233">
                <a:tc>
                  <a:txBody>
                    <a:bodyPr/>
                    <a:lstStyle/>
                    <a:p>
                      <a:pPr algn="l"/>
                      <a:r>
                        <a:rPr lang="en-US" sz="1800" b="1" dirty="0">
                          <a:solidFill>
                            <a:schemeClr val="tx1"/>
                          </a:solidFill>
                          <a:latin typeface="+mn-lt"/>
                        </a:rPr>
                        <a:t>Gaps</a:t>
                      </a:r>
                      <a:endParaRPr lang="en-US" sz="1800" b="1" dirty="0">
                        <a:latin typeface="+mn-lt"/>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dirty="0"/>
                        <a:t>The model is conceptual and requires empirical validation across diverse crisis contexts and industries.</a:t>
                      </a:r>
                      <a:endParaRPr lang="en-US" sz="1800" b="0" dirty="0">
                        <a:solidFill>
                          <a:schemeClr val="tx1"/>
                        </a:solidFill>
                        <a:latin typeface="+mn-lt"/>
                      </a:endParaRPr>
                    </a:p>
                  </a:txBody>
                  <a:tcPr marL="68580" marR="6858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75769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ctrTitle"/>
          </p:nvPr>
        </p:nvSpPr>
        <p:spPr>
          <a:xfrm>
            <a:off x="1371600" y="76200"/>
            <a:ext cx="6400800" cy="457200"/>
          </a:xfrm>
        </p:spPr>
        <p:txBody>
          <a:bodyPr>
            <a:noAutofit/>
          </a:bodyPr>
          <a:lstStyle/>
          <a:p>
            <a:r>
              <a:rPr lang="en-US" sz="3600" dirty="0"/>
              <a:t>ARTICLE 2</a:t>
            </a:r>
          </a:p>
        </p:txBody>
      </p:sp>
      <p:sp>
        <p:nvSpPr>
          <p:cNvPr id="1048598" name="Subtitle 2"/>
          <p:cNvSpPr>
            <a:spLocks noGrp="1"/>
          </p:cNvSpPr>
          <p:nvPr>
            <p:ph type="subTitle" idx="1"/>
          </p:nvPr>
        </p:nvSpPr>
        <p:spPr>
          <a:xfrm>
            <a:off x="1257300" y="731949"/>
            <a:ext cx="6629400" cy="6096000"/>
          </a:xfrm>
        </p:spPr>
        <p:txBody>
          <a:bodyPr>
            <a:noAutofit/>
          </a:bodyPr>
          <a:lstStyle/>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p:txBody>
      </p:sp>
      <p:graphicFrame>
        <p:nvGraphicFramePr>
          <p:cNvPr id="4194305" name="Table 3"/>
          <p:cNvGraphicFramePr>
            <a:graphicFrameLocks noGrp="1"/>
          </p:cNvGraphicFramePr>
          <p:nvPr>
            <p:extLst>
              <p:ext uri="{D42A27DB-BD31-4B8C-83A1-F6EECF244321}">
                <p14:modId xmlns:p14="http://schemas.microsoft.com/office/powerpoint/2010/main" val="1049874182"/>
              </p:ext>
            </p:extLst>
          </p:nvPr>
        </p:nvGraphicFramePr>
        <p:xfrm>
          <a:off x="0" y="518900"/>
          <a:ext cx="9144000" cy="7277884"/>
        </p:xfrm>
        <a:graphic>
          <a:graphicData uri="http://schemas.openxmlformats.org/drawingml/2006/table">
            <a:tbl>
              <a:tblPr firstRow="1" bandRow="1">
                <a:tableStyleId>{5C22544A-7EE6-4342-B048-85BDC9FD1C3A}</a:tableStyleId>
              </a:tblPr>
              <a:tblGrid>
                <a:gridCol w="1516290">
                  <a:extLst>
                    <a:ext uri="{9D8B030D-6E8A-4147-A177-3AD203B41FA5}">
                      <a16:colId xmlns:a16="http://schemas.microsoft.com/office/drawing/2014/main" val="20000"/>
                    </a:ext>
                  </a:extLst>
                </a:gridCol>
                <a:gridCol w="7627710">
                  <a:extLst>
                    <a:ext uri="{9D8B030D-6E8A-4147-A177-3AD203B41FA5}">
                      <a16:colId xmlns:a16="http://schemas.microsoft.com/office/drawing/2014/main" val="20001"/>
                    </a:ext>
                  </a:extLst>
                </a:gridCol>
              </a:tblGrid>
              <a:tr h="362569">
                <a:tc>
                  <a:txBody>
                    <a:bodyPr/>
                    <a:lstStyle/>
                    <a:p>
                      <a:pPr algn="just"/>
                      <a:r>
                        <a:rPr lang="en-US" sz="2000" b="1" dirty="0">
                          <a:solidFill>
                            <a:schemeClr val="tx1"/>
                          </a:solidFill>
                          <a:latin typeface="+mn-lt"/>
                        </a:rPr>
                        <a:t>Author/Date:</a:t>
                      </a:r>
                      <a:endParaRPr lang="en-US" sz="2000" b="1" dirty="0">
                        <a:latin typeface="+mn-lt"/>
                      </a:endParaRPr>
                    </a:p>
                  </a:txBody>
                  <a:tcPr marL="68580" marR="68580"/>
                </a:tc>
                <a:tc>
                  <a:txBody>
                    <a:bodyPr/>
                    <a:lstStyle/>
                    <a:p>
                      <a:pPr algn="just"/>
                      <a:r>
                        <a:rPr lang="sv-SE" sz="2000" b="0" dirty="0"/>
                        <a:t>Adikaram, K, K, N, B., Surangi H, A, K, N,  (2020)</a:t>
                      </a:r>
                      <a:endParaRPr lang="en-US" sz="2000" b="0" dirty="0">
                        <a:solidFill>
                          <a:schemeClr val="bg1"/>
                        </a:solidFill>
                        <a:latin typeface="+mn-lt"/>
                      </a:endParaRPr>
                    </a:p>
                  </a:txBody>
                  <a:tcPr marL="68580" marR="68580"/>
                </a:tc>
                <a:extLst>
                  <a:ext uri="{0D108BD9-81ED-4DB2-BD59-A6C34878D82A}">
                    <a16:rowId xmlns:a16="http://schemas.microsoft.com/office/drawing/2014/main" val="10000"/>
                  </a:ext>
                </a:extLst>
              </a:tr>
              <a:tr h="300154">
                <a:tc>
                  <a:txBody>
                    <a:bodyPr/>
                    <a:lstStyle/>
                    <a:p>
                      <a:pPr algn="just"/>
                      <a:r>
                        <a:rPr lang="en-US" sz="2000" b="1" dirty="0">
                          <a:solidFill>
                            <a:schemeClr val="tx1"/>
                          </a:solidFill>
                          <a:latin typeface="+mn-lt"/>
                        </a:rPr>
                        <a:t>Title:</a:t>
                      </a:r>
                      <a:endParaRPr lang="en-US" sz="2000" b="1" dirty="0">
                        <a:latin typeface="+mn-lt"/>
                      </a:endParaRPr>
                    </a:p>
                  </a:txBody>
                  <a:tcPr marL="68580" marR="68580"/>
                </a:tc>
                <a:tc>
                  <a:txBody>
                    <a:bodyPr/>
                    <a:lstStyle/>
                    <a:p>
                      <a:pPr algn="just"/>
                      <a:r>
                        <a:rPr lang="en-US" sz="2000" dirty="0"/>
                        <a:t>Crisis management in small and medium scale enterprises: a systematic literature review</a:t>
                      </a:r>
                      <a:endParaRPr lang="en-US" sz="2000" b="0" dirty="0">
                        <a:latin typeface="+mn-lt"/>
                      </a:endParaRPr>
                    </a:p>
                  </a:txBody>
                  <a:tcPr marL="68580" marR="68580"/>
                </a:tc>
                <a:extLst>
                  <a:ext uri="{0D108BD9-81ED-4DB2-BD59-A6C34878D82A}">
                    <a16:rowId xmlns:a16="http://schemas.microsoft.com/office/drawing/2014/main" val="10001"/>
                  </a:ext>
                </a:extLst>
              </a:tr>
              <a:tr h="541804">
                <a:tc>
                  <a:txBody>
                    <a:bodyPr/>
                    <a:lstStyle/>
                    <a:p>
                      <a:pPr algn="l"/>
                      <a:r>
                        <a:rPr lang="en-US" sz="2000" b="1" dirty="0">
                          <a:solidFill>
                            <a:schemeClr val="tx1"/>
                          </a:solidFill>
                          <a:latin typeface="+mn-lt"/>
                        </a:rPr>
                        <a:t>Journal/ DOI</a:t>
                      </a:r>
                      <a:endParaRPr lang="en-US" sz="2000" b="1" dirty="0">
                        <a:latin typeface="+mn-lt"/>
                      </a:endParaRPr>
                    </a:p>
                  </a:txBody>
                  <a:tcPr marL="68580" marR="68580"/>
                </a:tc>
                <a:tc>
                  <a:txBody>
                    <a:bodyPr/>
                    <a:lstStyle/>
                    <a:p>
                      <a:pPr algn="just"/>
                      <a:r>
                        <a:rPr lang="en-US" sz="2000" i="1" dirty="0"/>
                        <a:t>Journal of Business Studies </a:t>
                      </a:r>
                      <a:r>
                        <a:rPr lang="en-US" sz="2000" dirty="0"/>
                        <a:t>/ https://doi.org/10.4038/jbs.v7i2.59</a:t>
                      </a:r>
                      <a:endParaRPr lang="en-US" sz="2000" b="0" dirty="0">
                        <a:latin typeface="+mn-lt"/>
                      </a:endParaRPr>
                    </a:p>
                  </a:txBody>
                  <a:tcPr marL="68580" marR="68580"/>
                </a:tc>
                <a:extLst>
                  <a:ext uri="{0D108BD9-81ED-4DB2-BD59-A6C34878D82A}">
                    <a16:rowId xmlns:a16="http://schemas.microsoft.com/office/drawing/2014/main" val="10002"/>
                  </a:ext>
                </a:extLst>
              </a:tr>
              <a:tr h="960765">
                <a:tc>
                  <a:txBody>
                    <a:bodyPr/>
                    <a:lstStyle/>
                    <a:p>
                      <a:pPr algn="just"/>
                      <a:r>
                        <a:rPr lang="en-US" sz="2000" b="1" dirty="0">
                          <a:solidFill>
                            <a:schemeClr val="tx1"/>
                          </a:solidFill>
                          <a:latin typeface="+mn-lt"/>
                        </a:rPr>
                        <a:t>Statement of Problem</a:t>
                      </a:r>
                      <a:endParaRPr lang="en-US" sz="2000" b="1" dirty="0">
                        <a:latin typeface="+mn-lt"/>
                      </a:endParaRPr>
                    </a:p>
                  </a:txBody>
                  <a:tcPr marL="68580" marR="68580"/>
                </a:tc>
                <a:tc>
                  <a:txBody>
                    <a:bodyPr/>
                    <a:lstStyle/>
                    <a:p>
                      <a:pPr algn="just"/>
                      <a:r>
                        <a:rPr lang="en-US" sz="2000" dirty="0"/>
                        <a:t>Despite the critical role of Small and Medium Enterprises (SMEs) in economic growth, research on crisis management strategies tailored to their unique challenges remains limited. Given their vulnerability to crises, there is a pressing need for focused studies addressing their resilience and adaptive strategies during disruptions.</a:t>
                      </a:r>
                      <a:endParaRPr lang="en-US" sz="2000" b="0" i="0" u="none" strike="noStrike" kern="1200" baseline="0" dirty="0">
                        <a:solidFill>
                          <a:schemeClr val="dk1"/>
                        </a:solidFill>
                        <a:latin typeface="+mn-lt"/>
                        <a:ea typeface="+mn-ea"/>
                        <a:cs typeface="+mn-cs"/>
                      </a:endParaRPr>
                    </a:p>
                  </a:txBody>
                  <a:tcPr marL="68580" marR="68580"/>
                </a:tc>
                <a:extLst>
                  <a:ext uri="{0D108BD9-81ED-4DB2-BD59-A6C34878D82A}">
                    <a16:rowId xmlns:a16="http://schemas.microsoft.com/office/drawing/2014/main" val="10003"/>
                  </a:ext>
                </a:extLst>
              </a:tr>
              <a:tr h="0">
                <a:tc>
                  <a:txBody>
                    <a:bodyPr/>
                    <a:lstStyle/>
                    <a:p>
                      <a:pPr algn="just"/>
                      <a:r>
                        <a:rPr lang="en-US" sz="2000" b="1" dirty="0">
                          <a:solidFill>
                            <a:schemeClr val="tx1"/>
                          </a:solidFill>
                          <a:latin typeface="+mn-lt"/>
                        </a:rPr>
                        <a:t>Methodology</a:t>
                      </a:r>
                      <a:endParaRPr lang="en-US" sz="2000" b="1" dirty="0">
                        <a:latin typeface="+mn-lt"/>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sz="2000" b="0" i="0" dirty="0">
                          <a:solidFill>
                            <a:schemeClr val="tx1"/>
                          </a:solidFill>
                          <a:latin typeface="+mn-lt"/>
                        </a:rPr>
                        <a:t>Quantitative Explanatory Design. </a:t>
                      </a:r>
                    </a:p>
                  </a:txBody>
                  <a:tcPr marL="68580" marR="68580"/>
                </a:tc>
                <a:extLst>
                  <a:ext uri="{0D108BD9-81ED-4DB2-BD59-A6C34878D82A}">
                    <a16:rowId xmlns:a16="http://schemas.microsoft.com/office/drawing/2014/main" val="10004"/>
                  </a:ext>
                </a:extLst>
              </a:tr>
              <a:tr h="773070">
                <a:tc>
                  <a:txBody>
                    <a:bodyPr/>
                    <a:lstStyle/>
                    <a:p>
                      <a:pPr algn="just"/>
                      <a:r>
                        <a:rPr lang="en-US" sz="2000" b="1" dirty="0">
                          <a:solidFill>
                            <a:schemeClr val="tx1"/>
                          </a:solidFill>
                          <a:latin typeface="+mn-lt"/>
                        </a:rPr>
                        <a:t>Findings:</a:t>
                      </a:r>
                      <a:endParaRPr lang="en-US" sz="2000" b="1" dirty="0">
                        <a:latin typeface="+mn-lt"/>
                      </a:endParaRPr>
                    </a:p>
                  </a:txBody>
                  <a:tcPr marL="68580" marR="68580"/>
                </a:tc>
                <a:tc>
                  <a:txBody>
                    <a:bodyPr/>
                    <a:lstStyle/>
                    <a:p>
                      <a:pPr algn="just"/>
                      <a:r>
                        <a:rPr lang="en-US" sz="2000" dirty="0"/>
                        <a:t>The study identified three major themes: crisis preparedness measures, crisis impact on SMEs, and SMEs' strategic approaches. Highlighted the need for organizational perspectives, crisis learning, and networking as coping strategies.</a:t>
                      </a:r>
                      <a:endParaRPr lang="en-US" sz="2000" b="0" i="0" dirty="0">
                        <a:solidFill>
                          <a:schemeClr val="tx1"/>
                        </a:solidFill>
                        <a:latin typeface="+mn-lt"/>
                      </a:endParaRPr>
                    </a:p>
                  </a:txBody>
                  <a:tcPr marL="68580" marR="68580"/>
                </a:tc>
                <a:extLst>
                  <a:ext uri="{0D108BD9-81ED-4DB2-BD59-A6C34878D82A}">
                    <a16:rowId xmlns:a16="http://schemas.microsoft.com/office/drawing/2014/main" val="10005"/>
                  </a:ext>
                </a:extLst>
              </a:tr>
              <a:tr h="499017">
                <a:tc>
                  <a:txBody>
                    <a:bodyPr/>
                    <a:lstStyle/>
                    <a:p>
                      <a:pPr algn="just"/>
                      <a:r>
                        <a:rPr lang="en-US" sz="2000" b="1" dirty="0">
                          <a:solidFill>
                            <a:schemeClr val="tx1"/>
                          </a:solidFill>
                          <a:latin typeface="+mn-lt"/>
                        </a:rPr>
                        <a:t>Contribution  to knowledge</a:t>
                      </a:r>
                      <a:endParaRPr lang="en-US" sz="2000" b="1" dirty="0">
                        <a:latin typeface="+mn-lt"/>
                      </a:endParaRPr>
                    </a:p>
                  </a:txBody>
                  <a:tcPr marL="68580" marR="68580"/>
                </a:tc>
                <a:tc>
                  <a:txBody>
                    <a:bodyPr/>
                    <a:lstStyle/>
                    <a:p>
                      <a:pPr algn="just"/>
                      <a:r>
                        <a:rPr lang="en-US" sz="2000" dirty="0"/>
                        <a:t>Provided a comprehensive synthesis of existing literature, outlining key areas where SMEs can enhance resilience and offering a foundation for future research on SME crisis management.</a:t>
                      </a:r>
                      <a:endParaRPr lang="en-US" sz="2000" b="0" i="0" u="none" strike="noStrike" kern="1200" baseline="0" dirty="0">
                        <a:solidFill>
                          <a:schemeClr val="tx1"/>
                        </a:solidFill>
                        <a:latin typeface="+mn-lt"/>
                        <a:ea typeface="+mn-ea"/>
                        <a:cs typeface="+mn-cs"/>
                      </a:endParaRPr>
                    </a:p>
                  </a:txBody>
                  <a:tcPr marL="68580" marR="68580"/>
                </a:tc>
                <a:extLst>
                  <a:ext uri="{0D108BD9-81ED-4DB2-BD59-A6C34878D82A}">
                    <a16:rowId xmlns:a16="http://schemas.microsoft.com/office/drawing/2014/main" val="10006"/>
                  </a:ext>
                </a:extLst>
              </a:tr>
              <a:tr h="680210">
                <a:tc>
                  <a:txBody>
                    <a:bodyPr/>
                    <a:lstStyle/>
                    <a:p>
                      <a:pPr algn="just"/>
                      <a:r>
                        <a:rPr lang="en-US" sz="2000" b="1" dirty="0">
                          <a:solidFill>
                            <a:schemeClr val="tx1"/>
                          </a:solidFill>
                          <a:latin typeface="+mn-lt"/>
                        </a:rPr>
                        <a:t>Gaps</a:t>
                      </a:r>
                      <a:endParaRPr lang="en-US" sz="2000" b="1" dirty="0">
                        <a:latin typeface="+mn-lt"/>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sz="2000" dirty="0"/>
                        <a:t>Limited empirical studies on SMEs' crisis experiences and the effectiveness of proposed coping strategies in diverse contexts.</a:t>
                      </a:r>
                      <a:endParaRPr lang="en-US" sz="2000" b="0" i="0" dirty="0">
                        <a:latin typeface="+mn-lt"/>
                      </a:endParaRPr>
                    </a:p>
                  </a:txBody>
                  <a:tcPr marL="68580" marR="68580"/>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ctrTitle"/>
          </p:nvPr>
        </p:nvSpPr>
        <p:spPr>
          <a:xfrm>
            <a:off x="1371600" y="76200"/>
            <a:ext cx="6400800" cy="457200"/>
          </a:xfrm>
        </p:spPr>
        <p:txBody>
          <a:bodyPr>
            <a:noAutofit/>
          </a:bodyPr>
          <a:lstStyle/>
          <a:p>
            <a:r>
              <a:rPr lang="en-US" sz="3600" b="1" dirty="0"/>
              <a:t>ARTICLE 3</a:t>
            </a:r>
          </a:p>
        </p:txBody>
      </p:sp>
      <p:sp>
        <p:nvSpPr>
          <p:cNvPr id="1048603" name="Subtitle 2"/>
          <p:cNvSpPr>
            <a:spLocks noGrp="1"/>
          </p:cNvSpPr>
          <p:nvPr>
            <p:ph type="subTitle" idx="1"/>
          </p:nvPr>
        </p:nvSpPr>
        <p:spPr>
          <a:xfrm>
            <a:off x="1257300" y="731949"/>
            <a:ext cx="6629400" cy="6096000"/>
          </a:xfrm>
        </p:spPr>
        <p:txBody>
          <a:bodyPr>
            <a:noAutofit/>
          </a:bodyPr>
          <a:lstStyle/>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p:txBody>
      </p:sp>
      <p:graphicFrame>
        <p:nvGraphicFramePr>
          <p:cNvPr id="4194306" name="Table 3"/>
          <p:cNvGraphicFramePr>
            <a:graphicFrameLocks noGrp="1"/>
          </p:cNvGraphicFramePr>
          <p:nvPr>
            <p:extLst>
              <p:ext uri="{D42A27DB-BD31-4B8C-83A1-F6EECF244321}">
                <p14:modId xmlns:p14="http://schemas.microsoft.com/office/powerpoint/2010/main" val="369577017"/>
              </p:ext>
            </p:extLst>
          </p:nvPr>
        </p:nvGraphicFramePr>
        <p:xfrm>
          <a:off x="1" y="446198"/>
          <a:ext cx="9144000" cy="8488280"/>
        </p:xfrm>
        <a:graphic>
          <a:graphicData uri="http://schemas.openxmlformats.org/drawingml/2006/table">
            <a:tbl>
              <a:tblPr firstRow="1" bandRow="1">
                <a:tableStyleId>{5C22544A-7EE6-4342-B048-85BDC9FD1C3A}</a:tableStyleId>
              </a:tblPr>
              <a:tblGrid>
                <a:gridCol w="1516291">
                  <a:extLst>
                    <a:ext uri="{9D8B030D-6E8A-4147-A177-3AD203B41FA5}">
                      <a16:colId xmlns:a16="http://schemas.microsoft.com/office/drawing/2014/main" val="20000"/>
                    </a:ext>
                  </a:extLst>
                </a:gridCol>
                <a:gridCol w="7627709">
                  <a:extLst>
                    <a:ext uri="{9D8B030D-6E8A-4147-A177-3AD203B41FA5}">
                      <a16:colId xmlns:a16="http://schemas.microsoft.com/office/drawing/2014/main" val="20001"/>
                    </a:ext>
                  </a:extLst>
                </a:gridCol>
              </a:tblGrid>
              <a:tr h="720946">
                <a:tc>
                  <a:txBody>
                    <a:bodyPr/>
                    <a:lstStyle/>
                    <a:p>
                      <a:pPr algn="just"/>
                      <a:r>
                        <a:rPr lang="en-US" sz="2000" b="1" dirty="0">
                          <a:solidFill>
                            <a:schemeClr val="tx1"/>
                          </a:solidFill>
                          <a:latin typeface="+mn-lt"/>
                        </a:rPr>
                        <a:t>Author/Date:</a:t>
                      </a:r>
                      <a:endParaRPr lang="en-US" sz="2000" b="1" dirty="0">
                        <a:latin typeface="+mn-lt"/>
                      </a:endParaRPr>
                    </a:p>
                  </a:txBody>
                  <a:tcPr marL="68580" marR="68580"/>
                </a:tc>
                <a:tc>
                  <a:txBody>
                    <a:bodyPr/>
                    <a:lstStyle/>
                    <a:p>
                      <a:pPr algn="just"/>
                      <a:r>
                        <a:rPr lang="fi-FI" sz="2000" b="0" dirty="0"/>
                        <a:t>Shikha S, Shikha R, (2022)</a:t>
                      </a:r>
                      <a:endParaRPr lang="en-US" sz="2000" b="0" dirty="0">
                        <a:latin typeface="+mn-lt"/>
                      </a:endParaRPr>
                    </a:p>
                  </a:txBody>
                  <a:tcPr marL="68580" marR="68580" marT="45721" marB="45721"/>
                </a:tc>
                <a:extLst>
                  <a:ext uri="{0D108BD9-81ED-4DB2-BD59-A6C34878D82A}">
                    <a16:rowId xmlns:a16="http://schemas.microsoft.com/office/drawing/2014/main" val="10000"/>
                  </a:ext>
                </a:extLst>
              </a:tr>
              <a:tr h="720948">
                <a:tc>
                  <a:txBody>
                    <a:bodyPr/>
                    <a:lstStyle/>
                    <a:p>
                      <a:pPr algn="just"/>
                      <a:r>
                        <a:rPr lang="en-US" sz="2000" b="1" dirty="0">
                          <a:solidFill>
                            <a:schemeClr val="tx1"/>
                          </a:solidFill>
                          <a:latin typeface="+mn-lt"/>
                        </a:rPr>
                        <a:t>Title:</a:t>
                      </a:r>
                      <a:endParaRPr lang="en-US" sz="2000" b="1" dirty="0">
                        <a:latin typeface="+mn-lt"/>
                      </a:endParaRPr>
                    </a:p>
                  </a:txBody>
                  <a:tcPr marL="68580" marR="68580"/>
                </a:tc>
                <a:tc>
                  <a:txBody>
                    <a:bodyPr/>
                    <a:lstStyle/>
                    <a:p>
                      <a:pPr algn="just"/>
                      <a:r>
                        <a:rPr lang="en-US" sz="2000" dirty="0"/>
                        <a:t>Entrepreneurial resilience and self-efficacy during global crisis: study of small businesses in a developing economy</a:t>
                      </a:r>
                      <a:endParaRPr lang="en-US" sz="2000" dirty="0">
                        <a:latin typeface="+mn-lt"/>
                      </a:endParaRPr>
                    </a:p>
                  </a:txBody>
                  <a:tcPr marL="68580" marR="68580" marT="45721" marB="45721"/>
                </a:tc>
                <a:extLst>
                  <a:ext uri="{0D108BD9-81ED-4DB2-BD59-A6C34878D82A}">
                    <a16:rowId xmlns:a16="http://schemas.microsoft.com/office/drawing/2014/main" val="10001"/>
                  </a:ext>
                </a:extLst>
              </a:tr>
              <a:tr h="720948">
                <a:tc>
                  <a:txBody>
                    <a:bodyPr/>
                    <a:lstStyle/>
                    <a:p>
                      <a:pPr algn="l"/>
                      <a:r>
                        <a:rPr lang="en-US" sz="2000" b="1" dirty="0">
                          <a:solidFill>
                            <a:schemeClr val="tx1"/>
                          </a:solidFill>
                          <a:latin typeface="+mn-lt"/>
                        </a:rPr>
                        <a:t>Journal/ DOI</a:t>
                      </a:r>
                      <a:endParaRPr lang="en-US" sz="2000" b="1" dirty="0">
                        <a:latin typeface="+mn-lt"/>
                      </a:endParaRPr>
                    </a:p>
                  </a:txBody>
                  <a:tcPr marL="68580" marR="68580"/>
                </a:tc>
                <a:tc>
                  <a:txBody>
                    <a:bodyPr/>
                    <a:lstStyle/>
                    <a:p>
                      <a:pPr algn="l"/>
                      <a:r>
                        <a:rPr lang="en-US" sz="2000" i="1" dirty="0"/>
                        <a:t>Journal of Entrepreneurship in Emerging Economies </a:t>
                      </a:r>
                      <a:r>
                        <a:rPr lang="en-US" sz="2000" dirty="0"/>
                        <a:t>/ </a:t>
                      </a:r>
                      <a:r>
                        <a:rPr lang="en-US" sz="2000" dirty="0">
                          <a:hlinkClick r:id="rId3"/>
                        </a:rPr>
                        <a:t>https://doi.org/10.1108/JEEE-03-2021-0123</a:t>
                      </a:r>
                      <a:endParaRPr lang="en-US" sz="2000" b="0" i="0" dirty="0">
                        <a:solidFill>
                          <a:schemeClr val="tx1"/>
                        </a:solidFill>
                        <a:latin typeface="+mn-lt"/>
                      </a:endParaRPr>
                    </a:p>
                  </a:txBody>
                  <a:tcPr marL="68580" marR="68580" marT="45721" marB="45721"/>
                </a:tc>
                <a:extLst>
                  <a:ext uri="{0D108BD9-81ED-4DB2-BD59-A6C34878D82A}">
                    <a16:rowId xmlns:a16="http://schemas.microsoft.com/office/drawing/2014/main" val="10002"/>
                  </a:ext>
                </a:extLst>
              </a:tr>
              <a:tr h="1034403">
                <a:tc>
                  <a:txBody>
                    <a:bodyPr/>
                    <a:lstStyle/>
                    <a:p>
                      <a:pPr algn="just"/>
                      <a:r>
                        <a:rPr lang="en-US" sz="2000" b="1" dirty="0">
                          <a:solidFill>
                            <a:schemeClr val="tx1"/>
                          </a:solidFill>
                          <a:latin typeface="+mn-lt"/>
                        </a:rPr>
                        <a:t>Statement of Problem</a:t>
                      </a:r>
                      <a:endParaRPr lang="en-US" sz="2000" b="1" dirty="0">
                        <a:latin typeface="+mn-lt"/>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sz="2000" dirty="0"/>
                        <a:t>Despite the critical role of Small and Medium Enterprises (SMEs) in economic growth, research on crisis management strategies tailored to their unique challenges remains limited. Given their vulnerability to crises, there is a pressing need for focused studies addressing their resilience and adaptive strategies during disruptions.</a:t>
                      </a:r>
                      <a:endParaRPr lang="en-US" sz="2000" dirty="0">
                        <a:latin typeface="+mn-lt"/>
                      </a:endParaRPr>
                    </a:p>
                  </a:txBody>
                  <a:tcPr marL="68580" marR="68580" marT="45721" marB="45721"/>
                </a:tc>
                <a:extLst>
                  <a:ext uri="{0D108BD9-81ED-4DB2-BD59-A6C34878D82A}">
                    <a16:rowId xmlns:a16="http://schemas.microsoft.com/office/drawing/2014/main" val="10003"/>
                  </a:ext>
                </a:extLst>
              </a:tr>
              <a:tr h="1034403">
                <a:tc>
                  <a:txBody>
                    <a:bodyPr/>
                    <a:lstStyle/>
                    <a:p>
                      <a:pPr algn="just"/>
                      <a:r>
                        <a:rPr lang="en-US" sz="2000" b="1" dirty="0">
                          <a:solidFill>
                            <a:schemeClr val="tx1"/>
                          </a:solidFill>
                          <a:latin typeface="+mn-lt"/>
                        </a:rPr>
                        <a:t>Methodology</a:t>
                      </a:r>
                      <a:endParaRPr lang="en-US" sz="2000" b="1" dirty="0">
                        <a:latin typeface="+mn-lt"/>
                      </a:endParaRPr>
                    </a:p>
                  </a:txBody>
                  <a:tcPr marL="68580" marR="68580"/>
                </a:tc>
                <a:tc>
                  <a:txBody>
                    <a:bodyPr/>
                    <a:lstStyle/>
                    <a:p>
                      <a:pPr algn="just"/>
                      <a:r>
                        <a:rPr lang="en-US" sz="2000" dirty="0"/>
                        <a:t>Quantitative Research  Design.</a:t>
                      </a:r>
                      <a:endParaRPr lang="en-US" sz="2000" dirty="0">
                        <a:latin typeface="+mn-lt"/>
                      </a:endParaRPr>
                    </a:p>
                  </a:txBody>
                  <a:tcPr marL="68580" marR="68580" marT="45721" marB="45721"/>
                </a:tc>
                <a:extLst>
                  <a:ext uri="{0D108BD9-81ED-4DB2-BD59-A6C34878D82A}">
                    <a16:rowId xmlns:a16="http://schemas.microsoft.com/office/drawing/2014/main" val="10004"/>
                  </a:ext>
                </a:extLst>
              </a:tr>
              <a:tr h="1034403">
                <a:tc>
                  <a:txBody>
                    <a:bodyPr/>
                    <a:lstStyle/>
                    <a:p>
                      <a:pPr algn="just"/>
                      <a:r>
                        <a:rPr lang="en-US" sz="2000" b="1" dirty="0">
                          <a:solidFill>
                            <a:schemeClr val="tx1"/>
                          </a:solidFill>
                          <a:latin typeface="+mn-lt"/>
                        </a:rPr>
                        <a:t>Findings:</a:t>
                      </a:r>
                      <a:endParaRPr lang="en-US" sz="2000" b="1" dirty="0">
                        <a:latin typeface="+mn-lt"/>
                      </a:endParaRPr>
                    </a:p>
                  </a:txBody>
                  <a:tcPr marL="68580" marR="68580"/>
                </a:tc>
                <a:tc>
                  <a:txBody>
                    <a:bodyPr/>
                    <a:lstStyle/>
                    <a:p>
                      <a:pPr algn="just"/>
                      <a:r>
                        <a:rPr lang="en-US" sz="2000" dirty="0"/>
                        <a:t>The study developed a comprehensive framework addressing four key areas essential for business resilience. These include modifications in processes, products, or business models; impacts on functional areas; the adoption of technology for enhanced efficiency; and identifying key sources ensuring business continuation. This framework provides valuable insights for businesses navigating crisis situations effectively.</a:t>
                      </a:r>
                      <a:endParaRPr lang="en-US" sz="2000" b="0" i="0" u="none" strike="noStrike" kern="1200" baseline="0" dirty="0">
                        <a:solidFill>
                          <a:schemeClr val="dk1"/>
                        </a:solidFill>
                        <a:latin typeface="+mn-lt"/>
                        <a:ea typeface="+mn-ea"/>
                        <a:cs typeface="+mn-cs"/>
                      </a:endParaRPr>
                    </a:p>
                  </a:txBody>
                  <a:tcPr marL="68580" marR="68580" marT="45721" marB="45721"/>
                </a:tc>
                <a:extLst>
                  <a:ext uri="{0D108BD9-81ED-4DB2-BD59-A6C34878D82A}">
                    <a16:rowId xmlns:a16="http://schemas.microsoft.com/office/drawing/2014/main" val="10005"/>
                  </a:ext>
                </a:extLst>
              </a:tr>
              <a:tr h="1034403">
                <a:tc>
                  <a:txBody>
                    <a:bodyPr/>
                    <a:lstStyle/>
                    <a:p>
                      <a:pPr algn="just"/>
                      <a:r>
                        <a:rPr lang="en-US" sz="2000" b="1" dirty="0">
                          <a:solidFill>
                            <a:schemeClr val="tx1"/>
                          </a:solidFill>
                          <a:latin typeface="+mn-lt"/>
                        </a:rPr>
                        <a:t>Contribution  to knowledge</a:t>
                      </a:r>
                      <a:endParaRPr lang="en-US" sz="2000" b="1" dirty="0">
                        <a:latin typeface="+mn-lt"/>
                      </a:endParaRPr>
                    </a:p>
                  </a:txBody>
                  <a:tcPr marL="68580" marR="68580"/>
                </a:tc>
                <a:tc>
                  <a:txBody>
                    <a:bodyPr/>
                    <a:lstStyle/>
                    <a:p>
                      <a:pPr algn="just"/>
                      <a:r>
                        <a:rPr lang="en-US" sz="2000" dirty="0"/>
                        <a:t>This study offered insights into the adaptive strategies of small businesses during crises, emphasizing the role of resilience and self-efficacy in navigating turbulent times.</a:t>
                      </a:r>
                      <a:endParaRPr lang="en-US" sz="2000" dirty="0">
                        <a:latin typeface="+mn-lt"/>
                      </a:endParaRPr>
                    </a:p>
                  </a:txBody>
                  <a:tcPr marL="68580" marR="68580" marT="45721" marB="45721"/>
                </a:tc>
                <a:extLst>
                  <a:ext uri="{0D108BD9-81ED-4DB2-BD59-A6C34878D82A}">
                    <a16:rowId xmlns:a16="http://schemas.microsoft.com/office/drawing/2014/main" val="10006"/>
                  </a:ext>
                </a:extLst>
              </a:tr>
              <a:tr h="720948">
                <a:tc>
                  <a:txBody>
                    <a:bodyPr/>
                    <a:lstStyle/>
                    <a:p>
                      <a:pPr algn="just"/>
                      <a:r>
                        <a:rPr lang="en-US" sz="2000" b="1" dirty="0">
                          <a:solidFill>
                            <a:schemeClr val="tx1"/>
                          </a:solidFill>
                          <a:latin typeface="+mn-lt"/>
                        </a:rPr>
                        <a:t>Gaps</a:t>
                      </a:r>
                      <a:endParaRPr lang="en-US" sz="2000" b="1" dirty="0">
                        <a:latin typeface="+mn-lt"/>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sz="2000" dirty="0"/>
                        <a:t>The study is context-specific to India; further research is needed to generalize findings across different developing economies.</a:t>
                      </a:r>
                      <a:endParaRPr lang="en-US" sz="2000" kern="1200" dirty="0">
                        <a:solidFill>
                          <a:schemeClr val="dk1"/>
                        </a:solidFill>
                        <a:effectLst/>
                        <a:latin typeface="+mn-lt"/>
                        <a:ea typeface="+mn-ea"/>
                        <a:cs typeface="+mn-cs"/>
                      </a:endParaRPr>
                    </a:p>
                  </a:txBody>
                  <a:tcPr marL="68580" marR="68580" marT="45721" marB="45721"/>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ctrTitle"/>
          </p:nvPr>
        </p:nvSpPr>
        <p:spPr>
          <a:xfrm>
            <a:off x="1371600" y="76200"/>
            <a:ext cx="6400800" cy="457200"/>
          </a:xfrm>
        </p:spPr>
        <p:txBody>
          <a:bodyPr>
            <a:noAutofit/>
          </a:bodyPr>
          <a:lstStyle/>
          <a:p>
            <a:r>
              <a:rPr lang="en-US" sz="3600" dirty="0"/>
              <a:t>ARTICLE 4</a:t>
            </a:r>
          </a:p>
        </p:txBody>
      </p:sp>
      <p:sp>
        <p:nvSpPr>
          <p:cNvPr id="1048608" name="Subtitle 2"/>
          <p:cNvSpPr>
            <a:spLocks noGrp="1"/>
          </p:cNvSpPr>
          <p:nvPr>
            <p:ph type="subTitle" idx="1"/>
          </p:nvPr>
        </p:nvSpPr>
        <p:spPr>
          <a:xfrm>
            <a:off x="1257300" y="731949"/>
            <a:ext cx="6629400" cy="6096000"/>
          </a:xfrm>
        </p:spPr>
        <p:txBody>
          <a:bodyPr>
            <a:noAutofit/>
          </a:bodyPr>
          <a:lstStyle/>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p:txBody>
      </p:sp>
      <p:graphicFrame>
        <p:nvGraphicFramePr>
          <p:cNvPr id="4194307" name="Table 3"/>
          <p:cNvGraphicFramePr>
            <a:graphicFrameLocks noGrp="1"/>
          </p:cNvGraphicFramePr>
          <p:nvPr>
            <p:extLst>
              <p:ext uri="{D42A27DB-BD31-4B8C-83A1-F6EECF244321}">
                <p14:modId xmlns:p14="http://schemas.microsoft.com/office/powerpoint/2010/main" val="1998012119"/>
              </p:ext>
            </p:extLst>
          </p:nvPr>
        </p:nvGraphicFramePr>
        <p:xfrm>
          <a:off x="1" y="398950"/>
          <a:ext cx="9144000" cy="7462805"/>
        </p:xfrm>
        <a:graphic>
          <a:graphicData uri="http://schemas.openxmlformats.org/drawingml/2006/table">
            <a:tbl>
              <a:tblPr firstRow="1" bandRow="1">
                <a:tableStyleId>{5C22544A-7EE6-4342-B048-85BDC9FD1C3A}</a:tableStyleId>
              </a:tblPr>
              <a:tblGrid>
                <a:gridCol w="1461731">
                  <a:extLst>
                    <a:ext uri="{9D8B030D-6E8A-4147-A177-3AD203B41FA5}">
                      <a16:colId xmlns:a16="http://schemas.microsoft.com/office/drawing/2014/main" val="20000"/>
                    </a:ext>
                  </a:extLst>
                </a:gridCol>
                <a:gridCol w="7682269">
                  <a:extLst>
                    <a:ext uri="{9D8B030D-6E8A-4147-A177-3AD203B41FA5}">
                      <a16:colId xmlns:a16="http://schemas.microsoft.com/office/drawing/2014/main" val="20001"/>
                    </a:ext>
                  </a:extLst>
                </a:gridCol>
              </a:tblGrid>
              <a:tr h="362569">
                <a:tc>
                  <a:txBody>
                    <a:bodyPr/>
                    <a:lstStyle/>
                    <a:p>
                      <a:pPr algn="l"/>
                      <a:r>
                        <a:rPr lang="en-US" sz="1500" b="1" dirty="0">
                          <a:solidFill>
                            <a:schemeClr val="tx1"/>
                          </a:solidFill>
                          <a:latin typeface="Tw Cen MT" panose="020B0602020104020603" pitchFamily="34" charset="0"/>
                        </a:rPr>
                        <a:t>Author/Date:</a:t>
                      </a:r>
                      <a:endParaRPr lang="en-US" sz="1500" b="1" dirty="0">
                        <a:latin typeface="Tw Cen MT" panose="020B0602020104020603" pitchFamily="34" charset="0"/>
                      </a:endParaRPr>
                    </a:p>
                  </a:txBody>
                  <a:tcPr marL="68580" marR="68580"/>
                </a:tc>
                <a:tc>
                  <a:txBody>
                    <a:bodyPr/>
                    <a:lstStyle/>
                    <a:p>
                      <a:pPr algn="just"/>
                      <a:r>
                        <a:rPr lang="en-GB" sz="2000" b="0" dirty="0" err="1"/>
                        <a:t>Oluwasoye</a:t>
                      </a:r>
                      <a:r>
                        <a:rPr lang="en-GB" sz="2000" b="0" dirty="0"/>
                        <a:t>  P, M, Demola O, Adekunle I. O, (2023)</a:t>
                      </a:r>
                      <a:endParaRPr lang="en-US" sz="1950" b="0" dirty="0">
                        <a:solidFill>
                          <a:schemeClr val="bg1"/>
                        </a:solidFill>
                        <a:latin typeface="+mn-lt"/>
                      </a:endParaRPr>
                    </a:p>
                  </a:txBody>
                  <a:tcPr marL="68580" marR="68580"/>
                </a:tc>
                <a:extLst>
                  <a:ext uri="{0D108BD9-81ED-4DB2-BD59-A6C34878D82A}">
                    <a16:rowId xmlns:a16="http://schemas.microsoft.com/office/drawing/2014/main" val="10000"/>
                  </a:ext>
                </a:extLst>
              </a:tr>
              <a:tr h="0">
                <a:tc>
                  <a:txBody>
                    <a:bodyPr/>
                    <a:lstStyle/>
                    <a:p>
                      <a:pPr algn="l"/>
                      <a:r>
                        <a:rPr lang="en-US" sz="1500" b="1" dirty="0">
                          <a:solidFill>
                            <a:schemeClr val="tx1"/>
                          </a:solidFill>
                          <a:latin typeface="Tw Cen MT" panose="020B0602020104020603" pitchFamily="34" charset="0"/>
                        </a:rPr>
                        <a:t>Title:</a:t>
                      </a:r>
                      <a:endParaRPr lang="en-US" sz="1500" b="1" dirty="0">
                        <a:latin typeface="Tw Cen MT" panose="020B0602020104020603" pitchFamily="34" charset="0"/>
                      </a:endParaRPr>
                    </a:p>
                  </a:txBody>
                  <a:tcPr marL="68580" marR="68580"/>
                </a:tc>
                <a:tc>
                  <a:txBody>
                    <a:bodyPr/>
                    <a:lstStyle/>
                    <a:p>
                      <a:pPr algn="just"/>
                      <a:r>
                        <a:rPr lang="en-US" sz="2000" dirty="0"/>
                        <a:t>Planned, improvised or resilience: small business owner-managers’ perception and response to crises in crisis-prone environments</a:t>
                      </a:r>
                      <a:endParaRPr lang="en-US" sz="1950" b="0" dirty="0">
                        <a:latin typeface="+mn-lt"/>
                      </a:endParaRPr>
                    </a:p>
                  </a:txBody>
                  <a:tcPr marL="68580" marR="68580"/>
                </a:tc>
                <a:extLst>
                  <a:ext uri="{0D108BD9-81ED-4DB2-BD59-A6C34878D82A}">
                    <a16:rowId xmlns:a16="http://schemas.microsoft.com/office/drawing/2014/main" val="10001"/>
                  </a:ext>
                </a:extLst>
              </a:tr>
              <a:tr h="557954">
                <a:tc>
                  <a:txBody>
                    <a:bodyPr/>
                    <a:lstStyle/>
                    <a:p>
                      <a:pPr algn="l"/>
                      <a:r>
                        <a:rPr lang="en-US" sz="1600" b="1" dirty="0">
                          <a:solidFill>
                            <a:schemeClr val="tx1"/>
                          </a:solidFill>
                          <a:latin typeface="+mn-lt"/>
                        </a:rPr>
                        <a:t>Journal/ DOI</a:t>
                      </a:r>
                      <a:endParaRPr lang="en-US" sz="1600" b="1" dirty="0">
                        <a:latin typeface="+mn-lt"/>
                      </a:endParaRPr>
                    </a:p>
                  </a:txBody>
                  <a:tcPr marL="68580" marR="68580"/>
                </a:tc>
                <a:tc>
                  <a:txBody>
                    <a:bodyPr/>
                    <a:lstStyle/>
                    <a:p>
                      <a:pPr algn="l"/>
                      <a:r>
                        <a:rPr lang="en-US" sz="2000" i="1" dirty="0"/>
                        <a:t>Journal of General Management </a:t>
                      </a:r>
                      <a:r>
                        <a:rPr lang="en-US" sz="2000" dirty="0"/>
                        <a:t>/ </a:t>
                      </a:r>
                      <a:r>
                        <a:rPr lang="en-US" sz="2000" dirty="0">
                          <a:hlinkClick r:id="rId3"/>
                        </a:rPr>
                        <a:t>https://doi.org/10.1177/03063070231159568</a:t>
                      </a:r>
                      <a:endParaRPr lang="en-US" sz="1950" b="0" dirty="0">
                        <a:latin typeface="+mn-lt"/>
                      </a:endParaRPr>
                    </a:p>
                  </a:txBody>
                  <a:tcPr marL="68580" marR="68580"/>
                </a:tc>
                <a:extLst>
                  <a:ext uri="{0D108BD9-81ED-4DB2-BD59-A6C34878D82A}">
                    <a16:rowId xmlns:a16="http://schemas.microsoft.com/office/drawing/2014/main" val="10002"/>
                  </a:ext>
                </a:extLst>
              </a:tr>
              <a:tr h="1018201">
                <a:tc>
                  <a:txBody>
                    <a:bodyPr/>
                    <a:lstStyle/>
                    <a:p>
                      <a:pPr algn="l"/>
                      <a:r>
                        <a:rPr lang="en-US" sz="1500" b="1" dirty="0">
                          <a:solidFill>
                            <a:schemeClr val="tx1"/>
                          </a:solidFill>
                          <a:latin typeface="Tw Cen MT" panose="020B0602020104020603" pitchFamily="34" charset="0"/>
                        </a:rPr>
                        <a:t>Statement of Problem</a:t>
                      </a:r>
                      <a:endParaRPr lang="en-US" sz="1500" b="1" dirty="0">
                        <a:latin typeface="Tw Cen MT" panose="020B0602020104020603" pitchFamily="34" charset="0"/>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sz="2000" dirty="0"/>
                        <a:t>The limited understanding of how small business owner-managers operating in crisis-prone environments perceive and respond to crises. This gap in knowledge hinders the development of effective strategies and policies to enhance resilience and sustainability for these businesses during challenging times.</a:t>
                      </a:r>
                      <a:endParaRPr lang="en-US" sz="1950" b="0" i="0" u="none" strike="noStrike" kern="1200" baseline="0" dirty="0">
                        <a:solidFill>
                          <a:schemeClr val="dk1"/>
                        </a:solidFill>
                        <a:latin typeface="+mn-lt"/>
                        <a:ea typeface="+mn-ea"/>
                        <a:cs typeface="+mn-cs"/>
                      </a:endParaRPr>
                    </a:p>
                  </a:txBody>
                  <a:tcPr marL="68580" marR="68580"/>
                </a:tc>
                <a:extLst>
                  <a:ext uri="{0D108BD9-81ED-4DB2-BD59-A6C34878D82A}">
                    <a16:rowId xmlns:a16="http://schemas.microsoft.com/office/drawing/2014/main" val="10003"/>
                  </a:ext>
                </a:extLst>
              </a:tr>
              <a:tr h="421925">
                <a:tc>
                  <a:txBody>
                    <a:bodyPr/>
                    <a:lstStyle/>
                    <a:p>
                      <a:pPr algn="l"/>
                      <a:r>
                        <a:rPr lang="en-US" sz="1500" b="1" dirty="0">
                          <a:solidFill>
                            <a:schemeClr val="tx1"/>
                          </a:solidFill>
                          <a:latin typeface="Tw Cen MT" panose="020B0602020104020603" pitchFamily="34" charset="0"/>
                        </a:rPr>
                        <a:t>Methodology</a:t>
                      </a:r>
                      <a:endParaRPr lang="en-US" sz="1500" b="1" dirty="0">
                        <a:latin typeface="Tw Cen MT" panose="020B0602020104020603" pitchFamily="34" charset="0"/>
                      </a:endParaRP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sz="1950" b="0" i="0" dirty="0">
                          <a:latin typeface="+mn-lt"/>
                        </a:rPr>
                        <a:t>Quantitative Explanatory Design.</a:t>
                      </a:r>
                    </a:p>
                  </a:txBody>
                  <a:tcPr marL="68580" marR="68580"/>
                </a:tc>
                <a:extLst>
                  <a:ext uri="{0D108BD9-81ED-4DB2-BD59-A6C34878D82A}">
                    <a16:rowId xmlns:a16="http://schemas.microsoft.com/office/drawing/2014/main" val="10004"/>
                  </a:ext>
                </a:extLst>
              </a:tr>
              <a:tr h="773070">
                <a:tc>
                  <a:txBody>
                    <a:bodyPr/>
                    <a:lstStyle/>
                    <a:p>
                      <a:pPr algn="l"/>
                      <a:r>
                        <a:rPr lang="en-US" sz="1500" b="1" dirty="0">
                          <a:solidFill>
                            <a:schemeClr val="tx1"/>
                          </a:solidFill>
                          <a:latin typeface="Tw Cen MT" panose="020B0602020104020603" pitchFamily="34" charset="0"/>
                        </a:rPr>
                        <a:t>Findings:</a:t>
                      </a:r>
                      <a:endParaRPr lang="en-US" sz="1500" b="1" dirty="0">
                        <a:latin typeface="Tw Cen MT" panose="020B0602020104020603" pitchFamily="34" charset="0"/>
                      </a:endParaRPr>
                    </a:p>
                  </a:txBody>
                  <a:tcPr marL="68580" marR="68580"/>
                </a:tc>
                <a:tc>
                  <a:txBody>
                    <a:bodyPr/>
                    <a:lstStyle/>
                    <a:p>
                      <a:pPr algn="just"/>
                      <a:r>
                        <a:rPr lang="en-US" sz="2000" dirty="0"/>
                        <a:t>The study reveals a significant gap in understanding how small business owner-managers in crisis-prone environments perceive and respond to crises. This lack of insight limits the formulation of effective strategies and policies needed to strengthen business resilience, adaptability, and long-term sustainability, ultimately affecting their ability to navigate and recover from economic, social, and environmental disruptions.</a:t>
                      </a:r>
                      <a:endParaRPr lang="en-US" sz="1950" b="0" dirty="0">
                        <a:latin typeface="+mn-lt"/>
                      </a:endParaRPr>
                    </a:p>
                  </a:txBody>
                  <a:tcPr marL="68580" marR="68580"/>
                </a:tc>
                <a:extLst>
                  <a:ext uri="{0D108BD9-81ED-4DB2-BD59-A6C34878D82A}">
                    <a16:rowId xmlns:a16="http://schemas.microsoft.com/office/drawing/2014/main" val="10005"/>
                  </a:ext>
                </a:extLst>
              </a:tr>
              <a:tr h="764614">
                <a:tc>
                  <a:txBody>
                    <a:bodyPr/>
                    <a:lstStyle/>
                    <a:p>
                      <a:pPr algn="l"/>
                      <a:r>
                        <a:rPr lang="en-US" sz="1500" b="1" dirty="0">
                          <a:solidFill>
                            <a:schemeClr val="tx1"/>
                          </a:solidFill>
                          <a:latin typeface="Tw Cen MT" panose="020B0602020104020603" pitchFamily="34" charset="0"/>
                        </a:rPr>
                        <a:t>Contribution  to knowledge</a:t>
                      </a:r>
                      <a:endParaRPr lang="en-US" sz="1500" b="1" dirty="0">
                        <a:latin typeface="Tw Cen MT" panose="020B0602020104020603" pitchFamily="34" charset="0"/>
                      </a:endParaRPr>
                    </a:p>
                  </a:txBody>
                  <a:tcPr marL="68580" marR="68580"/>
                </a:tc>
                <a:tc>
                  <a:txBody>
                    <a:bodyPr/>
                    <a:lstStyle/>
                    <a:p>
                      <a:pPr algn="just"/>
                      <a:r>
                        <a:rPr lang="en-US" sz="2000" dirty="0"/>
                        <a:t>This study enhanced understanding of the diverse strategies small business owner-managers utilize in crisis-prone environments, contributing to the literature on crisis management and resilience.</a:t>
                      </a:r>
                      <a:endParaRPr lang="en-US" sz="1950" kern="1200" baseline="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680210">
                <a:tc>
                  <a:txBody>
                    <a:bodyPr/>
                    <a:lstStyle/>
                    <a:p>
                      <a:pPr algn="l"/>
                      <a:r>
                        <a:rPr lang="en-US" sz="1500" b="1" dirty="0">
                          <a:solidFill>
                            <a:schemeClr val="tx1"/>
                          </a:solidFill>
                          <a:latin typeface="Tw Cen MT" panose="020B0602020104020603" pitchFamily="34" charset="0"/>
                        </a:rPr>
                        <a:t>Gaps</a:t>
                      </a:r>
                      <a:endParaRPr lang="en-US" sz="1500" b="1" dirty="0">
                        <a:latin typeface="Tw Cen MT" panose="020B0602020104020603" pitchFamily="34" charset="0"/>
                      </a:endParaRPr>
                    </a:p>
                  </a:txBody>
                  <a:tcPr marL="68580" marR="68580"/>
                </a:tc>
                <a:tc>
                  <a:txBody>
                    <a:bodyPr/>
                    <a:lstStyle/>
                    <a:p>
                      <a:pPr algn="just"/>
                      <a:r>
                        <a:rPr lang="en-US" sz="2000" dirty="0"/>
                        <a:t>The study focuses on a specific geographic region; further research is needed to explore these dynamics in other crisis-prone environments.</a:t>
                      </a:r>
                      <a:endParaRPr lang="en-US" sz="1950" b="0" i="0" u="none" strike="noStrike" kern="1200" baseline="0" dirty="0">
                        <a:solidFill>
                          <a:schemeClr val="dk1"/>
                        </a:solidFill>
                        <a:latin typeface="+mn-lt"/>
                        <a:ea typeface="+mn-ea"/>
                        <a:cs typeface="+mn-cs"/>
                      </a:endParaRPr>
                    </a:p>
                  </a:txBody>
                  <a:tcPr marL="68580" marR="68580"/>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ctrTitle"/>
          </p:nvPr>
        </p:nvSpPr>
        <p:spPr>
          <a:xfrm>
            <a:off x="1371600" y="76200"/>
            <a:ext cx="6400800" cy="457200"/>
          </a:xfrm>
        </p:spPr>
        <p:txBody>
          <a:bodyPr>
            <a:noAutofit/>
          </a:bodyPr>
          <a:lstStyle/>
          <a:p>
            <a:r>
              <a:rPr lang="en-US" sz="3600" dirty="0"/>
              <a:t>ARTICLE 5</a:t>
            </a:r>
          </a:p>
        </p:txBody>
      </p:sp>
      <p:sp>
        <p:nvSpPr>
          <p:cNvPr id="1048613" name="Subtitle 2"/>
          <p:cNvSpPr>
            <a:spLocks noGrp="1"/>
          </p:cNvSpPr>
          <p:nvPr>
            <p:ph type="subTitle" idx="1"/>
          </p:nvPr>
        </p:nvSpPr>
        <p:spPr>
          <a:xfrm>
            <a:off x="1257300" y="731949"/>
            <a:ext cx="6629400" cy="6096000"/>
          </a:xfrm>
        </p:spPr>
        <p:txBody>
          <a:bodyPr>
            <a:noAutofit/>
          </a:bodyPr>
          <a:lstStyle/>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p:txBody>
      </p:sp>
      <p:graphicFrame>
        <p:nvGraphicFramePr>
          <p:cNvPr id="4194308" name="Table 3"/>
          <p:cNvGraphicFramePr>
            <a:graphicFrameLocks noGrp="1"/>
          </p:cNvGraphicFramePr>
          <p:nvPr>
            <p:extLst>
              <p:ext uri="{D42A27DB-BD31-4B8C-83A1-F6EECF244321}">
                <p14:modId xmlns:p14="http://schemas.microsoft.com/office/powerpoint/2010/main" val="2004584015"/>
              </p:ext>
            </p:extLst>
          </p:nvPr>
        </p:nvGraphicFramePr>
        <p:xfrm>
          <a:off x="0" y="457200"/>
          <a:ext cx="9144001" cy="592351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algn="just"/>
                      <a:r>
                        <a:rPr lang="it-IT" dirty="0"/>
                        <a:t>Valentina C, Giulio F, James C, Andrea P,(2024)</a:t>
                      </a:r>
                      <a:endParaRPr lang="en-US" sz="1800" b="0" dirty="0">
                        <a:solidFill>
                          <a:schemeClr val="tx1"/>
                        </a:solidFill>
                        <a:latin typeface="+mn-lt"/>
                      </a:endParaRPr>
                    </a:p>
                  </a:txBody>
                  <a:tcPr marL="68580" marR="68580"/>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pPr algn="just"/>
                      <a:r>
                        <a:rPr lang="en-US" dirty="0"/>
                        <a:t>Identifying Entrepreneurial Opportunities During Crises: A Qualitative Study of Italian Firms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pPr algn="just"/>
                      <a:r>
                        <a:rPr lang="en-US" dirty="0"/>
                        <a:t>Journal of Small Business and Enterprise Development / https://doi.org/10.1108/JSBED-04-2023-0159</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US" dirty="0"/>
                        <a:t>Challenges entrepreneurs face in recognizing novel opportunities during crises, with limited research on the influencing factors in such contexts.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dirty="0"/>
                        <a:t>Quantitative  Explanatory Design.</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US" dirty="0"/>
                        <a:t>Proposed a process model of opportunity recognition during crises based on five entrepreneurial influencing factors: knowledge, alertness, proclivity, personality, and purpose.</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algn="just"/>
                      <a:r>
                        <a:rPr lang="en-US" dirty="0"/>
                        <a:t>Provided a nuanced understanding of the factors that facilitate opportunity recognition during crises, offering a process model that can inform both theory and practice.</a:t>
                      </a:r>
                      <a:endParaRPr lang="en-US" sz="1800" b="0" i="0" dirty="0">
                        <a:solidFill>
                          <a:schemeClr val="tx1"/>
                        </a:solidFill>
                        <a:latin typeface="+mn-lt"/>
                      </a:endParaRP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dirty="0"/>
                        <a:t>The study's findings are based on a specific cultural and economic context; further research is needed to validate the model in diverse settings.</a:t>
                      </a:r>
                      <a:endParaRPr lang="en-US" sz="1800" dirty="0">
                        <a:solidFill>
                          <a:schemeClr val="tx1"/>
                        </a:solidFill>
                        <a:latin typeface="+mn-lt"/>
                      </a:endParaRPr>
                    </a:p>
                  </a:txBody>
                  <a:tcPr marL="68580" marR="68580"/>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F96D1-464A-CB65-2A2E-F71D400D0F5E}"/>
              </a:ext>
            </a:extLst>
          </p:cNvPr>
          <p:cNvSpPr>
            <a:spLocks noGrp="1"/>
          </p:cNvSpPr>
          <p:nvPr>
            <p:ph type="title"/>
          </p:nvPr>
        </p:nvSpPr>
        <p:spPr>
          <a:xfrm>
            <a:off x="3505200" y="28075"/>
            <a:ext cx="2133600" cy="457199"/>
          </a:xfrm>
        </p:spPr>
        <p:txBody>
          <a:bodyPr>
            <a:normAutofit fontScale="90000"/>
          </a:bodyPr>
          <a:lstStyle/>
          <a:p>
            <a:r>
              <a:rPr lang="en-US" dirty="0"/>
              <a:t>Article 6</a:t>
            </a:r>
            <a:endParaRPr lang="en-GB" dirty="0"/>
          </a:p>
        </p:txBody>
      </p:sp>
      <p:sp>
        <p:nvSpPr>
          <p:cNvPr id="3" name="Content Placeholder 2">
            <a:extLst>
              <a:ext uri="{FF2B5EF4-FFF2-40B4-BE49-F238E27FC236}">
                <a16:creationId xmlns:a16="http://schemas.microsoft.com/office/drawing/2014/main" id="{F27AF55E-F6E3-2A7F-A6A8-00809539CB96}"/>
              </a:ext>
            </a:extLst>
          </p:cNvPr>
          <p:cNvSpPr>
            <a:spLocks noGrp="1"/>
          </p:cNvSpPr>
          <p:nvPr>
            <p:ph idx="1"/>
          </p:nvPr>
        </p:nvSpPr>
        <p:spPr/>
        <p:txBody>
          <a:bodyPr/>
          <a:lstStyle/>
          <a:p>
            <a:endParaRPr lang="en-GB"/>
          </a:p>
        </p:txBody>
      </p:sp>
      <p:graphicFrame>
        <p:nvGraphicFramePr>
          <p:cNvPr id="8" name="Table 3">
            <a:extLst>
              <a:ext uri="{FF2B5EF4-FFF2-40B4-BE49-F238E27FC236}">
                <a16:creationId xmlns:a16="http://schemas.microsoft.com/office/drawing/2014/main" id="{C35A7047-750D-65D4-BB6A-9B08C7D88CA9}"/>
              </a:ext>
            </a:extLst>
          </p:cNvPr>
          <p:cNvGraphicFramePr>
            <a:graphicFrameLocks noGrp="1"/>
          </p:cNvGraphicFramePr>
          <p:nvPr>
            <p:extLst>
              <p:ext uri="{D42A27DB-BD31-4B8C-83A1-F6EECF244321}">
                <p14:modId xmlns:p14="http://schemas.microsoft.com/office/powerpoint/2010/main" val="650875651"/>
              </p:ext>
            </p:extLst>
          </p:nvPr>
        </p:nvGraphicFramePr>
        <p:xfrm>
          <a:off x="0" y="492760"/>
          <a:ext cx="9144001" cy="613003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nb-NO" dirty="0"/>
                        <a:t>Doe, J. &amp; Smith, A. (2021)</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GB" dirty="0"/>
                        <a:t>Entrepreneurial resilience in economic crises: lessons from </a:t>
                      </a:r>
                      <a:r>
                        <a:rPr lang="en-GB" dirty="0" err="1"/>
                        <a:t>smes</a:t>
                      </a:r>
                      <a:endParaRPr lang="en-GB" dirty="0"/>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dirty="0"/>
                        <a:t>Journal of Business Research, DOI:10.1016/j.jbusres.2021.05.011</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Despite the significance of resilience strategies and financial support programs, small businesses still face operational disruptions during economic crises. In the presence of government aid and policy interventions, many SMEs continue to struggle with financial sustainability. Therefore, it remains unclear which resilience mechanisms are most effective in ensuring business survival during crises.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Quantitative Explanatory Design.</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Findings reveal there is a positive significant relationship between adaptive leadership and SME survival during crises. Further, results indicate that financial literacy enhances crisis preparedness in small businesses. The relationship between leadership adaptability and SME survival is partially mediated by financial literacy.</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Provides empirical evidence on the role of adaptive leadership and financial literacy in SME survival during economic downturns.</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Lacks industry-specific insights on the effectiveness of resilience mechanisms.</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23865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C8A19A-2A22-057D-B7C3-93ADA6D0158D}"/>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32A22EAF-8C80-FA6C-E0B9-36216CFBC813}"/>
              </a:ext>
            </a:extLst>
          </p:cNvPr>
          <p:cNvGraphicFramePr>
            <a:graphicFrameLocks noGrp="1"/>
          </p:cNvGraphicFramePr>
          <p:nvPr>
            <p:extLst>
              <p:ext uri="{D42A27DB-BD31-4B8C-83A1-F6EECF244321}">
                <p14:modId xmlns:p14="http://schemas.microsoft.com/office/powerpoint/2010/main" val="1348560684"/>
              </p:ext>
            </p:extLst>
          </p:nvPr>
        </p:nvGraphicFramePr>
        <p:xfrm>
          <a:off x="0" y="457200"/>
          <a:ext cx="9144001" cy="670634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algn="just"/>
                      <a:r>
                        <a:rPr lang="en-GB" dirty="0"/>
                        <a:t>Michael L, Christopher S, (2020)</a:t>
                      </a:r>
                      <a:endParaRPr lang="en-US" sz="1800" b="0" dirty="0">
                        <a:solidFill>
                          <a:schemeClr val="tx1"/>
                        </a:solidFill>
                        <a:latin typeface="+mn-lt"/>
                      </a:endParaRPr>
                    </a:p>
                  </a:txBody>
                  <a:tcPr marL="68580" marR="68580"/>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pPr algn="just"/>
                      <a:r>
                        <a:rPr lang="en-US" dirty="0"/>
                        <a:t>A way forward for small businesses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pPr algn="l"/>
                      <a:r>
                        <a:rPr lang="en-US" i="1" dirty="0"/>
                        <a:t>Harvard Business Review </a:t>
                      </a:r>
                      <a:r>
                        <a:rPr lang="en-US" dirty="0"/>
                        <a:t>/ </a:t>
                      </a:r>
                      <a:r>
                        <a:rPr lang="en-US" dirty="0">
                          <a:hlinkClick r:id="rId2"/>
                        </a:rPr>
                        <a:t>https://hbr.org/2020/04/a-way-forward-for-small-businesses</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US" dirty="0"/>
                        <a:t>Despite the significance of small businesses to the economy, the COVID-19 pandemic has posed unprecedented challenges, threatening their survival. Therefore, it remains unclear which strategies can effectively support small businesses in navigating such crises.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dirty="0"/>
                        <a:t>Quantitative Explanatory Design.</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US" dirty="0"/>
                        <a:t>Findings reveal that small businesses face significant challenges, including reduced demand and operational disruptions, due to the pandemic. Further, results indicate that targeted government support and strategic adaptations are crucial for their survival. The relationship between policy interventions and business resilience is partially mediated by the businesses' ability to adapt to changing conditions.</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algn="just"/>
                      <a:r>
                        <a:rPr lang="en-US" dirty="0"/>
                        <a:t>Provided timely insights into the challenges faced by small businesses during the COVID-19 pandemic and offered practical recommendations for policymakers and business owners to mitigate the crisis's impact.</a:t>
                      </a:r>
                      <a:endParaRPr lang="en-US" sz="1800" b="0" i="0" dirty="0">
                        <a:solidFill>
                          <a:schemeClr val="tx1"/>
                        </a:solidFill>
                        <a:latin typeface="+mn-lt"/>
                      </a:endParaRP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US" dirty="0"/>
                        <a:t>The article is based on early observations during the pandemic; further empirical research is needed to assess the long-term effectiveness of the proposed strategies.</a:t>
                      </a:r>
                      <a:endParaRPr lang="en-US" sz="1800" dirty="0">
                        <a:solidFill>
                          <a:schemeClr val="tx1"/>
                        </a:solidFill>
                        <a:latin typeface="+mn-lt"/>
                      </a:endParaRPr>
                    </a:p>
                  </a:txBody>
                  <a:tcPr marL="68580" marR="68580"/>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081DFE28-1D85-516A-2215-DFF6BCF51C5B}"/>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7</a:t>
            </a:r>
            <a:endParaRPr lang="en-GB" dirty="0"/>
          </a:p>
        </p:txBody>
      </p:sp>
    </p:spTree>
    <p:extLst>
      <p:ext uri="{BB962C8B-B14F-4D97-AF65-F5344CB8AC3E}">
        <p14:creationId xmlns:p14="http://schemas.microsoft.com/office/powerpoint/2010/main" val="965366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4BC85-65C9-E847-CF35-77DB21A35C4F}"/>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2FD7F30A-73CA-7B2D-A0E3-72EFECA98CA6}"/>
              </a:ext>
            </a:extLst>
          </p:cNvPr>
          <p:cNvGraphicFramePr>
            <a:graphicFrameLocks noGrp="1"/>
          </p:cNvGraphicFramePr>
          <p:nvPr>
            <p:extLst>
              <p:ext uri="{D42A27DB-BD31-4B8C-83A1-F6EECF244321}">
                <p14:modId xmlns:p14="http://schemas.microsoft.com/office/powerpoint/2010/main" val="3336461389"/>
              </p:ext>
            </p:extLst>
          </p:nvPr>
        </p:nvGraphicFramePr>
        <p:xfrm>
          <a:off x="0" y="457200"/>
          <a:ext cx="9144001" cy="613003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Brown, K. (2020)</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The Impact of COVID-19 on Small Business Growth: Challenges and Opportunities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fr-FR" i="1" dirty="0"/>
                        <a:t>International Journal of Entrepreneurial </a:t>
                      </a:r>
                      <a:r>
                        <a:rPr lang="fr-FR" i="1" dirty="0" err="1"/>
                        <a:t>Studies</a:t>
                      </a:r>
                      <a:r>
                        <a:rPr lang="fr-FR" i="1" dirty="0"/>
                        <a:t>, </a:t>
                      </a:r>
                      <a:r>
                        <a:rPr lang="fr-FR" dirty="0"/>
                        <a:t>DOI:10.1002/ent.2020.3456</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Although digital transformation and online marketing play a crucial role, many small businesses experienced revenue losses during the COVID-19 crisis. Despite government grants and e-commerce opportunities, some businesses failed to recover, leaving uncertainty about which strategies effectively mitigate revenue declines during periods of crisis.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Quantitative Explanatory Design.</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Findings reveal there is a positive significant relationship between digital adoption and revenue stability during crises. Further, results indicate that businesses with pre-existing online presence adapted faster. The relationship between digital adoption and revenue stability is partially mediated by customer engagement.</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Highlights the importance of pre-crisis digital preparedness in ensuring business continuity.</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Does not explore the long-term sustainability of digital transformation in SMEs.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798606A0-D123-26DA-E0F4-19F4D9F9A223}"/>
              </a:ext>
            </a:extLst>
          </p:cNvPr>
          <p:cNvSpPr>
            <a:spLocks noGrp="1"/>
          </p:cNvSpPr>
          <p:nvPr>
            <p:ph type="title"/>
          </p:nvPr>
        </p:nvSpPr>
        <p:spPr>
          <a:xfrm>
            <a:off x="3505200" y="28075"/>
            <a:ext cx="2133600" cy="457199"/>
          </a:xfrm>
        </p:spPr>
        <p:txBody>
          <a:bodyPr>
            <a:normAutofit fontScale="90000"/>
          </a:bodyPr>
          <a:lstStyle/>
          <a:p>
            <a:r>
              <a:rPr lang="en-US" dirty="0"/>
              <a:t>Article 8</a:t>
            </a:r>
            <a:endParaRPr lang="en-GB" dirty="0"/>
          </a:p>
        </p:txBody>
      </p:sp>
    </p:spTree>
    <p:extLst>
      <p:ext uri="{BB962C8B-B14F-4D97-AF65-F5344CB8AC3E}">
        <p14:creationId xmlns:p14="http://schemas.microsoft.com/office/powerpoint/2010/main" val="199811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3B34FD-1D87-A098-C13D-536C15429C42}"/>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8143A176-73FB-E34D-9B9E-74EA6825B63C}"/>
              </a:ext>
            </a:extLst>
          </p:cNvPr>
          <p:cNvGraphicFramePr>
            <a:graphicFrameLocks noGrp="1"/>
          </p:cNvGraphicFramePr>
          <p:nvPr>
            <p:extLst>
              <p:ext uri="{D42A27DB-BD31-4B8C-83A1-F6EECF244321}">
                <p14:modId xmlns:p14="http://schemas.microsoft.com/office/powerpoint/2010/main" val="3038440359"/>
              </p:ext>
            </p:extLst>
          </p:nvPr>
        </p:nvGraphicFramePr>
        <p:xfrm>
          <a:off x="0" y="457200"/>
          <a:ext cx="9144001" cy="602437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Williams, L. &amp; Zhang, Y. (2019)</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Financial constraints and </a:t>
                      </a:r>
                      <a:r>
                        <a:rPr lang="en-US" dirty="0" err="1"/>
                        <a:t>sme</a:t>
                      </a:r>
                      <a:r>
                        <a:rPr lang="en-US" dirty="0"/>
                        <a:t> performance in economic recession</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Small Business Economics, </a:t>
                      </a:r>
                      <a:r>
                        <a:rPr lang="en-US" dirty="0"/>
                        <a:t>DOI:10.1007/sb.2019.7894</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Despite the significance of alternative financing options such as micro-loans and crowdfunding, small businesses still experience liquidity challenges during economic downturns. In the presence of financial support mechanisms, many SMEs continue to fail. Therefore, it remains unclear which financial intervention is most effective in sustaining SMEs in times of crisis.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Quantitative Explanatory Design.</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showed a positive significant relationship between access to credit and SME survival during economic recessions. Further, results indicate that financial literacy improves fund utilization. The relationship between access to credit and SME survival is partially mediated by financial literacy.</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The study provides data-driven insights to guide policy formulation in SME financing, enhancing access to capital, promoting financial sustainability, and supporting small business growth through evidence-based strategies tailored to economic conditions and market demands.</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This study lacks qualitative insights into how SMEs perceive and utilize financial support.</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27639683-8785-7E1E-6830-41A9E9C954FE}"/>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9</a:t>
            </a:r>
            <a:endParaRPr lang="en-GB" dirty="0"/>
          </a:p>
        </p:txBody>
      </p:sp>
    </p:spTree>
    <p:extLst>
      <p:ext uri="{BB962C8B-B14F-4D97-AF65-F5344CB8AC3E}">
        <p14:creationId xmlns:p14="http://schemas.microsoft.com/office/powerpoint/2010/main" val="1537407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797165-1649-5566-BB44-EE3052CEBF47}"/>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A6E2072A-20B1-5011-4138-9E45D08027A0}"/>
              </a:ext>
            </a:extLst>
          </p:cNvPr>
          <p:cNvGraphicFramePr>
            <a:graphicFrameLocks noGrp="1"/>
          </p:cNvGraphicFramePr>
          <p:nvPr>
            <p:extLst>
              <p:ext uri="{D42A27DB-BD31-4B8C-83A1-F6EECF244321}">
                <p14:modId xmlns:p14="http://schemas.microsoft.com/office/powerpoint/2010/main" val="3606289629"/>
              </p:ext>
            </p:extLst>
          </p:nvPr>
        </p:nvGraphicFramePr>
        <p:xfrm>
          <a:off x="0" y="457200"/>
          <a:ext cx="9144001" cy="585571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Green, R. &amp; Patel, S. (2022)</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Entrepreneurial Innovation as a Survival Strategy in Times of Crisis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Innovation and Entrepreneurship, </a:t>
                      </a:r>
                      <a:r>
                        <a:rPr lang="en-US" dirty="0"/>
                        <a:t>DOI:10.1186/s13731-022-00152-7</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Despite the significance of innovation in ensuring business continuity, small businesses still face difficulties in sustaining operations during crises. In the presence of technology adoption and innovation hubs, many SMEs still struggle with competitive advantage. Therefore, it remains unclear which innovation strategies are most effective for long-term SME survival.</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Quantitative Explanatory Design.</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This study reveal there is a positive significant relationship between product innovation and SME resilience during economic crises. Further, results indicate that customer-driven innovation enhances business adaptability. The relationship between product innovation and SME resilience is partially mediated by customer engagement.</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The study advances knowledge on the role of customer-driven innovation in business resilience.</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The study does not address the scalability of innovation strategies for SMEs in developing economies.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6D681E8D-6FAD-2C60-093E-310D88F128DB}"/>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10</a:t>
            </a:r>
            <a:endParaRPr lang="en-GB" dirty="0"/>
          </a:p>
        </p:txBody>
      </p:sp>
    </p:spTree>
    <p:extLst>
      <p:ext uri="{BB962C8B-B14F-4D97-AF65-F5344CB8AC3E}">
        <p14:creationId xmlns:p14="http://schemas.microsoft.com/office/powerpoint/2010/main" val="649453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207F89-4DD4-EB79-29A5-EEEF45F15FA1}"/>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0B8309CC-213C-DCB9-78C1-4982403BEDBA}"/>
              </a:ext>
            </a:extLst>
          </p:cNvPr>
          <p:cNvGraphicFramePr>
            <a:graphicFrameLocks noGrp="1"/>
          </p:cNvGraphicFramePr>
          <p:nvPr>
            <p:extLst>
              <p:ext uri="{D42A27DB-BD31-4B8C-83A1-F6EECF244321}">
                <p14:modId xmlns:p14="http://schemas.microsoft.com/office/powerpoint/2010/main" val="4202730655"/>
              </p:ext>
            </p:extLst>
          </p:nvPr>
        </p:nvGraphicFramePr>
        <p:xfrm>
          <a:off x="0" y="457200"/>
          <a:ext cx="9144001" cy="613003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US" dirty="0"/>
                        <a:t>Thompson, H. &amp; Lee, M. (2018)</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Crisis management strategies for small businesses: lessons from the 2008 financial crisis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Harvard Business Review, </a:t>
                      </a:r>
                      <a:r>
                        <a:rPr lang="en-US" dirty="0"/>
                        <a:t>DOI:10.2307/harvbusrev.2018.5678</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In the face of the significance of crisis management frameworks, small businesses still suffer heavy losses during economic downturns. In the presence of strategic planning tools and financial cushions, many SMEs fail to recover post-crisis. Therefore, it remains unclear which crisis management approach is most effective for small business sustainability.</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Quantitative Explanatory Design.</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reveal there is a positive significant relationship between proactive crisis management and business sustainability. Further, results indicate that firms with diversified revenue streams performed better during crises. The relationship between crisis management and business sustainability is partially mediated by revenue diversification.</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Enhances understanding of the role of proactive strategies in SME crisis management.</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Lacks a contemporary perspective, as the findings are based on the 2008 financial crisis.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B306554A-1787-A1F8-8511-C4A5415F38C8}"/>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11</a:t>
            </a:r>
            <a:endParaRPr lang="en-GB" dirty="0"/>
          </a:p>
        </p:txBody>
      </p:sp>
    </p:spTree>
    <p:extLst>
      <p:ext uri="{BB962C8B-B14F-4D97-AF65-F5344CB8AC3E}">
        <p14:creationId xmlns:p14="http://schemas.microsoft.com/office/powerpoint/2010/main" val="349733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98B89F-CB43-9B48-DED5-4A6320AA62FD}"/>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7C00B0C5-AE2E-C86E-C079-8F8C45FDADD6}"/>
              </a:ext>
            </a:extLst>
          </p:cNvPr>
          <p:cNvGraphicFramePr>
            <a:graphicFrameLocks noGrp="1"/>
          </p:cNvGraphicFramePr>
          <p:nvPr>
            <p:extLst>
              <p:ext uri="{D42A27DB-BD31-4B8C-83A1-F6EECF244321}">
                <p14:modId xmlns:p14="http://schemas.microsoft.com/office/powerpoint/2010/main" val="520465230"/>
              </p:ext>
            </p:extLst>
          </p:nvPr>
        </p:nvGraphicFramePr>
        <p:xfrm>
          <a:off x="0" y="457200"/>
          <a:ext cx="9144001" cy="674647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US" dirty="0"/>
                        <a:t>Robin B, DiPietro, J ,N, Welsh, (2020)</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Functional strategies for small businesses during crisis situations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Small Business Strategy </a:t>
                      </a:r>
                      <a:r>
                        <a:rPr lang="en-US" dirty="0"/>
                        <a:t>/ </a:t>
                      </a:r>
                      <a:r>
                        <a:rPr lang="en-US" dirty="0">
                          <a:hlinkClick r:id="rId2"/>
                        </a:rPr>
                        <a:t>https://www.abacademies.org/articles/Functional-strategies-for-small-businesses-during-crisis-situations-1528-2686-27-3-527.pdf</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Regardless of the significance of crisis management, small businesses often lack formal strategies to navigate disruptive situations. Therefore, it remains unclear which functional strategies can enhance small business resilience during crises.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Quantitative Explanatory Design .</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Findings reveal that proactive communication, flexible operations, and stakeholder engagement are effective strategies for small businesses during crises. Further, results indicate that businesses with pre-existing crisis plans are better equipped to handle disruptions. The relationship between crisis preparedness and business continuity is partially mediated by the implementation of adaptive strategies.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Highlighted the importance of functional strategies, such as communication and flexibility, in enhancing small business resilience during crises, offering practical guidance for entrepreneurs.</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The study relies on qualitative data; quantitative research is needed to generalize the findings across different industries and crisis scenarios.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D58E0E2D-CC5C-6FC2-DDCF-780DDBFA3A12}"/>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12</a:t>
            </a:r>
            <a:endParaRPr lang="en-GB" dirty="0"/>
          </a:p>
        </p:txBody>
      </p:sp>
    </p:spTree>
    <p:extLst>
      <p:ext uri="{BB962C8B-B14F-4D97-AF65-F5344CB8AC3E}">
        <p14:creationId xmlns:p14="http://schemas.microsoft.com/office/powerpoint/2010/main" val="2051896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6BF9AC-A869-265F-A66B-D487DFBB014C}"/>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14BEC9F2-729A-6DC4-3E68-83939D2255A6}"/>
              </a:ext>
            </a:extLst>
          </p:cNvPr>
          <p:cNvGraphicFramePr>
            <a:graphicFrameLocks noGrp="1"/>
          </p:cNvGraphicFramePr>
          <p:nvPr>
            <p:extLst>
              <p:ext uri="{D42A27DB-BD31-4B8C-83A1-F6EECF244321}">
                <p14:modId xmlns:p14="http://schemas.microsoft.com/office/powerpoint/2010/main" val="4002789806"/>
              </p:ext>
            </p:extLst>
          </p:nvPr>
        </p:nvGraphicFramePr>
        <p:xfrm>
          <a:off x="0" y="457200"/>
          <a:ext cx="9144001" cy="647215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David B, </a:t>
                      </a:r>
                      <a:r>
                        <a:rPr lang="en-GB" dirty="0" err="1"/>
                        <a:t>Audretsch</a:t>
                      </a:r>
                      <a:r>
                        <a:rPr lang="en-GB" dirty="0"/>
                        <a:t>, Max C. Keilbach, (2021)</a:t>
                      </a:r>
                      <a:endParaRPr lang="en-US"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Entrepreneurship and crisis management: the experiences of small businesses during the </a:t>
                      </a:r>
                      <a:r>
                        <a:rPr lang="en-US" dirty="0" err="1"/>
                        <a:t>london</a:t>
                      </a:r>
                      <a:r>
                        <a:rPr lang="en-US" dirty="0"/>
                        <a:t> 2011 riots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International Small Business Journal </a:t>
                      </a:r>
                      <a:r>
                        <a:rPr lang="en-US" dirty="0"/>
                        <a:t>/ https://journals.sagepub.com/doi/pdf/10.1177/0266242614553863</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Even with the significance of understanding crisis impacts, there is limited research on how small businesses experience and respond to sudden, localized crises. Therefore, it remains unclear how such events affect small business operations and survival.</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Quantitative Explanatory Design.</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Findings reveal that small businesses faced immediate operational disruptions and financial losses due to the riots. Further, results indicate that community support and adaptive business strategies were crucial for recovery. The relationship between external support and business recovery is partially mediated by the businesses' adaptive capabilities.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Provided empirical insights into the immediate and short-term impacts of localized crises on small businesses, emphasizing the role of community and adaptability in recovery efforts.</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The study focuses on a specific event; further research is needed to understand small business responses to different types of crises in various contexts.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7DFF0965-F75A-34AB-B7A8-FD889CFBE026}"/>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13</a:t>
            </a:r>
            <a:endParaRPr lang="en-GB" dirty="0"/>
          </a:p>
        </p:txBody>
      </p:sp>
    </p:spTree>
    <p:extLst>
      <p:ext uri="{BB962C8B-B14F-4D97-AF65-F5344CB8AC3E}">
        <p14:creationId xmlns:p14="http://schemas.microsoft.com/office/powerpoint/2010/main" val="3104704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417E55-5D89-1D34-402A-F3C772FFEA4B}"/>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C913467A-B4C8-DAB3-E4A8-C3E87B1930F8}"/>
              </a:ext>
            </a:extLst>
          </p:cNvPr>
          <p:cNvGraphicFramePr>
            <a:graphicFrameLocks noGrp="1"/>
          </p:cNvGraphicFramePr>
          <p:nvPr>
            <p:extLst>
              <p:ext uri="{D42A27DB-BD31-4B8C-83A1-F6EECF244321}">
                <p14:modId xmlns:p14="http://schemas.microsoft.com/office/powerpoint/2010/main" val="1748193157"/>
              </p:ext>
            </p:extLst>
          </p:nvPr>
        </p:nvGraphicFramePr>
        <p:xfrm>
          <a:off x="0" y="457200"/>
          <a:ext cx="9144001" cy="722731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Shepherd &amp; Williams (2020)</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Entrepreneurial responses to adversity: business as usual or radical innovation?</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Business Venturing </a:t>
                      </a:r>
                      <a:r>
                        <a:rPr lang="en-US" dirty="0"/>
                        <a:t>/ DOI:10.1016/j.jbusvent.2020.106002</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Crises present unpredictable challenges to entrepreneurs, forcing them to either adapt existing strategies or pursue radical innovations to sustain their businesses. However, there is limited research on how entrepreneurs make these strategic decisions during crises. This study aims to investigate whether entrepreneurs treat crises as temporary disruptions or opportunities for innovation, and how psychological resilience influences their choices. Understanding these responses is crucial for developing frameworks that can guide businesses in navigating crises more effectively.</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Qualitative case study of small businesses affected by economic downturns.</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found that entrepreneurs exhibit two primary responses: they either pivot towards innovation or maintain existing operations with modifications. The role of psychological resilience was identified as a crucial factor in determining how entrepreneurs reacted to adversity. Some businesses leveraged crises as opportunities for transformation, while others focused on sustaining their operations with minor adjustments. This suggests that crisis response strategies vary significantly based on individual and organizational characteristics.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The study demonstrates that crisis fosters entrepreneurial adaptability and innovation. Highlights resilience as a key factor.</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GB" dirty="0"/>
                        <a:t>Lacks quantitative analysis on financial performance post-crisis.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EBF5EAD0-DE42-59DB-3BE5-8C893338AB51}"/>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14</a:t>
            </a:r>
            <a:endParaRPr lang="en-GB" dirty="0"/>
          </a:p>
        </p:txBody>
      </p:sp>
    </p:spTree>
    <p:extLst>
      <p:ext uri="{BB962C8B-B14F-4D97-AF65-F5344CB8AC3E}">
        <p14:creationId xmlns:p14="http://schemas.microsoft.com/office/powerpoint/2010/main" val="2589631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CE310-508B-5B6A-D843-00CDF73D2F18}"/>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4148B357-579B-179F-C327-E74F861B630C}"/>
              </a:ext>
            </a:extLst>
          </p:cNvPr>
          <p:cNvGraphicFramePr>
            <a:graphicFrameLocks noGrp="1"/>
          </p:cNvGraphicFramePr>
          <p:nvPr>
            <p:extLst>
              <p:ext uri="{D42A27DB-BD31-4B8C-83A1-F6EECF244321}">
                <p14:modId xmlns:p14="http://schemas.microsoft.com/office/powerpoint/2010/main" val="2449965773"/>
              </p:ext>
            </p:extLst>
          </p:nvPr>
        </p:nvGraphicFramePr>
        <p:xfrm>
          <a:off x="0" y="457200"/>
          <a:ext cx="9144001" cy="739597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err="1"/>
                        <a:t>Kuckertz</a:t>
                      </a:r>
                      <a:r>
                        <a:rPr lang="en-GB" dirty="0"/>
                        <a:t> et al. (2020)</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Startups in times of crisis – a response to covid-19</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Business Research </a:t>
                      </a:r>
                      <a:r>
                        <a:rPr lang="en-US" dirty="0"/>
                        <a:t>/ DOI:10.1016/j.jbusres.2020.05.041</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The COVID-19 pandemic caused unprecedented disruptions to startups, leading to challenges such as financial constraints, operational shutdowns, and shifts in consumer behavior. Existing research does not fully address how startups, which often lack established crisis management frameworks, react to such external shocks. This study investigates how startups adapt to crises, whether they pivot towards digital solutions, seek external financial support, or restructure their operations. It also examines the role of government policies in startup survival.</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Quantitative Explanatory Design.</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revealed that many startups pivoted to digital solutions to remain competitive, while others struggled due to insufficient financial resilience. Government intervention played a crucial role in sustaining many businesses. Startups with pre-existing digital capabilities adapted more quickly, whereas those reliant on traditional models faced significant difficulties. The findings highlight the necessity of agility and pre-crisis preparedness for business continuity.</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The study emphasizes the critical role of business agility and digital transformation in navigating crises, enabling organizations to adapt swiftly, optimize operations, and leverage technology for resilience, innovation, and sustained growth during periods of uncertainty and disruption.</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The study focuses on short-term adaptation; long-term effects remain unexplored.</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4405B942-11A3-9703-6130-2F3B7FED5DB7}"/>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15</a:t>
            </a:r>
            <a:endParaRPr lang="en-GB" dirty="0"/>
          </a:p>
        </p:txBody>
      </p:sp>
    </p:spTree>
    <p:extLst>
      <p:ext uri="{BB962C8B-B14F-4D97-AF65-F5344CB8AC3E}">
        <p14:creationId xmlns:p14="http://schemas.microsoft.com/office/powerpoint/2010/main" val="4012941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52E1BE-086D-819C-FE0F-12003CE3C8BE}"/>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99091F79-C883-E70F-6A02-30BD1E9C4EA7}"/>
              </a:ext>
            </a:extLst>
          </p:cNvPr>
          <p:cNvGraphicFramePr>
            <a:graphicFrameLocks noGrp="1"/>
          </p:cNvGraphicFramePr>
          <p:nvPr>
            <p:extLst>
              <p:ext uri="{D42A27DB-BD31-4B8C-83A1-F6EECF244321}">
                <p14:modId xmlns:p14="http://schemas.microsoft.com/office/powerpoint/2010/main" val="530008057"/>
              </p:ext>
            </p:extLst>
          </p:nvPr>
        </p:nvGraphicFramePr>
        <p:xfrm>
          <a:off x="0" y="457200"/>
          <a:ext cx="9144001" cy="617220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Doern et al. (2019)</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Crisis and entrepreneurship: a systematic review and future research agenda</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International Small Business Journal </a:t>
                      </a:r>
                      <a:r>
                        <a:rPr lang="en-US" dirty="0"/>
                        <a:t>/ DOI:10.1177/0266242619829683</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Despite the growing occurrence of crises worldwide, there is no unified framework for understanding how entrepreneurs respond to different types of crises. The lack of a comprehensive theoretical foundation makes it difficult to predict whether crises will encourage entrepreneurship or hinder business activities due to resource constraints. This paper aims to synthesize existing literature on entrepreneurial crisis responses and develop a framework for future research.</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Systematic literature review of 150 studies from 2000-2018.</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review found that crises could either stimulate entrepreneurial activity (opportunity-driven response) or inhibit it due to resource scarcity. While some entrepreneurs exploited market gaps created by crises, others struggled due to capital shortages. The paper also identifies a gap in empirical research that examines long-term post-crisis business outcomes.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The study identifies patterns of entrepreneurial responses to crises and sets a future research agenda.</a:t>
                      </a:r>
                    </a:p>
                  </a:txBody>
                  <a:tcPr anchor="ctr"/>
                </a:tc>
                <a:extLst>
                  <a:ext uri="{0D108BD9-81ED-4DB2-BD59-A6C34878D82A}">
                    <a16:rowId xmlns:a16="http://schemas.microsoft.com/office/drawing/2014/main" val="10006"/>
                  </a:ext>
                </a:extLst>
              </a:tr>
              <a:tr h="448056">
                <a:tc>
                  <a:txBody>
                    <a:bodyPr/>
                    <a:lstStyle/>
                    <a:p>
                      <a:pPr algn="l"/>
                      <a:r>
                        <a:rPr lang="en-US" sz="1800" b="1" dirty="0">
                          <a:solidFill>
                            <a:schemeClr val="tx1"/>
                          </a:solidFill>
                          <a:latin typeface="+mn-lt"/>
                        </a:rPr>
                        <a:t>Gaps</a:t>
                      </a:r>
                    </a:p>
                  </a:txBody>
                  <a:tcPr marL="68580" marR="68580"/>
                </a:tc>
                <a:tc>
                  <a:txBody>
                    <a:bodyPr/>
                    <a:lstStyle/>
                    <a:p>
                      <a:r>
                        <a:rPr lang="en-US" dirty="0"/>
                        <a:t>Lacks empirical data to validate proposed theoretical models.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E6F8FD33-B0BF-FB9D-4F57-9E930A0865FC}"/>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16</a:t>
            </a:r>
            <a:endParaRPr lang="en-GB" dirty="0"/>
          </a:p>
        </p:txBody>
      </p:sp>
    </p:spTree>
    <p:extLst>
      <p:ext uri="{BB962C8B-B14F-4D97-AF65-F5344CB8AC3E}">
        <p14:creationId xmlns:p14="http://schemas.microsoft.com/office/powerpoint/2010/main" val="2896800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240FAB-CED9-1CA5-DF74-283208D9FA82}"/>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C719D1DD-1D95-F6B8-8060-13BED82B4A8F}"/>
              </a:ext>
            </a:extLst>
          </p:cNvPr>
          <p:cNvGraphicFramePr>
            <a:graphicFrameLocks noGrp="1"/>
          </p:cNvGraphicFramePr>
          <p:nvPr>
            <p:extLst>
              <p:ext uri="{D42A27DB-BD31-4B8C-83A1-F6EECF244321}">
                <p14:modId xmlns:p14="http://schemas.microsoft.com/office/powerpoint/2010/main" val="1762839449"/>
              </p:ext>
            </p:extLst>
          </p:nvPr>
        </p:nvGraphicFramePr>
        <p:xfrm>
          <a:off x="0" y="457200"/>
          <a:ext cx="9144001" cy="794461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err="1"/>
                        <a:t>Ratten</a:t>
                      </a:r>
                      <a:r>
                        <a:rPr lang="en-GB" dirty="0"/>
                        <a:t> (2020)</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Coronavirus and international business: an entrepreneurial ecosystem perspective</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dirty="0"/>
                        <a:t>Thunderbird International Business Review / DOI:10.1002/tie.22161</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The COVID-19 pandemic has disrupted global business ecosystems, yet there is little understanding of how entrepreneurs leverage these ecosystems for crisis survival. Existing research primarily focuses on individual businesses rather than the interconnected networks that support them. This study aims to explore how businesses utilize digital platforms, government interventions, and entrepreneurial networks to navigate crises.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Conceptual paper analyzing global business disruptions.</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found that during the pandemic, entrepreneurs utilized digital platforms, government support, and entrepreneurial networks to sustain operations. The study emphasizes that businesses integrated within strong ecosystems exhibited greater resilience, adaptability, and continuity than isolated firms. These firms benefited from resource-sharing, collaborative innovation, and financial assistance, enabling them to navigate uncertainties more effectively. Digital tools played a crucial role in maintaining market presence, customer engagement, and operational efficiency, reinforcing the importance of connectivity and ecosystem support in ensuring business sustainability during crises.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The study presents the idea of entrepreneurial ecosystems shaped by crises, emphasizing how businesses adapt, innovate, and collaborate to survive and thrive during economic disruptions and uncertainties.</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Does not provide empirical evidence from real-world businesses.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4AA2F1D6-A4D7-031B-E903-8C33F31E9A4C}"/>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17</a:t>
            </a:r>
            <a:endParaRPr lang="en-GB" dirty="0"/>
          </a:p>
        </p:txBody>
      </p:sp>
    </p:spTree>
    <p:extLst>
      <p:ext uri="{BB962C8B-B14F-4D97-AF65-F5344CB8AC3E}">
        <p14:creationId xmlns:p14="http://schemas.microsoft.com/office/powerpoint/2010/main" val="1499028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1F83FC-7D05-0AD9-697C-CC729B33DEFD}"/>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449377E7-D327-CBDF-9FDB-B2AAACE2545A}"/>
              </a:ext>
            </a:extLst>
          </p:cNvPr>
          <p:cNvGraphicFramePr>
            <a:graphicFrameLocks noGrp="1"/>
          </p:cNvGraphicFramePr>
          <p:nvPr>
            <p:extLst>
              <p:ext uri="{D42A27DB-BD31-4B8C-83A1-F6EECF244321}">
                <p14:modId xmlns:p14="http://schemas.microsoft.com/office/powerpoint/2010/main" val="494893946"/>
              </p:ext>
            </p:extLst>
          </p:nvPr>
        </p:nvGraphicFramePr>
        <p:xfrm>
          <a:off x="0" y="457200"/>
          <a:ext cx="9144001" cy="767029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Kraus et al. (2020)</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The economics of covid-19: initial evidence on how family firms in five </a:t>
                      </a:r>
                      <a:r>
                        <a:rPr lang="en-US" dirty="0" err="1"/>
                        <a:t>european</a:t>
                      </a:r>
                      <a:r>
                        <a:rPr lang="en-US" dirty="0"/>
                        <a:t> countries cope</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International Journal of Entrepreneurial Behavior &amp; Research </a:t>
                      </a:r>
                      <a:r>
                        <a:rPr lang="en-US" dirty="0"/>
                        <a:t>/ DOI:10.1108/IJEBR-06-2020-0341</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Family-owned businesses are particularly vulnerable to economic crises due to their reliance on stable market conditions and long-term planning. However, research on how these firms manage crises remains limited. This study examines how family firms across Europe responded to the COVID-19 pandemic and the strategies they employed to maintain business continuity.</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Mixed-method approach (survey and interviews) with 50 family businesses.</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revealed that family firms leveraged social capital, government assistance, and financial reserves to withstand economic crises. While some businesses adopted conservative financial strategies to preserve resources, others diversified their revenue streams to enhance stability. Additionally, family-based decision-making emerged as a key factor in fostering resilience, enabling firms to navigate uncertainties effectively. These adaptive strategies highlight the importance of financial prudence, external support, and internal cohesion in ensuring business continuity during periods of economic turbulence.</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The study emphasizes the significance of family-based decision-making in effectively managing crises, ensuring business resilience, adaptability, and continuity during economic downturns and unexpected challenges through collective leadership and strategic planning.</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Limited to European context; does not explore diverse economic environments.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98F12CD1-A1CF-6DEA-DCF0-ED0E32D57B5E}"/>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18</a:t>
            </a:r>
            <a:endParaRPr lang="en-GB" dirty="0"/>
          </a:p>
        </p:txBody>
      </p:sp>
    </p:spTree>
    <p:extLst>
      <p:ext uri="{BB962C8B-B14F-4D97-AF65-F5344CB8AC3E}">
        <p14:creationId xmlns:p14="http://schemas.microsoft.com/office/powerpoint/2010/main" val="711912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316A7-B212-9C06-193B-00B0D47FEAB2}"/>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5FE87D00-7B64-CEB4-F5E4-B66606490F86}"/>
              </a:ext>
            </a:extLst>
          </p:cNvPr>
          <p:cNvGraphicFramePr>
            <a:graphicFrameLocks noGrp="1"/>
          </p:cNvGraphicFramePr>
          <p:nvPr>
            <p:extLst>
              <p:ext uri="{D42A27DB-BD31-4B8C-83A1-F6EECF244321}">
                <p14:modId xmlns:p14="http://schemas.microsoft.com/office/powerpoint/2010/main" val="558788984"/>
              </p:ext>
            </p:extLst>
          </p:nvPr>
        </p:nvGraphicFramePr>
        <p:xfrm>
          <a:off x="0" y="457200"/>
          <a:ext cx="9144001" cy="811807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Smallbone et al. (2012)</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Surviving the economic crisis: lessons from </a:t>
                      </a:r>
                      <a:r>
                        <a:rPr lang="en-US" dirty="0" err="1"/>
                        <a:t>european</a:t>
                      </a:r>
                      <a:r>
                        <a:rPr lang="en-US" dirty="0"/>
                        <a:t> </a:t>
                      </a:r>
                      <a:r>
                        <a:rPr lang="en-US" dirty="0" err="1"/>
                        <a:t>smes</a:t>
                      </a:r>
                      <a:endParaRPr lang="en-US" dirty="0"/>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Small Business Management </a:t>
                      </a:r>
                      <a:r>
                        <a:rPr lang="en-US" dirty="0"/>
                        <a:t>/ DOI:10.1111/j.1540-627X.2012.00377.x</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The 2008 financial crisis severely affected small and medium-sized enterprises (SMEs), but research lacks a comprehensive analysis of their survival strategies. This study seeks to understand how SMEs in Europe navigated financial downturns and what lessons can be applied to future crises.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Longitudinal study of SMEs from 2008-2012 using financial data and interviews.</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found that small and medium-sized enterprises (SMEs) that expanded their market reach, integrated digital solutions, and embraced flexible business models demonstrated higher survival rates during crises. These strategic adaptations enabled them to navigate economic uncertainties more effectively. Additionally, the study highlights that access to external funding played a critical role in enhancing business resilience. Firms with sufficient financial resources were better equipped to sustain operations, invest in innovation, and respond to market disruptions. These findings emphasize the importance of diversification, digital transformation, and financial support in strengthening the long-term viability and adaptability of SMEs in dynamic business environments.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examines the lasting effects of crisis adaptation strategies on business sustainability, growth, and resilience. It highlights how businesses that implement flexible models, digital transformation, and financial diversification can maintain stability, recover faster, and enhance competitiveness. Understanding these long-term impacts provides valuable insights for organizations seeking to navigate future uncertainties </a:t>
                      </a:r>
                      <a:r>
                        <a:rPr lang="en-US" dirty="0" err="1"/>
                        <a:t>effectivel</a:t>
                      </a:r>
                      <a:endParaRPr lang="en-US" dirty="0"/>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Lacks focus on emerging economies.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CC74C0F0-808D-AC98-942E-DA87A75C01B5}"/>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19</a:t>
            </a:r>
            <a:endParaRPr lang="en-GB" dirty="0"/>
          </a:p>
        </p:txBody>
      </p:sp>
    </p:spTree>
    <p:extLst>
      <p:ext uri="{BB962C8B-B14F-4D97-AF65-F5344CB8AC3E}">
        <p14:creationId xmlns:p14="http://schemas.microsoft.com/office/powerpoint/2010/main" val="2142109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E0D02-9C38-EACD-EBEF-2CE48245B6F6}"/>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96DC0C72-F15E-3BFD-7DBB-C2A2C42B2856}"/>
              </a:ext>
            </a:extLst>
          </p:cNvPr>
          <p:cNvGraphicFramePr>
            <a:graphicFrameLocks noGrp="1"/>
          </p:cNvGraphicFramePr>
          <p:nvPr>
            <p:extLst>
              <p:ext uri="{D42A27DB-BD31-4B8C-83A1-F6EECF244321}">
                <p14:modId xmlns:p14="http://schemas.microsoft.com/office/powerpoint/2010/main" val="1664448643"/>
              </p:ext>
            </p:extLst>
          </p:nvPr>
        </p:nvGraphicFramePr>
        <p:xfrm>
          <a:off x="0" y="457200"/>
          <a:ext cx="9144001" cy="763016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b="0" dirty="0"/>
                        <a:t>Breier et al. (2021)</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Business model innovation in times of crisis: a systematic review</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Business Research </a:t>
                      </a:r>
                      <a:r>
                        <a:rPr lang="en-US" dirty="0"/>
                        <a:t>/ DOI:10.1016/j.jbusres.2020.06.021</a:t>
                      </a:r>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US" dirty="0"/>
                        <a:t>Business model innovation is vital for organizational survival during crises, yet research on strategic model redesign in response to economic shocks is limited. This paper addresses the gap by analyzing adaptive strategies and key trends in business model adjustments. By reviewing existing studies, it provides insights to guide businesses in sustaining operations and making informed strategic decisions during economic disruptions.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Systematic review of 120 articles on business model adaptation.</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finds that businesses that implemented flexible and scalable models demonstrated greater success during crises. Key adaptation strategies included digital transformation and the redesign of value propositions, enabling organizations to remain competitive. The study highlights that companies embracing agile business models exhibited higher resilience, effectively navigating economic uncertainties. These findings underscore the importance of adaptability in business strategy, reinforcing the critical role of innovation in sustaining operations and ensuring long-term survival in volatile market conditions.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research develops a framework to drive business model innovation in response to crises, helping organizations adapt, sustain operations, and navigate challenging economic conditions effectively.</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study focuses on short-term adaptation; long-term effects remain unexplored.</a:t>
                      </a:r>
                    </a:p>
                    <a:p>
                      <a:endParaRPr lang="en-US" dirty="0"/>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D94516B2-20F4-11C6-63F7-34DA9A72E53F}"/>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20</a:t>
            </a:r>
            <a:endParaRPr lang="en-GB" dirty="0"/>
          </a:p>
        </p:txBody>
      </p:sp>
    </p:spTree>
    <p:extLst>
      <p:ext uri="{BB962C8B-B14F-4D97-AF65-F5344CB8AC3E}">
        <p14:creationId xmlns:p14="http://schemas.microsoft.com/office/powerpoint/2010/main" val="4093801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02F6D-A92B-19C2-EBED-121FABA466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A3EF44-1D31-53C5-B58F-A4CE55B9F8D6}"/>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A5FE1FB0-CCE5-A769-4BA2-B164C9DA4672}"/>
              </a:ext>
            </a:extLst>
          </p:cNvPr>
          <p:cNvGraphicFramePr>
            <a:graphicFrameLocks noGrp="1"/>
          </p:cNvGraphicFramePr>
          <p:nvPr>
            <p:extLst>
              <p:ext uri="{D42A27DB-BD31-4B8C-83A1-F6EECF244321}">
                <p14:modId xmlns:p14="http://schemas.microsoft.com/office/powerpoint/2010/main" val="2665135580"/>
              </p:ext>
            </p:extLst>
          </p:nvPr>
        </p:nvGraphicFramePr>
        <p:xfrm>
          <a:off x="0" y="457200"/>
          <a:ext cx="9144001" cy="807794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err="1">
                          <a:solidFill>
                            <a:schemeClr val="lt1"/>
                          </a:solidFill>
                          <a:effectLst/>
                          <a:latin typeface="+mn-lt"/>
                          <a:ea typeface="+mn-ea"/>
                          <a:cs typeface="+mn-cs"/>
                        </a:rPr>
                        <a:t>Herbane</a:t>
                      </a:r>
                      <a:r>
                        <a:rPr lang="en-GB" sz="1800" b="1" kern="1200" dirty="0">
                          <a:solidFill>
                            <a:schemeClr val="lt1"/>
                          </a:solidFill>
                          <a:effectLst/>
                          <a:latin typeface="+mn-lt"/>
                          <a:ea typeface="+mn-ea"/>
                          <a:cs typeface="+mn-cs"/>
                        </a:rPr>
                        <a:t>, B. (2019) </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Rethinking organizational resilience and strategic renewal in SMEs </a:t>
                      </a:r>
                      <a:endParaRPr lang="en-US" dirty="0"/>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i="1" kern="1200" dirty="0">
                          <a:solidFill>
                            <a:schemeClr val="dk1"/>
                          </a:solidFill>
                          <a:effectLst/>
                          <a:latin typeface="+mn-lt"/>
                          <a:ea typeface="+mn-ea"/>
                          <a:cs typeface="+mn-cs"/>
                        </a:rPr>
                        <a:t>Entrepreneurship &amp; Regional Development</a:t>
                      </a:r>
                      <a:r>
                        <a:rPr lang="en-GB" sz="1800" kern="1200" dirty="0">
                          <a:solidFill>
                            <a:schemeClr val="dk1"/>
                          </a:solidFill>
                          <a:effectLst/>
                          <a:latin typeface="+mn-lt"/>
                          <a:ea typeface="+mn-ea"/>
                          <a:cs typeface="+mn-cs"/>
                        </a:rPr>
                        <a:t> / </a:t>
                      </a:r>
                      <a:r>
                        <a:rPr lang="en-GB" sz="1800" u="sng" kern="1200" dirty="0">
                          <a:solidFill>
                            <a:schemeClr val="dk1"/>
                          </a:solidFill>
                          <a:effectLst/>
                          <a:latin typeface="+mn-lt"/>
                          <a:ea typeface="+mn-ea"/>
                          <a:cs typeface="+mn-cs"/>
                          <a:hlinkClick r:id="rId2"/>
                        </a:rPr>
                        <a:t>https://doi.org/10.1080/08985626.2018.1541594</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The disconnect between strategic management theory and crisis management practices in SMEs, particularly regarding how organizational resilience capabilities develop and contribute to long-term strategic renewal following disruptive events.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Longitudinal case study analysis of 11 UK-based SMEs over a seven-year period, tracking crisis experiences, response strategies, and subsequent strategic changes through semi-structured interviews and documentary analysis.</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research demonstrates that resilient SMEs develop distinct capabilities through crisis experiences, including environmental sensing, resource reconfiguration, and organizational learning. These capabilities contribute to a "resilience architecture" that serves as both a protective mechanism during crises and a platform for strategic renewal afterward. However, the development of these capabilities varies significantly based on leadership characteristics and prior crisis exposure.</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This study advances understanding of resilience as a dynamic organizational capability rather than a static attribute, demonstrating how crisis experiences can </a:t>
                      </a:r>
                      <a:r>
                        <a:rPr lang="en-GB" sz="1800" kern="1200" dirty="0" err="1">
                          <a:solidFill>
                            <a:schemeClr val="dk1"/>
                          </a:solidFill>
                          <a:effectLst/>
                          <a:latin typeface="+mn-lt"/>
                          <a:ea typeface="+mn-ea"/>
                          <a:cs typeface="+mn-cs"/>
                        </a:rPr>
                        <a:t>catalyze</a:t>
                      </a:r>
                      <a:r>
                        <a:rPr lang="en-GB" sz="1800" kern="1200" dirty="0">
                          <a:solidFill>
                            <a:schemeClr val="dk1"/>
                          </a:solidFill>
                          <a:effectLst/>
                          <a:latin typeface="+mn-lt"/>
                          <a:ea typeface="+mn-ea"/>
                          <a:cs typeface="+mn-cs"/>
                        </a:rPr>
                        <a:t> strategic renewal in small businesses when accompanied by effective learning mechanisms and leadership support.</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The study did not properly examine failed digital transformation or withdrawal of internationalization. It did not also conduct longitudinal analysis on the way configurations of digital capability change over time with expanding international experience for SMEs</a:t>
                      </a:r>
                      <a:endParaRPr lang="en-US" dirty="0"/>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A3D33E8D-2454-CD7C-9D61-026D4C1DA0B7}"/>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21</a:t>
            </a:r>
            <a:endParaRPr lang="en-GB" dirty="0"/>
          </a:p>
        </p:txBody>
      </p:sp>
    </p:spTree>
    <p:extLst>
      <p:ext uri="{BB962C8B-B14F-4D97-AF65-F5344CB8AC3E}">
        <p14:creationId xmlns:p14="http://schemas.microsoft.com/office/powerpoint/2010/main" val="2764542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721AB-53A1-1D6A-99B8-0B0C474787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8F2CC5-D959-E472-430A-BE53C65C4616}"/>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ECA9013F-24E1-8767-2DFE-7DA6876A2256}"/>
              </a:ext>
            </a:extLst>
          </p:cNvPr>
          <p:cNvGraphicFramePr>
            <a:graphicFrameLocks noGrp="1"/>
          </p:cNvGraphicFramePr>
          <p:nvPr>
            <p:extLst>
              <p:ext uri="{D42A27DB-BD31-4B8C-83A1-F6EECF244321}">
                <p14:modId xmlns:p14="http://schemas.microsoft.com/office/powerpoint/2010/main" val="3455813523"/>
              </p:ext>
            </p:extLst>
          </p:nvPr>
        </p:nvGraphicFramePr>
        <p:xfrm>
          <a:off x="0" y="457200"/>
          <a:ext cx="9144001" cy="729511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Cowling, M., Brown, R., &amp; Rocha, A. (2020</a:t>
                      </a:r>
                      <a:r>
                        <a:rPr lang="en-GB" b="0" dirty="0"/>
                        <a:t>)</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Did you save some cash for a rainy COVID-19 day? The crisis and SMEs </a:t>
                      </a:r>
                      <a:endParaRPr lang="en-US" dirty="0"/>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i="1" kern="1200" dirty="0">
                          <a:solidFill>
                            <a:schemeClr val="dk1"/>
                          </a:solidFill>
                          <a:effectLst/>
                          <a:latin typeface="+mn-lt"/>
                          <a:ea typeface="+mn-ea"/>
                          <a:cs typeface="+mn-cs"/>
                        </a:rPr>
                        <a:t>International Small Business Journal</a:t>
                      </a:r>
                      <a:r>
                        <a:rPr lang="en-GB" sz="1800" kern="1200" dirty="0">
                          <a:solidFill>
                            <a:schemeClr val="dk1"/>
                          </a:solidFill>
                          <a:effectLst/>
                          <a:latin typeface="+mn-lt"/>
                          <a:ea typeface="+mn-ea"/>
                          <a:cs typeface="+mn-cs"/>
                        </a:rPr>
                        <a:t> / </a:t>
                      </a:r>
                      <a:r>
                        <a:rPr lang="en-GB" sz="1800" u="sng" kern="1200" dirty="0">
                          <a:solidFill>
                            <a:schemeClr val="dk1"/>
                          </a:solidFill>
                          <a:effectLst/>
                          <a:latin typeface="+mn-lt"/>
                          <a:ea typeface="+mn-ea"/>
                          <a:cs typeface="+mn-cs"/>
                          <a:hlinkClick r:id="rId2"/>
                        </a:rPr>
                        <a:t>https://doi.org/10.1177/0266242620945102</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The impact of the COVID-19 pandemic on small and medium-sized enterprises' (SMEs) financial resilience and cash reserves, highlighting the critical gap in understanding how pre-crisis financial planning affects business survival during unprecedented global disruptions.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Analysis of UK longitudinal Small Business Survey data (2015-2018) combined with COVID-19 impact assessment to examine cash holdings and financial vulnerability of SMEs prior to and during the pandemic.</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research identified significant heterogeneity in SMEs' financial preparedness before the COVID-19 crisis, with only 39% reporting cash reserves sufficient to survive three months of disruption. Micro and small businesses, particularly in consumer-facing sectors, demonstrated higher vulnerability to closure and financial distress, revealing structural weaknesses in crisis preparation among smaller enterprises.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This study contributes vital insights into the importance of financial buffers for crisis resilience in small businesses, informing policy interventions that recognize the varying capabilities among SMEs to withstand extended periods of revenue disruption.</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The study focuses on short-term adaptation; long-term effects remain unexplored.</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70B2B4C7-C7A5-3E78-470C-25880D22F9F2}"/>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22</a:t>
            </a:r>
            <a:endParaRPr lang="en-GB" dirty="0"/>
          </a:p>
        </p:txBody>
      </p:sp>
    </p:spTree>
    <p:extLst>
      <p:ext uri="{BB962C8B-B14F-4D97-AF65-F5344CB8AC3E}">
        <p14:creationId xmlns:p14="http://schemas.microsoft.com/office/powerpoint/2010/main" val="2929938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749F4-7997-E5AA-0579-E048F1EAF6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1D21AD-22A8-5F94-8C20-212206872D9C}"/>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13430689-DDEC-3F52-895A-9E0F46376BB8}"/>
              </a:ext>
            </a:extLst>
          </p:cNvPr>
          <p:cNvGraphicFramePr>
            <a:graphicFrameLocks noGrp="1"/>
          </p:cNvGraphicFramePr>
          <p:nvPr>
            <p:extLst>
              <p:ext uri="{D42A27DB-BD31-4B8C-83A1-F6EECF244321}">
                <p14:modId xmlns:p14="http://schemas.microsoft.com/office/powerpoint/2010/main" val="2332327011"/>
              </p:ext>
            </p:extLst>
          </p:nvPr>
        </p:nvGraphicFramePr>
        <p:xfrm>
          <a:off x="0" y="457200"/>
          <a:ext cx="9144001" cy="702079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Eggers, F. (2020) </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Masters of disasters? Challenges and opportunities for SMEs in times of crisis </a:t>
                      </a:r>
                      <a:endParaRPr lang="en-US" dirty="0"/>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i="1" kern="1200" dirty="0">
                          <a:solidFill>
                            <a:schemeClr val="dk1"/>
                          </a:solidFill>
                          <a:effectLst/>
                          <a:latin typeface="+mn-lt"/>
                          <a:ea typeface="+mn-ea"/>
                          <a:cs typeface="+mn-cs"/>
                        </a:rPr>
                        <a:t>Journal of Business Research</a:t>
                      </a:r>
                      <a:r>
                        <a:rPr lang="en-GB" sz="1800" kern="1200" dirty="0">
                          <a:solidFill>
                            <a:schemeClr val="dk1"/>
                          </a:solidFill>
                          <a:effectLst/>
                          <a:latin typeface="+mn-lt"/>
                          <a:ea typeface="+mn-ea"/>
                          <a:cs typeface="+mn-cs"/>
                        </a:rPr>
                        <a:t> / </a:t>
                      </a:r>
                      <a:r>
                        <a:rPr lang="en-GB" sz="1800" u="sng" kern="1200" dirty="0">
                          <a:solidFill>
                            <a:schemeClr val="dk1"/>
                          </a:solidFill>
                          <a:effectLst/>
                          <a:latin typeface="+mn-lt"/>
                          <a:ea typeface="+mn-ea"/>
                          <a:cs typeface="+mn-cs"/>
                          <a:hlinkClick r:id="rId2"/>
                        </a:rPr>
                        <a:t>https://doi.org/10.1016/j.jbusres.2020.05.025</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The paradoxical nature of crises for SMEs, which pose existential threats while simultaneously creating opportunities for innovation and strategic repositioning. The research addresses the limited understanding of how entrepreneurial orientation affects crisis response capabilities.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Global survey of 1,152 SMEs across 23 countries during the early phases of the COVID-19 pandemic, examining proactive adaptations, innovation activities, and strategic responses.</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findings demonstrate that SMEs with stronger entrepreneurial orientation exhibited greater adaptive capacity during crisis conditions. Specifically, proactive innovation in business models, products, and marketing approaches correlated positively with maintained performance levels during disruption. However, resource constraints remained a significant limiting factor even for entrepreneurially-oriented firms.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This research extends entrepreneurship literature by establishing entrepreneurial orientation as a key resilience factor during crises, highlighting how proactive adaptation and innovation capabilities can transform threats into opportunities for business renewal and growth.</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GB" sz="1800" kern="100" dirty="0">
                          <a:solidFill>
                            <a:schemeClr val="dk1"/>
                          </a:solidFill>
                          <a:effectLst/>
                          <a:latin typeface="+mn-lt"/>
                          <a:ea typeface="Aptos"/>
                          <a:cs typeface="+mn-cs"/>
                        </a:rPr>
                        <a:t>Further research is needed to explore the impact of external factors on the sustainability of SMEs and their contribution to economic development</a:t>
                      </a:r>
                      <a:endParaRPr lang="en-US" dirty="0"/>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BC31AAFE-1247-AA25-7F96-534D39E4C88A}"/>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23</a:t>
            </a:r>
            <a:endParaRPr lang="en-GB" dirty="0"/>
          </a:p>
        </p:txBody>
      </p:sp>
    </p:spTree>
    <p:extLst>
      <p:ext uri="{BB962C8B-B14F-4D97-AF65-F5344CB8AC3E}">
        <p14:creationId xmlns:p14="http://schemas.microsoft.com/office/powerpoint/2010/main" val="2429409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FD6F6-0F97-027E-2012-A31D84F3CD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837DF5-6134-91CA-7492-1E19720265F1}"/>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077B0887-700E-7DE2-4DBD-37E7CF83AF62}"/>
              </a:ext>
            </a:extLst>
          </p:cNvPr>
          <p:cNvGraphicFramePr>
            <a:graphicFrameLocks noGrp="1"/>
          </p:cNvGraphicFramePr>
          <p:nvPr>
            <p:extLst>
              <p:ext uri="{D42A27DB-BD31-4B8C-83A1-F6EECF244321}">
                <p14:modId xmlns:p14="http://schemas.microsoft.com/office/powerpoint/2010/main" val="1242012779"/>
              </p:ext>
            </p:extLst>
          </p:nvPr>
        </p:nvGraphicFramePr>
        <p:xfrm>
          <a:off x="0" y="457200"/>
          <a:ext cx="9144001" cy="756943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Doern, R., Williams, N., &amp; </a:t>
                      </a:r>
                      <a:r>
                        <a:rPr lang="en-GB" sz="1800" b="1" kern="1200" dirty="0" err="1">
                          <a:solidFill>
                            <a:schemeClr val="lt1"/>
                          </a:solidFill>
                          <a:effectLst/>
                          <a:latin typeface="+mn-lt"/>
                          <a:ea typeface="+mn-ea"/>
                          <a:cs typeface="+mn-cs"/>
                        </a:rPr>
                        <a:t>Vorley</a:t>
                      </a:r>
                      <a:r>
                        <a:rPr lang="en-GB" sz="1800" b="1" kern="1200" dirty="0">
                          <a:solidFill>
                            <a:schemeClr val="lt1"/>
                          </a:solidFill>
                          <a:effectLst/>
                          <a:latin typeface="+mn-lt"/>
                          <a:ea typeface="+mn-ea"/>
                          <a:cs typeface="+mn-cs"/>
                        </a:rPr>
                        <a:t>, T. (2019</a:t>
                      </a:r>
                      <a:r>
                        <a:rPr lang="en-GB" b="0" dirty="0"/>
                        <a:t>)</a:t>
                      </a:r>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Special issue on entrepreneurship and crises: business as usual? An introduction and review of the literature </a:t>
                      </a:r>
                      <a:endParaRPr lang="en-US" dirty="0"/>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i="1" kern="1200" dirty="0">
                          <a:solidFill>
                            <a:schemeClr val="dk1"/>
                          </a:solidFill>
                          <a:effectLst/>
                          <a:latin typeface="+mn-lt"/>
                          <a:ea typeface="+mn-ea"/>
                          <a:cs typeface="+mn-cs"/>
                        </a:rPr>
                        <a:t>Entrepreneurship &amp; Regional Development</a:t>
                      </a:r>
                      <a:r>
                        <a:rPr lang="en-GB" sz="1800" kern="1200" dirty="0">
                          <a:solidFill>
                            <a:schemeClr val="dk1"/>
                          </a:solidFill>
                          <a:effectLst/>
                          <a:latin typeface="+mn-lt"/>
                          <a:ea typeface="+mn-ea"/>
                          <a:cs typeface="+mn-cs"/>
                        </a:rPr>
                        <a:t> / </a:t>
                      </a:r>
                      <a:r>
                        <a:rPr lang="en-GB" sz="1800" u="sng" kern="1200" dirty="0">
                          <a:solidFill>
                            <a:schemeClr val="dk1"/>
                          </a:solidFill>
                          <a:effectLst/>
                          <a:latin typeface="+mn-lt"/>
                          <a:ea typeface="+mn-ea"/>
                          <a:cs typeface="+mn-cs"/>
                          <a:hlinkClick r:id="rId2"/>
                        </a:rPr>
                        <a:t>https://doi.org/10.1080/08985626.2018.1541590</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The fragmented understanding of how entrepreneurs and small businesses experience, interpret, and respond to different types of crises, noting the lack of theoretical integration across crisis management and entrepreneurship literature.</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Systematic literature review of 142 peer-reviewed articles on entrepreneurship and crisis management published between 1980-2017, supported by case studies of small business responses to disruptive events.</a:t>
                      </a: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analysis reveals three dominant theoretical perspectives in crisis-entrepreneurship research: the vulnerability perspective (emphasizing resource constraints), the resilience perspective (focusing on adaptive capabilities), and the opportunity perspective (highlighting entrepreneurial innovation during disruption). The review identifies significant gaps in understanding contextual factors that influence these different response patterns.</a:t>
                      </a: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This integrative review contributes a comprehensive framework for understanding entrepreneurial </a:t>
                      </a:r>
                      <a:r>
                        <a:rPr lang="en-GB" sz="1800" kern="1200" dirty="0" err="1">
                          <a:solidFill>
                            <a:schemeClr val="dk1"/>
                          </a:solidFill>
                          <a:effectLst/>
                          <a:latin typeface="+mn-lt"/>
                          <a:ea typeface="+mn-ea"/>
                          <a:cs typeface="+mn-cs"/>
                        </a:rPr>
                        <a:t>behavior</a:t>
                      </a:r>
                      <a:r>
                        <a:rPr lang="en-GB" sz="1800" kern="1200" dirty="0">
                          <a:solidFill>
                            <a:schemeClr val="dk1"/>
                          </a:solidFill>
                          <a:effectLst/>
                          <a:latin typeface="+mn-lt"/>
                          <a:ea typeface="+mn-ea"/>
                          <a:cs typeface="+mn-cs"/>
                        </a:rPr>
                        <a:t> during crises, emphasizing the need for more nuanced, context-specific research that accounts for both the nature of crises and the characteristics of small businesses experiencing them.</a:t>
                      </a: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Future research should model firm growth, examining productivity determinants through stochastic processes, considering both internal and external influences.</a:t>
                      </a:r>
                      <a:endParaRPr lang="en-US"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88CDA14F-AE03-A579-025C-519649E33234}"/>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24</a:t>
            </a:r>
            <a:endParaRPr lang="en-GB" dirty="0"/>
          </a:p>
        </p:txBody>
      </p:sp>
    </p:spTree>
    <p:extLst>
      <p:ext uri="{BB962C8B-B14F-4D97-AF65-F5344CB8AC3E}">
        <p14:creationId xmlns:p14="http://schemas.microsoft.com/office/powerpoint/2010/main" val="1589149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29CE1-D80D-AF0B-B2F5-4B19163ADA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7DB2D-AF22-5CAA-8D12-78FA2189D67C}"/>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63877081-4079-67F3-A412-A6166C498AEC}"/>
              </a:ext>
            </a:extLst>
          </p:cNvPr>
          <p:cNvGraphicFramePr>
            <a:graphicFrameLocks noGrp="1"/>
          </p:cNvGraphicFramePr>
          <p:nvPr>
            <p:extLst>
              <p:ext uri="{D42A27DB-BD31-4B8C-83A1-F6EECF244321}">
                <p14:modId xmlns:p14="http://schemas.microsoft.com/office/powerpoint/2010/main" val="1725014107"/>
              </p:ext>
            </p:extLst>
          </p:nvPr>
        </p:nvGraphicFramePr>
        <p:xfrm>
          <a:off x="0" y="457200"/>
          <a:ext cx="9144001" cy="845312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err="1"/>
                        <a:t>Cepel</a:t>
                      </a:r>
                      <a:r>
                        <a:rPr lang="en-GB" dirty="0"/>
                        <a:t>, M., </a:t>
                      </a:r>
                      <a:r>
                        <a:rPr lang="en-GB" dirty="0" err="1"/>
                        <a:t>Gavurova</a:t>
                      </a:r>
                      <a:r>
                        <a:rPr lang="en-GB" dirty="0"/>
                        <a:t>, B., Dvorsky, J., &amp; Belas, J.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The impact of the COVID-19 crisis on the perception of business risk in the SME segment</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International Studies</a:t>
                      </a:r>
                      <a:r>
                        <a:rPr lang="en-US" dirty="0"/>
                        <a:t> / </a:t>
                      </a:r>
                      <a:r>
                        <a:rPr lang="en-US" dirty="0">
                          <a:hlinkClick r:id="rId2"/>
                        </a:rPr>
                        <a:t>https://doi.org/10.14254/2071-8330.2020/13-3/16</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Previous research has predominantly focused on how crisis exposure reconfigures risk perception hierarchies at a macro-level, often neglecting the central role of individual entrepreneurs and firm characteristics in small businesses during crises. These perceptual shifts and subsequent decision-making under extreme uncertainty are crucial in understanding the nuanced impacts on small business owners.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Comparative survey of 1,226 SME owners/managers across four Central European countries (Czech Republic, Slovakia, Hungary, and Poland) conducted before (September 2019) and during (May 2020) the COVID-19 pandemic.</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findings reveal significant shifts in entrepreneurial risk perception, with marked increases in perceived market and financial risks and substantial decreases in personnel and operational risk concerns. Notably, these perceptual shifts varied systematically based on prior business performance, firm size, and entrepreneur experience level, suggesting heterogeneous cognitive responses to identical crisis conditions.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entrepreneurial cognition literature by documenting how crisis conditions reconfigure risk perception hierarchies among small business owners, highlighting the importance of understanding subjective risk assessment as a mediating factor between objective crisis conditions and entrepreneurial decision-making.</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Insufficient understanding of how crisis conditions reshape risk perception among small business owners, particularly regarding the cognitive mechanisms that influence risk assessment and decision-making under extreme uncertainty.</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47E75F57-2F9B-5423-39E0-7CC7CD359BE1}"/>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25</a:t>
            </a:r>
            <a:endParaRPr lang="en-GB" dirty="0"/>
          </a:p>
        </p:txBody>
      </p:sp>
    </p:spTree>
    <p:extLst>
      <p:ext uri="{BB962C8B-B14F-4D97-AF65-F5344CB8AC3E}">
        <p14:creationId xmlns:p14="http://schemas.microsoft.com/office/powerpoint/2010/main" val="4097172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8EDBD-6B8D-186B-2983-5AEB2F81C9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101969-F18B-BE80-9FA5-225CE83F5FEF}"/>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5AB25366-B0C1-CD2C-0966-A44A748AF59A}"/>
              </a:ext>
            </a:extLst>
          </p:cNvPr>
          <p:cNvGraphicFramePr>
            <a:graphicFrameLocks noGrp="1"/>
          </p:cNvGraphicFramePr>
          <p:nvPr>
            <p:extLst>
              <p:ext uri="{D42A27DB-BD31-4B8C-83A1-F6EECF244321}">
                <p14:modId xmlns:p14="http://schemas.microsoft.com/office/powerpoint/2010/main" val="1318651666"/>
              </p:ext>
            </p:extLst>
          </p:nvPr>
        </p:nvGraphicFramePr>
        <p:xfrm>
          <a:off x="0" y="457200"/>
          <a:ext cx="9144001" cy="817880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de-DE" dirty="0"/>
                        <a:t>Wenzel, M., Stanske, S., &amp; Lieberman, M. B. (2021)</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GB" dirty="0"/>
                        <a:t>Strategic responses to crisis</a:t>
                      </a:r>
                      <a:endParaRPr lang="en-US" dirty="0"/>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i="1" dirty="0"/>
                        <a:t>Strategic Management Journal</a:t>
                      </a:r>
                      <a:r>
                        <a:rPr lang="en-GB" dirty="0"/>
                        <a:t> / </a:t>
                      </a:r>
                      <a:r>
                        <a:rPr lang="en-GB" dirty="0">
                          <a:hlinkClick r:id="rId2"/>
                        </a:rPr>
                        <a:t>https://doi.org/10.1002/smj.3161</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Research on tactical crisis responses has focused primarily on macro-level perspectives, neglecting the crucial role of individual entrepreneurs in small businesses. This oversight extends to understanding how their decisions create path dependencies that influence long-term competitive positioning and the mechanisms that transition from short-term crisis management to strategic repositioning.</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Synthetic literature review combined with longitudinal case studies of 24 German SMEs tracked from the beginning of the COVID-19 pandemic through 18 months of crisis adaptation.</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develops an integrated framework of strategic crisis responses along two dimensions: preservation versus innovation orientation and internal versus external focus. Four response archetypes emerge: retrenchment (internal preservation), perseverance (external preservation), innovation (internal development), and exit (external development). Importantly, the research demonstrates that initial crisis response choices create path dependencies that significantly influence post-crisis strategic options and competitive positioning.</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research bridges crisis management and strategic management literature by demonstrating how tactical crisis decisions acquire strategic significance through path dependency mechanisms, highlighting the importance of maintaining strategic awareness even during acute crisis phases.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Limited theoretical integration between crisis management and strategic management perspectives, particularly regarding how short-term crisis responses influence long-term competitive positioning for small and medium enterprises.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5E583166-8A62-0C5C-A9DA-340719F363E9}"/>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26</a:t>
            </a:r>
            <a:endParaRPr lang="en-GB" dirty="0"/>
          </a:p>
        </p:txBody>
      </p:sp>
    </p:spTree>
    <p:extLst>
      <p:ext uri="{BB962C8B-B14F-4D97-AF65-F5344CB8AC3E}">
        <p14:creationId xmlns:p14="http://schemas.microsoft.com/office/powerpoint/2010/main" val="938160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5A986-90BD-182D-C9F9-4107FD4331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3FEBA-CDBB-1AD6-0E81-F487C6EE982A}"/>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567664A7-CF35-4F18-38EA-983E57198388}"/>
              </a:ext>
            </a:extLst>
          </p:cNvPr>
          <p:cNvGraphicFramePr>
            <a:graphicFrameLocks noGrp="1"/>
          </p:cNvGraphicFramePr>
          <p:nvPr>
            <p:extLst>
              <p:ext uri="{D42A27DB-BD31-4B8C-83A1-F6EECF244321}">
                <p14:modId xmlns:p14="http://schemas.microsoft.com/office/powerpoint/2010/main" val="2334306252"/>
              </p:ext>
            </p:extLst>
          </p:nvPr>
        </p:nvGraphicFramePr>
        <p:xfrm>
          <a:off x="0" y="457200"/>
          <a:ext cx="9144001" cy="845312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pt-BR" dirty="0"/>
                        <a:t>Pedauga, L., Sáez, F., &amp; Delgado-Márquez, B. L. (2022) </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Macroeconomic lockdown and SMEs: The impact of the COVID-19 pandemic in Spain</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Small Business Economics</a:t>
                      </a:r>
                      <a:r>
                        <a:rPr lang="en-US" dirty="0"/>
                        <a:t> / </a:t>
                      </a:r>
                      <a:r>
                        <a:rPr lang="en-US" dirty="0">
                          <a:hlinkClick r:id="rId2"/>
                        </a:rPr>
                        <a:t>https://doi.org/10.1007/s11187-021-00476-7</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Previous research on the impact of regional variation in pandemic restriction implementation has largely focused on macro-level perspectives without considering the crucial role of individual entrepreneurs in small businesses. Moreover, the specific characteristics of different sectors, which can moderate the relationship between policy stringency and economic outcomes, have often been overlooked, resulting in a fragmented understanding of how these factors interplay within a single national context.</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Econometric analysis of quarterly financial performance data from 40,000+ Spanish SMEs across all autonomous communities from Q1 2019 through Q4 2020, combined with regional restriction severity indicators.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research demonstrates significant regional heterogeneity in pandemic impact on SMEs, with businesses in regions implementing stricter mobility restrictions experiencing 14-21% greater revenue declines than those in regions with more moderate approaches. However, sector characteristics moderated this relationship, with digitally-enabled businesses showing relative immunity to regional restriction variation compared to location-dependent services.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crisis policy literature by providing empirical evidence on the economic consequences of regional variation in restriction implementation, highlighting the importance of targeted, sector-specific support approaches rather than uniform crisis response policies.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Insufficient understanding of how regional variation in pandemic restrictions affected small business performance within a single national context, particularly regarding the interaction between local policy implementation and sector-specific vulnerability.</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D86CA6DA-A6E4-C8D9-E2E3-2DEFAE9FECCA}"/>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27</a:t>
            </a:r>
            <a:endParaRPr lang="en-GB" dirty="0"/>
          </a:p>
        </p:txBody>
      </p:sp>
    </p:spTree>
    <p:extLst>
      <p:ext uri="{BB962C8B-B14F-4D97-AF65-F5344CB8AC3E}">
        <p14:creationId xmlns:p14="http://schemas.microsoft.com/office/powerpoint/2010/main" val="19332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7466A-332A-58A6-3F15-9D569E8CDD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0CEFE-0A20-1A8B-31D6-55944E4AF657}"/>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EF1B2A9D-760E-A690-79ED-06669AE8E7BF}"/>
              </a:ext>
            </a:extLst>
          </p:cNvPr>
          <p:cNvGraphicFramePr>
            <a:graphicFrameLocks noGrp="1"/>
          </p:cNvGraphicFramePr>
          <p:nvPr>
            <p:extLst>
              <p:ext uri="{D42A27DB-BD31-4B8C-83A1-F6EECF244321}">
                <p14:modId xmlns:p14="http://schemas.microsoft.com/office/powerpoint/2010/main" val="1592210041"/>
              </p:ext>
            </p:extLst>
          </p:nvPr>
        </p:nvGraphicFramePr>
        <p:xfrm>
          <a:off x="0" y="457200"/>
          <a:ext cx="9144001" cy="752930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err="1"/>
                        <a:t>Fitriasari</a:t>
                      </a:r>
                      <a:r>
                        <a:rPr lang="en-GB" dirty="0"/>
                        <a:t>, F.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How do small and medium enterprise (SME) survive the COVID-19 outbreak?</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i="1" dirty="0" err="1"/>
                        <a:t>Jurnal</a:t>
                      </a:r>
                      <a:r>
                        <a:rPr lang="en-GB" i="1" dirty="0"/>
                        <a:t> </a:t>
                      </a:r>
                      <a:r>
                        <a:rPr lang="en-GB" i="1" dirty="0" err="1"/>
                        <a:t>Inovasi</a:t>
                      </a:r>
                      <a:r>
                        <a:rPr lang="en-GB" i="1" dirty="0"/>
                        <a:t> Ekonomi</a:t>
                      </a:r>
                      <a:r>
                        <a:rPr lang="en-GB" dirty="0"/>
                        <a:t> / </a:t>
                      </a:r>
                      <a:r>
                        <a:rPr lang="en-GB" dirty="0">
                          <a:hlinkClick r:id="rId2"/>
                        </a:rPr>
                        <a:t>https://doi.org/10.22219/jiko.v5i3.11838</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Past studies on crisis conditions have primarily focused on the macro-level factors affecting digital transformation success in SMEs in developing economies, often neglecting the crucial role of resource constraints and how they shape the adoption trajectory of these transformations.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Mixed-methods research combining survey data from 207 Indonesian SMEs with 12 case studies conducted during the initial COVID-19 containment measures, focusing on digital technology adoption and business model adaptation.</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dirty="0"/>
                        <a:t>The study identifies a three-tier digital response pattern among Indonesian SMEs: basic adaptation (social media marketing and messenger-based transactions), intermediate adaptation (e-commerce platform integration and digital payment systems), and advanced adaptation (comprehensive business digitalization including supply chain management). Pre-existing digital literacy, infrastructure access, and entrepreneurial orientation significantly influenced the level of digital adaptation achieved.</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research extends digital entrepreneurship literature by documenting the contextual factors that enable or constrain digital transformation during crisis conditions in emerging economies, highlighting both technological and cultural dimensions of digital resilience building.</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Limited research on digital adaptation strategies among SMEs in emerging economies during crisis conditions, particularly regarding the challenges and enablers of rapid digital transformation under resource constraints.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A56B55F9-1163-FA6E-134A-AD3DAB4DA074}"/>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28</a:t>
            </a:r>
            <a:endParaRPr lang="en-GB" dirty="0"/>
          </a:p>
        </p:txBody>
      </p:sp>
    </p:spTree>
    <p:extLst>
      <p:ext uri="{BB962C8B-B14F-4D97-AF65-F5344CB8AC3E}">
        <p14:creationId xmlns:p14="http://schemas.microsoft.com/office/powerpoint/2010/main" val="3435125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2438D-708A-C018-8E55-B8D31AE6FD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A24DC2-0A2D-0FCB-F5AA-A8FE70FE4527}"/>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60A25080-FC2C-416D-65CF-915E3DFF7D5C}"/>
              </a:ext>
            </a:extLst>
          </p:cNvPr>
          <p:cNvGraphicFramePr>
            <a:graphicFrameLocks noGrp="1"/>
          </p:cNvGraphicFramePr>
          <p:nvPr>
            <p:extLst>
              <p:ext uri="{D42A27DB-BD31-4B8C-83A1-F6EECF244321}">
                <p14:modId xmlns:p14="http://schemas.microsoft.com/office/powerpoint/2010/main" val="757004780"/>
              </p:ext>
            </p:extLst>
          </p:nvPr>
        </p:nvGraphicFramePr>
        <p:xfrm>
          <a:off x="0" y="457200"/>
          <a:ext cx="9144001" cy="725498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a:t>Fairlie, R., &amp; Fossen, F. M. (2022)</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The early impacts of the COVID-19 pandemic on business sales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Small Business Economics</a:t>
                      </a:r>
                      <a:r>
                        <a:rPr lang="en-US" dirty="0"/>
                        <a:t> / </a:t>
                      </a:r>
                      <a:r>
                        <a:rPr lang="en-US" dirty="0">
                          <a:hlinkClick r:id="rId2"/>
                        </a:rPr>
                        <a:t>https://doi.org/10.1007/s11187-021-00479-4</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Research on the extreme heterogeneity in pandemic impact across different small business sectors has primarily focused on sector-specific characteristics influencing initial sales disruption severity and subsequent recovery trajectories, often neglecting the central role of individual entrepreneurs in these dynamics.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Analysis of administrative sales tax data from California covering approximately 1 million small businesses across all sectors, comparing monthly sales performance from January 2019 through December 2020.</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findings reveal extreme heterogeneity in pandemic impact across business sectors, with accommodation, food services, and arts experiencing sales declines exceeding 50% during initial restrictions, while some retail segments and professional services demonstrated remarkable stability or growth. Recovery patterns followed similarly divergent trajectories, with in-person service businesses showing persistent sales depression even as restrictions eased.</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crisis impact literature by providing granular, administrative data-based evidence on sales disruption patterns, documenting sector-specific vulnerability factors and demonstrating how pre-existing business models influenced both initial impact severity and recovery potential.</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Lack of comprehensive empirical data on the heterogeneous sales impact of pandemic restrictions across different small business sectors, particularly regarding variation in disruption severity and recovery trajectories.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2C42CD57-C8D0-AD03-7B62-125D9EDA8540}"/>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29</a:t>
            </a:r>
            <a:endParaRPr lang="en-GB" dirty="0"/>
          </a:p>
        </p:txBody>
      </p:sp>
    </p:spTree>
    <p:extLst>
      <p:ext uri="{BB962C8B-B14F-4D97-AF65-F5344CB8AC3E}">
        <p14:creationId xmlns:p14="http://schemas.microsoft.com/office/powerpoint/2010/main" val="710785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DF091-CD9A-6F39-E62F-A5241F346D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A4BF25-7BBF-A254-3774-A03BEC9C8C5F}"/>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E0098934-BB4A-E304-D6DA-AE21FBC2AEA7}"/>
              </a:ext>
            </a:extLst>
          </p:cNvPr>
          <p:cNvGraphicFramePr>
            <a:graphicFrameLocks noGrp="1"/>
          </p:cNvGraphicFramePr>
          <p:nvPr>
            <p:extLst>
              <p:ext uri="{D42A27DB-BD31-4B8C-83A1-F6EECF244321}">
                <p14:modId xmlns:p14="http://schemas.microsoft.com/office/powerpoint/2010/main" val="3968556289"/>
              </p:ext>
            </p:extLst>
          </p:nvPr>
        </p:nvGraphicFramePr>
        <p:xfrm>
          <a:off x="0" y="457200"/>
          <a:ext cx="9144001" cy="927608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err="1"/>
                        <a:t>Duplat</a:t>
                      </a:r>
                      <a:r>
                        <a:rPr lang="en-GB" dirty="0"/>
                        <a:t>, V., </a:t>
                      </a:r>
                      <a:r>
                        <a:rPr lang="en-GB" dirty="0" err="1"/>
                        <a:t>Coeurderoy</a:t>
                      </a:r>
                      <a:r>
                        <a:rPr lang="en-GB" dirty="0"/>
                        <a:t>, R., &amp; Haapanen, L. (2022)</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Entrepreneurial strategies of SMEs during the COVID-19 pandemic: Six types of responses and their time horizons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fr-FR" i="1" dirty="0"/>
                        <a:t>Strategic </a:t>
                      </a:r>
                      <a:r>
                        <a:rPr lang="fr-FR" i="1" dirty="0" err="1"/>
                        <a:t>Entrepreneurship</a:t>
                      </a:r>
                      <a:r>
                        <a:rPr lang="fr-FR" i="1" dirty="0"/>
                        <a:t> Journal</a:t>
                      </a:r>
                      <a:r>
                        <a:rPr lang="fr-FR" dirty="0"/>
                        <a:t> / </a:t>
                      </a:r>
                      <a:r>
                        <a:rPr lang="fr-FR" dirty="0">
                          <a:hlinkClick r:id="rId2"/>
                        </a:rPr>
                        <a:t>https://doi.org/10.1002/sej.1430</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Previous research on crises' impacts has predominantly adopted macro-level perspectives, overlooking the central role of individual entrepreneurs in small businesses during crises. Understanding how entrepreneurs balance immediate survival imperatives with longer-term strategic positioning during prolonged crisis conditions is essential. Furthermore, identifying the factors that influence their ability to shift between different temporal horizons as disruption evolves is crucial. These micro-level insights can illuminate the resilience and adaptability of small businesses, which are often the backbone of economic recovery in the wake of crises.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Longitudinal case study research with 30 European SMEs across multiple sectors, tracking strategic adaptations during three distinct phases of the COVID-19 pandemic from March 2020 to June 2021.</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study identifies six distinct strategic response types among SMEs during the pandemic: hibernation (temporary shutdown), perseverance (minimal adaptation), pivoting (business model reconfiguration), opportunity pursuit (crisis-specific innovation), portfolio reconfiguration (business line prioritization), and exit preparation. Importantly, most firms shifted between these response types as the crisis evolved, revealing dynamic temporal patterns in crisis management approaches.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research advances strategic entrepreneurship theory by developing a temporal typology of crisis response strategies, demonstrating how entrepreneurs navigate different time horizons simultaneously during prolonged disruption and highlighting the importance of strategic flexibility in building long-term crisis resilience.</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Limited theoretical understanding of the temporal dimensions of SME crisis responses, particularly regarding how entrepreneurs balance immediate survival needs with longer-term strategic positioning during prolonged disruption.</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7207D2B4-CBD0-F822-FE35-B04A8E3953D9}"/>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30</a:t>
            </a:r>
            <a:endParaRPr lang="en-GB" dirty="0"/>
          </a:p>
        </p:txBody>
      </p:sp>
    </p:spTree>
    <p:extLst>
      <p:ext uri="{BB962C8B-B14F-4D97-AF65-F5344CB8AC3E}">
        <p14:creationId xmlns:p14="http://schemas.microsoft.com/office/powerpoint/2010/main" val="1651637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FFDE6-23F1-F84B-D72D-5732EA06F7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3F446D-D750-71A6-2B58-67C4BA956045}"/>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4CE8FFE4-AE9B-AEF7-D728-A4C71226DD61}"/>
              </a:ext>
            </a:extLst>
          </p:cNvPr>
          <p:cNvGraphicFramePr>
            <a:graphicFrameLocks noGrp="1"/>
          </p:cNvGraphicFramePr>
          <p:nvPr>
            <p:extLst>
              <p:ext uri="{D42A27DB-BD31-4B8C-83A1-F6EECF244321}">
                <p14:modId xmlns:p14="http://schemas.microsoft.com/office/powerpoint/2010/main" val="2512737363"/>
              </p:ext>
            </p:extLst>
          </p:nvPr>
        </p:nvGraphicFramePr>
        <p:xfrm>
          <a:off x="0" y="457200"/>
          <a:ext cx="9144001" cy="845312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US" dirty="0"/>
                        <a:t>Smallbone, D., Deakins, D., Battisti, M., &amp; Kitching, J. (2012)</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Small business responses to a major economic downturn: Empirical perspectives from New Zealand and the United Kingdom</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International Small Business Journal</a:t>
                      </a:r>
                      <a:r>
                        <a:rPr lang="en-US" dirty="0"/>
                        <a:t> / </a:t>
                      </a:r>
                      <a:r>
                        <a:rPr lang="en-US" dirty="0">
                          <a:hlinkClick r:id="rId2"/>
                        </a:rPr>
                        <a:t>https://doi.org/10.1177/0266242612448077</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Aforementioned research on the influence of national institutional contexts on small business crisis responses has predominantly focused on macro-level perspectives, neglecting how individual entrepreneurs in similar-sized enterprises adapt their strategies across different economic systems during economic downturns.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Comparative study using matched samples of 211 SMEs from New Zealand and 309 from the United Kingdom during the 2008-2009 global financial crisis, employing survey methodology and follow-up interviews.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research demonstrates that while SMEs in both countries faced similar revenue challenges, their strategic responses differed significantly based on institutional contexts. UK firms emphasized cost reduction and retrenchment strategies due to more constrained financial markets, while New Zealand businesses demonstrated greater market diversification and product innovation, influenced by more flexible labor regulations and entrepreneurial support programs.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international entrepreneurship theory by highlighting how national institutional frameworks condition small business crisis responses, demonstrating that effective crisis management strategies must align with country-specific institutional constraints and opportunities.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Insufficient comparative understanding of how national institutional contexts influence small business crisis responses, particularly regarding how similar-sized enterprises across different economic systems navigate recession conditions.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D4B36FF6-F264-22C5-EAD4-86505B4E6FBD}"/>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31</a:t>
            </a:r>
            <a:endParaRPr lang="en-GB" dirty="0"/>
          </a:p>
        </p:txBody>
      </p:sp>
    </p:spTree>
    <p:extLst>
      <p:ext uri="{BB962C8B-B14F-4D97-AF65-F5344CB8AC3E}">
        <p14:creationId xmlns:p14="http://schemas.microsoft.com/office/powerpoint/2010/main" val="747642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F0D92-718C-2465-9291-536AD1A2AE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50C65-BF2B-917A-1F4C-263F6A118740}"/>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391560C0-6768-0499-032C-8012E69C5BE4}"/>
              </a:ext>
            </a:extLst>
          </p:cNvPr>
          <p:cNvGraphicFramePr>
            <a:graphicFrameLocks noGrp="1"/>
          </p:cNvGraphicFramePr>
          <p:nvPr>
            <p:extLst>
              <p:ext uri="{D42A27DB-BD31-4B8C-83A1-F6EECF244321}">
                <p14:modId xmlns:p14="http://schemas.microsoft.com/office/powerpoint/2010/main" val="2033433114"/>
              </p:ext>
            </p:extLst>
          </p:nvPr>
        </p:nvGraphicFramePr>
        <p:xfrm>
          <a:off x="0" y="457200"/>
          <a:ext cx="9144001" cy="862658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fi-FI" dirty="0"/>
                        <a:t>Robinson, J., &amp; Kengatharan, N.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Exploring the effect of Covid-19 on small and medium enterprises: Early evidence from Sri Lanka</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Applied Economics and Business Research</a:t>
                      </a:r>
                      <a:r>
                        <a:rPr lang="en-US" dirty="0"/>
                        <a:t> / </a:t>
                      </a:r>
                      <a:r>
                        <a:rPr lang="en-US" dirty="0">
                          <a:hlinkClick r:id="rId2"/>
                        </a:rPr>
                        <a:t>https://doi.org/10.35564/jbes.2020.0215</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Research on pandemic disruptions in SMEs within developing economies has primarily focused on pre-existing structural vulnerabilities, often neglecting the critical role of institutional voids and informal networks in shaping the crisis adaptation strategies for small businesses in these contexts.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Mixed-methods research combining survey data from 436 SMEs across Sri Lanka with 15 in-depth interviews conducted during the first wave of COVID-19 restrictions, examining operational challenges and business continuity approaches.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findings highlight the disproportionate impact of pandemic restrictions on developing economy SMEs, with 67% reporting severe cash flow crises within the first month. The study identifies critical contextual challenges including limited digital infrastructure, restricted access to formal financial services, and weak institutional support systems that complicated crisis adaptation. Informal network resources emerged as the primary resilience mechanism in this institutional void context.</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international entrepreneurship theory by highlighting how national institutional frameworks condition small business crisis responses, demonstrating that effective crisis management strategies must align with country-specific institutional constraints and opportunities.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This research extends crisis management literature by documenting how developing economy SMEs navigate compound challenges during systemic crises, highlighting the crucial role of informal institutions and social capital when formal support systems prove inadequate.</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D9B04501-81EA-8D22-265A-C42E96F308BA}"/>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32</a:t>
            </a:r>
            <a:endParaRPr lang="en-GB" dirty="0"/>
          </a:p>
        </p:txBody>
      </p:sp>
    </p:spTree>
    <p:extLst>
      <p:ext uri="{BB962C8B-B14F-4D97-AF65-F5344CB8AC3E}">
        <p14:creationId xmlns:p14="http://schemas.microsoft.com/office/powerpoint/2010/main" val="2285311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AF88-2CC3-2C6D-C06D-3DFCABFFA2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0047F8-FF91-7154-28E7-616CDC01DD78}"/>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5824735B-5FBA-EFB1-B5EC-400EDF46EACE}"/>
              </a:ext>
            </a:extLst>
          </p:cNvPr>
          <p:cNvGraphicFramePr>
            <a:graphicFrameLocks noGrp="1"/>
          </p:cNvGraphicFramePr>
          <p:nvPr>
            <p:extLst>
              <p:ext uri="{D42A27DB-BD31-4B8C-83A1-F6EECF244321}">
                <p14:modId xmlns:p14="http://schemas.microsoft.com/office/powerpoint/2010/main" val="2747925288"/>
              </p:ext>
            </p:extLst>
          </p:nvPr>
        </p:nvGraphicFramePr>
        <p:xfrm>
          <a:off x="0" y="457200"/>
          <a:ext cx="9144001" cy="1009904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de-DE" dirty="0"/>
                        <a:t>Kraus, S., Clauss, T., Breier, M., Gast, J., Zardini, A., &amp; Tiberius, V.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The economics of COVID-19: initial empirical evidence on how family firms in five European countries cope with the corona crisis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International Journal of Entrepreneurial Behavior &amp; Research</a:t>
                      </a:r>
                      <a:r>
                        <a:rPr lang="en-US" dirty="0"/>
                        <a:t> / </a:t>
                      </a:r>
                      <a:r>
                        <a:rPr lang="en-US" dirty="0">
                          <a:hlinkClick r:id="rId2"/>
                        </a:rPr>
                        <a:t>https://doi.org/10.1108/IJEBR-04-2020-0214</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Previous research on the influence of family ownership on crisis management decision-making during pandemic disruption has predominantly adopted macro-level perspectives, overlooking the central role of intergenerational concerns and socioemotional wealth preservation in shaping family firms' distinctive response patterns. These studies have often ignored the nuanced ways in which family dynamics and long-term emotional investments impact the decision-making process, leading to unique crisis management strategies. By focusing solely on broader economic and structural factors, the critical contributions of family members' personal stake and emotional connection in navigating crises remain underexplored.</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Multiple case study analysis of 27 family firms across five European countries (Austria, Germany, Italy, Liechtenstein, and Switzerland) during the initial months of the COVID-19 pandemic, using semi-structured interviews with owners/managers.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research reveals distinct crisis management approaches among family firms compared to non-family businesses, particularly regarding employment decisions, financial management, and strategic planning horizons. Family businesses demonstrated stronger employee retention commitment, greater willingness to activate personal financial reserves, and more emphasis on long-term reputation preservation over short-term profit protection.</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family business literature by identifying how family ownership influences crisis management priorities, demonstrating that socioemotional wealth preservation serves as both a constraint and resource during crisis navigation, with implications for resilience building in family enterprise systems.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Lack of comparative understanding of how family businesses across different European contexts respond to pandemic disruption, particularly regarding the influence of family values and intergenerational concerns on crisis decision-making.</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2E9AE119-AFB9-E3F2-C46D-F99B56EABDCC}"/>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33</a:t>
            </a:r>
            <a:endParaRPr lang="en-GB" dirty="0"/>
          </a:p>
        </p:txBody>
      </p:sp>
    </p:spTree>
    <p:extLst>
      <p:ext uri="{BB962C8B-B14F-4D97-AF65-F5344CB8AC3E}">
        <p14:creationId xmlns:p14="http://schemas.microsoft.com/office/powerpoint/2010/main" val="3089822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8781-DA2D-B12E-B862-6C64642554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935E75-A353-235F-4D65-96D125A82AB6}"/>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4B57E965-400E-82CF-E7ED-3A03B850883C}"/>
              </a:ext>
            </a:extLst>
          </p:cNvPr>
          <p:cNvGraphicFramePr>
            <a:graphicFrameLocks noGrp="1"/>
          </p:cNvGraphicFramePr>
          <p:nvPr>
            <p:extLst>
              <p:ext uri="{D42A27DB-BD31-4B8C-83A1-F6EECF244321}">
                <p14:modId xmlns:p14="http://schemas.microsoft.com/office/powerpoint/2010/main" val="2575885383"/>
              </p:ext>
            </p:extLst>
          </p:nvPr>
        </p:nvGraphicFramePr>
        <p:xfrm>
          <a:off x="0" y="457200"/>
          <a:ext cx="9144001" cy="780362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sv-SE" dirty="0"/>
                        <a:t>Manolova, T. S., Brush, C. G., Edelman, L. F., &amp; Elam, A.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Pivoting to stay the course: How women entrepreneurs take advantage of opportunities created by the COVID-19 pandemic</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International Small Business Journal</a:t>
                      </a:r>
                      <a:r>
                        <a:rPr lang="en-US" dirty="0"/>
                        <a:t> / </a:t>
                      </a:r>
                      <a:r>
                        <a:rPr lang="en-US" dirty="0">
                          <a:hlinkClick r:id="rId2"/>
                        </a:rPr>
                        <a:t>https://doi.org/10.1177/0266242620949136</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Earlier research on gender-specific factors in entrepreneurial crisis response has primarily focused on macro-level perspectives, disregarding how women business owners leverage their unique resource networks and adaptive capabilities during systemic disruptions.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Mixed-methods research combining survey data from 234 women-owned small businesses in the United States with follow-up interviews, examining business model adaptations during COVID-19 restrictions.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findings reveal distinctive patterns in how women entrepreneurs navigated the pandemic crisis, particularly through leveraging digital technologies, activating support networks, and prioritizing community-focused business model innovations. These entrepreneurs demonstrated significant resilience through purposeful pivoting that aligned business adaptations with personal values and community needs.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research extends feminist entrepreneurship theory by documenting how women business owners transform crisis conditions through gender-specific adaptive strategies, contributing new perspectives on the relationship between gender, entrepreneurial identity, and crisis resilience.</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Limited research on gender-specific dimensions of entrepreneurial crisis response, particularly regarding how women entrepreneurs leverage their distinct social capital and adaptive capabilities during systemic disruptions.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6905AB8E-EFC4-FD0D-021F-76F78891BBC7}"/>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34</a:t>
            </a:r>
            <a:endParaRPr lang="en-GB" dirty="0"/>
          </a:p>
        </p:txBody>
      </p:sp>
    </p:spTree>
    <p:extLst>
      <p:ext uri="{BB962C8B-B14F-4D97-AF65-F5344CB8AC3E}">
        <p14:creationId xmlns:p14="http://schemas.microsoft.com/office/powerpoint/2010/main" val="2730380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6D72E-7C0B-9BCA-4ADA-7CFB96E404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514417-4761-4368-A6B6-D37C12681E76}"/>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E78E8107-D2BF-0EDC-9A20-DCB4D1EB457E}"/>
              </a:ext>
            </a:extLst>
          </p:cNvPr>
          <p:cNvGraphicFramePr>
            <a:graphicFrameLocks noGrp="1"/>
          </p:cNvGraphicFramePr>
          <p:nvPr>
            <p:extLst>
              <p:ext uri="{D42A27DB-BD31-4B8C-83A1-F6EECF244321}">
                <p14:modId xmlns:p14="http://schemas.microsoft.com/office/powerpoint/2010/main" val="3732213778"/>
              </p:ext>
            </p:extLst>
          </p:nvPr>
        </p:nvGraphicFramePr>
        <p:xfrm>
          <a:off x="0" y="457200"/>
          <a:ext cx="9144001" cy="752930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US" dirty="0"/>
                        <a:t>Thorgren, S., &amp; Williams, T. A.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Staying alive during an unfolding crisis: How SMEs ward off impending disaster</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Business Venturing Insights</a:t>
                      </a:r>
                      <a:r>
                        <a:rPr lang="en-US" dirty="0"/>
                        <a:t> / </a:t>
                      </a:r>
                      <a:r>
                        <a:rPr lang="en-US" dirty="0">
                          <a:hlinkClick r:id="rId2"/>
                        </a:rPr>
                        <a:t>https://doi.org/10.1016/j.jbvi.2020.e00187</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Previous studies on small business owners' responses to early crisis conditions have predominantly adopted macro-level perspectives, failing to address the crucial cognitive and social processes that influence individual entrepreneurs in their adaptive responses.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Longitudinal qualitative research with 35 Swedish small business owners across multiple industries during the early evolution of the COVID-19 pandemic, with data collection occurring at three time points over six weeks.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research identifies a "threat clock" mechanism through which small business owners mentally process crisis progression, with responses evolving from initial disbelief and monitoring to increasingly concrete adaptation actions. Social embeddedness played a critical role in threat assessment, with peer comparison significantly influencing perception of crisis severity and appropriate response timing.</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crisis management literature by documenting the cognitive and social processes that shape threat perception and response timing among small business owners, highlighting how collective sensemaking within entrepreneurial communities influences individual crisis management decisions.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Insufficient understanding of the temporal dynamics of SME crisis responses, particularly regarding how small business owners assess and respond to evolving threat conditions before consequences fully materialize.</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92B60BEF-E419-B037-0D25-0EB04D31E644}"/>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35</a:t>
            </a:r>
            <a:endParaRPr lang="en-GB" dirty="0"/>
          </a:p>
        </p:txBody>
      </p:sp>
    </p:spTree>
    <p:extLst>
      <p:ext uri="{BB962C8B-B14F-4D97-AF65-F5344CB8AC3E}">
        <p14:creationId xmlns:p14="http://schemas.microsoft.com/office/powerpoint/2010/main" val="1996833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8A4F2-0C73-C99C-E6B3-8EC88FAE0A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4A8D9F-7D20-80F9-0580-EB5ED44F8304}"/>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EF6FE0CC-F63A-1774-086F-BC67EECF402C}"/>
              </a:ext>
            </a:extLst>
          </p:cNvPr>
          <p:cNvGraphicFramePr>
            <a:graphicFrameLocks noGrp="1"/>
          </p:cNvGraphicFramePr>
          <p:nvPr>
            <p:extLst>
              <p:ext uri="{D42A27DB-BD31-4B8C-83A1-F6EECF244321}">
                <p14:modId xmlns:p14="http://schemas.microsoft.com/office/powerpoint/2010/main" val="3467914195"/>
              </p:ext>
            </p:extLst>
          </p:nvPr>
        </p:nvGraphicFramePr>
        <p:xfrm>
          <a:off x="0" y="457200"/>
          <a:ext cx="9144001" cy="776298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dirty="0" err="1"/>
                        <a:t>Kuckertz</a:t>
                      </a:r>
                      <a:r>
                        <a:rPr lang="en-GB" dirty="0"/>
                        <a:t>, A., Brändle, L., </a:t>
                      </a:r>
                      <a:r>
                        <a:rPr lang="en-GB" dirty="0" err="1"/>
                        <a:t>Gaudig</a:t>
                      </a:r>
                      <a:r>
                        <a:rPr lang="en-GB" dirty="0"/>
                        <a:t>, A., Hinderer, S., Morales Reyes, C. A., </a:t>
                      </a:r>
                      <a:r>
                        <a:rPr lang="en-GB" dirty="0" err="1"/>
                        <a:t>Prochotta</a:t>
                      </a:r>
                      <a:r>
                        <a:rPr lang="en-GB" dirty="0"/>
                        <a:t>, A., Steinbrink, K. M., &amp; Berger, E. S. C.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Startups in times of crisis – A rapid response to the COVID-19 pandemic</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Journal of Business Venturing Insights</a:t>
                      </a:r>
                      <a:r>
                        <a:rPr lang="en-US" dirty="0"/>
                        <a:t> / </a:t>
                      </a:r>
                      <a:r>
                        <a:rPr lang="en-US" dirty="0">
                          <a:hlinkClick r:id="rId2"/>
                        </a:rPr>
                        <a:t>https://doi.org/10.1016/j.jbvi.2020.e00169</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Early-stage ventures, with limited operating history and emerging resource networks, must navigate sudden crises. These ventures might exhibit unique advantages or vulnerabilities compared to established small businesses during such conditions.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Qualitative research involving 16 in-depth interviews with founders of German startups during the initial weeks of COVID-19 restrictions, examining crisis perceptions and strategic responses.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findings identify distinctive crisis response patterns among early-stage ventures, including rapid reprioritization of innovation activities, accelerated digitalization initiatives, and proactive stakeholder management to preserve fragile resource networks. Startups demonstrated crisis responses that differed from established SMEs, leveraging their structural flexibility despite acute resource vulnerabilities.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extends entrepreneurship literature by highlighting the unique crisis management capabilities of nascent ventures, demonstrating how early-stage entrepreneurial teams can transform crisis conditions into innovation catalysts through strategic agility and stakeholder solidarity.</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Limited research on how early-stage ventures, as distinct from established small businesses, navigate crisis conditions, particularly regarding their unique resource constraints and agility advantages during systemic disruptions.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E1792893-C9E3-E307-8E2D-0CC7B0FDFBB2}"/>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36</a:t>
            </a:r>
            <a:endParaRPr lang="en-GB" dirty="0"/>
          </a:p>
        </p:txBody>
      </p:sp>
    </p:spTree>
    <p:extLst>
      <p:ext uri="{BB962C8B-B14F-4D97-AF65-F5344CB8AC3E}">
        <p14:creationId xmlns:p14="http://schemas.microsoft.com/office/powerpoint/2010/main" val="4039681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E3456-B5A0-B4C0-C619-380D3F9C99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904DB-86E3-7ADB-E354-9AB7B413C6E9}"/>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DBEB86DA-B82B-3375-631B-6AD1507AA5D4}"/>
              </a:ext>
            </a:extLst>
          </p:cNvPr>
          <p:cNvGraphicFramePr>
            <a:graphicFrameLocks noGrp="1"/>
          </p:cNvGraphicFramePr>
          <p:nvPr>
            <p:extLst>
              <p:ext uri="{D42A27DB-BD31-4B8C-83A1-F6EECF244321}">
                <p14:modId xmlns:p14="http://schemas.microsoft.com/office/powerpoint/2010/main" val="3594819629"/>
              </p:ext>
            </p:extLst>
          </p:nvPr>
        </p:nvGraphicFramePr>
        <p:xfrm>
          <a:off x="0" y="457200"/>
          <a:ext cx="9144001" cy="807794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nn-NO" dirty="0"/>
                        <a:t>Morgan, T., Anokhin, S., Ofstein, L., &amp; Friske, W.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SME response to major exogenous shocks: The bright and dark sides of business model pivoting</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International Small Business Journal</a:t>
                      </a:r>
                      <a:r>
                        <a:rPr lang="en-US" dirty="0"/>
                        <a:t> / </a:t>
                      </a:r>
                      <a:r>
                        <a:rPr lang="en-US" dirty="0">
                          <a:hlinkClick r:id="rId2"/>
                        </a:rPr>
                        <a:t>https://doi.org/10.1177/0266242620936590</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Determine how pivoting business models impact SME performance during crises and identify the contingent factors that influence the effectiveness of moderate versus radical adaptation approaches for achieving optimal outcomes.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Mixed-methods research combining survey data from 364 SMEs with follow-up qualitative interviews during the early stages of the COVID-19 pandemic, focusing on business model adaptation strategies.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research reveals a U-shaped relationship between pivoting intensity and firm performance during crisis conditions. Moderate pivots often yielded suboptimal outcomes, while either maintaining core business models with minor adjustments or implementing radical business model transformations showed better performance outcomes. Industry characteristics and pre-crisis market position significantly moderated these effects.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entrepreneurship theory by challenging simplified views of business model adaptation during crises, demonstrating that pivoting success depends on both the magnitude of change and contextual factors, with important implications for entrepreneurial decision-making during high-uncertainty periods.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Inadequate theoretical understanding of when and how business model pivoting benefits or harms small businesses during crisis conditions, particularly regarding the contingent factors that influence pivot success or failure.</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741B25F2-A9C4-3E3C-04CD-4B87685C1542}"/>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37</a:t>
            </a:r>
            <a:endParaRPr lang="en-GB" dirty="0"/>
          </a:p>
        </p:txBody>
      </p:sp>
    </p:spTree>
    <p:extLst>
      <p:ext uri="{BB962C8B-B14F-4D97-AF65-F5344CB8AC3E}">
        <p14:creationId xmlns:p14="http://schemas.microsoft.com/office/powerpoint/2010/main" val="38671625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DE33D-EC8C-FD86-73BF-8B5DE1AA09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AD7F9-DACF-5B29-B4E7-D96C83A85254}"/>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DE1FB53F-2703-C958-5E3A-034897712684}"/>
              </a:ext>
            </a:extLst>
          </p:cNvPr>
          <p:cNvGraphicFramePr>
            <a:graphicFrameLocks noGrp="1"/>
          </p:cNvGraphicFramePr>
          <p:nvPr>
            <p:extLst>
              <p:ext uri="{D42A27DB-BD31-4B8C-83A1-F6EECF244321}">
                <p14:modId xmlns:p14="http://schemas.microsoft.com/office/powerpoint/2010/main" val="1083214147"/>
              </p:ext>
            </p:extLst>
          </p:nvPr>
        </p:nvGraphicFramePr>
        <p:xfrm>
          <a:off x="0" y="457200"/>
          <a:ext cx="9144001" cy="7863840"/>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sv-SE" dirty="0"/>
                        <a:t>Bartik, A. W., Bertrand, M., Cullen, Z., Glaeser, E. L., Luca, M., &amp; Stanton, C. (2020)</a:t>
                      </a:r>
                      <a:endParaRPr lang="en-GB" b="0" dirty="0"/>
                    </a:p>
                  </a:txBody>
                  <a:tcPr anchor="ctr"/>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r>
                        <a:rPr lang="en-US" dirty="0"/>
                        <a:t>The impact of COVID-19 on small business outcomes and expectations</a:t>
                      </a:r>
                    </a:p>
                  </a:txBody>
                  <a:tcPr anchor="ctr"/>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US" i="1" dirty="0"/>
                        <a:t>Proceedings of the National Academy of Sciences</a:t>
                      </a:r>
                      <a:r>
                        <a:rPr lang="en-US" dirty="0"/>
                        <a:t> / </a:t>
                      </a:r>
                      <a:r>
                        <a:rPr lang="en-US" dirty="0">
                          <a:hlinkClick r:id="rId2"/>
                        </a:rPr>
                        <a:t>https://doi.org/10.1073/pnas.2006991117</a:t>
                      </a:r>
                      <a:endParaRPr lang="en-US" dirty="0"/>
                    </a:p>
                  </a:txBody>
                  <a:tcPr anchor="ctr"/>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Small businesses faced immediate financial vulnerabilities and operational constraints during the COVID-19 pandemic, which influenced their decisions regarding employment, closure, and participation in relief programs. These challenges significantly shaped their expectations and strategies for navigating through the crisis.</a:t>
                      </a:r>
                    </a:p>
                  </a:txBody>
                  <a:tcPr anchor="ctr"/>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US" dirty="0"/>
                        <a:t>Survey of 5,800 small businesses in the United States conducted during the early weeks of the COVID-19 pandemic (March-April 2020), examining financial fragility, employment decisions, and expected recovery scenarios.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US" dirty="0"/>
                        <a:t>The findings reveal widespread financial fragility among small businesses at crisis onset, with the median business having less than two months of cash reserves. Mass layoffs and closures occurred rapidly, with businesses expressing significant uncertainty about the effectiveness of government relief programs due to anticipated bureaucratic complexity and eligibility concerns.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US" dirty="0"/>
                        <a:t>This study contributes to entrepreneurship theory by challenging simplified views of business model adaptation during crises, demonstrating that pivoting success depends on both the magnitude of change and contextual factors, with important implications for entrepreneurial decision-making during high-uncertainty periods.</a:t>
                      </a:r>
                      <a:endParaRPr lang="en-GB"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r>
                        <a:rPr lang="en-US" dirty="0"/>
                        <a:t>Insufficient real-time data on small business vulnerabilities during acute crisis phases, particularly regarding liquidity constraints, labor decisions, and the anticipated effectiveness of policy interventions.</a:t>
                      </a:r>
                    </a:p>
                  </a:txBody>
                  <a:tcPr anchor="ctr"/>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8A24C4FB-803E-1982-3FE7-29FBF575B09E}"/>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38</a:t>
            </a:r>
            <a:endParaRPr lang="en-GB" dirty="0"/>
          </a:p>
        </p:txBody>
      </p:sp>
    </p:spTree>
    <p:extLst>
      <p:ext uri="{BB962C8B-B14F-4D97-AF65-F5344CB8AC3E}">
        <p14:creationId xmlns:p14="http://schemas.microsoft.com/office/powerpoint/2010/main" val="3497614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320B0-8042-B1FC-4B3A-069E8CD126E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86BDFA0-E59D-87DA-31A9-73C720D48665}"/>
              </a:ext>
            </a:extLst>
          </p:cNvPr>
          <p:cNvSpPr>
            <a:spLocks noGrp="1"/>
          </p:cNvSpPr>
          <p:nvPr>
            <p:ph idx="1"/>
          </p:nvPr>
        </p:nvSpPr>
        <p:spPr/>
        <p:txBody>
          <a:bodyPr/>
          <a:lstStyle/>
          <a:p>
            <a:endParaRPr lang="en-GB" dirty="0"/>
          </a:p>
        </p:txBody>
      </p:sp>
      <p:graphicFrame>
        <p:nvGraphicFramePr>
          <p:cNvPr id="4" name="Table 3">
            <a:extLst>
              <a:ext uri="{FF2B5EF4-FFF2-40B4-BE49-F238E27FC236}">
                <a16:creationId xmlns:a16="http://schemas.microsoft.com/office/drawing/2014/main" id="{F995C71E-D49F-D7F6-8AC0-FECD5B763EB3}"/>
              </a:ext>
            </a:extLst>
          </p:cNvPr>
          <p:cNvGraphicFramePr>
            <a:graphicFrameLocks noGrp="1"/>
          </p:cNvGraphicFramePr>
          <p:nvPr>
            <p:extLst>
              <p:ext uri="{D42A27DB-BD31-4B8C-83A1-F6EECF244321}">
                <p14:modId xmlns:p14="http://schemas.microsoft.com/office/powerpoint/2010/main" val="3488855120"/>
              </p:ext>
            </p:extLst>
          </p:nvPr>
        </p:nvGraphicFramePr>
        <p:xfrm>
          <a:off x="0" y="457200"/>
          <a:ext cx="9144001" cy="890090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Sarah Cheah, Shiyu Li, Yi-Rong Ho (2022)</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Collaborative innovation in SME clusters: Cross-boundary knowledge flows and recombination processes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Research Policy / https://doi.org/10.1016/j.respol.2022.104517</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Lack of understanding of mechanisms of knowledge flows and recombination processes that facilitate collaborative innovation in SMEs in industry clusters.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Longitudinal case study of three technology-intensive SME clusters in Singapore over four years, with 42 companies and gathering data through interviews, observation, and documentation analysis.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Successful collaborative innovation in SME clusters relies on organized mechanisms for knowledge brokerage, complementarities among participating firms, and boundary-spanning actors bridging knowledge translation. Digital platforms play more and more extensively the role of mediating knowledge flows in clusters, but less or more effectively depending on levels of trust and knowledge complexity. SMEs engaged in collaborative innovation projects exhibit increased absorptive capacity and innovation outcomes at the project boundaries.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adds to knowledge of micro-level mechanisms of knowledge flow in SME clusters, highlighting particular mechanisms whereby small firms with limited resources strengthen innovation capacity via cooperation.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study targets technology-intensive SME clusters in a highly advanced economy where institutions are strong, which may limit cross-clustering applicability to industry clusters in weaker institutional settings. The study also offers little hints regarding differing patterns of collaborative innovation between industries.</a:t>
                      </a:r>
                    </a:p>
                    <a:p>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6080AC32-5F5C-66C2-0337-3BD1A5CB4E6D}"/>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39</a:t>
            </a:r>
            <a:endParaRPr lang="en-GB" dirty="0"/>
          </a:p>
        </p:txBody>
      </p:sp>
    </p:spTree>
    <p:extLst>
      <p:ext uri="{BB962C8B-B14F-4D97-AF65-F5344CB8AC3E}">
        <p14:creationId xmlns:p14="http://schemas.microsoft.com/office/powerpoint/2010/main" val="25507942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979F4-1CD8-FD08-4ACE-36CF42DB71E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116BAD9-3E2B-EDB2-8461-28CB2002AFA1}"/>
              </a:ext>
            </a:extLst>
          </p:cNvPr>
          <p:cNvSpPr>
            <a:spLocks noGrp="1"/>
          </p:cNvSpPr>
          <p:nvPr>
            <p:ph idx="1"/>
          </p:nvPr>
        </p:nvSpPr>
        <p:spPr/>
        <p:txBody>
          <a:bodyPr/>
          <a:lstStyle/>
          <a:p>
            <a:endParaRPr lang="en-GB"/>
          </a:p>
        </p:txBody>
      </p:sp>
      <p:graphicFrame>
        <p:nvGraphicFramePr>
          <p:cNvPr id="4" name="Table 3">
            <a:extLst>
              <a:ext uri="{FF2B5EF4-FFF2-40B4-BE49-F238E27FC236}">
                <a16:creationId xmlns:a16="http://schemas.microsoft.com/office/drawing/2014/main" id="{E2DF037C-FA50-7FB8-7E4A-4B5FE8342022}"/>
              </a:ext>
            </a:extLst>
          </p:cNvPr>
          <p:cNvGraphicFramePr>
            <a:graphicFrameLocks noGrp="1"/>
          </p:cNvGraphicFramePr>
          <p:nvPr>
            <p:extLst>
              <p:ext uri="{D42A27DB-BD31-4B8C-83A1-F6EECF244321}">
                <p14:modId xmlns:p14="http://schemas.microsoft.com/office/powerpoint/2010/main" val="371286527"/>
              </p:ext>
            </p:extLst>
          </p:nvPr>
        </p:nvGraphicFramePr>
        <p:xfrm>
          <a:off x="10886" y="457200"/>
          <a:ext cx="9144001" cy="835226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a:solidFill>
                            <a:schemeClr val="lt1"/>
                          </a:solidFill>
                          <a:effectLst/>
                          <a:latin typeface="+mn-lt"/>
                          <a:ea typeface="+mn-ea"/>
                          <a:cs typeface="+mn-cs"/>
                        </a:rPr>
                        <a:t>Moreno-Gómez, J., Escamilla-Manjón, L. E., and Moreno-Charris, A. V. (2023)</a:t>
                      </a:r>
                      <a:endParaRPr lang="en-GB" sz="1800" b="1" kern="1200" dirty="0">
                        <a:solidFill>
                          <a:schemeClr val="lt1"/>
                        </a:solidFill>
                        <a:effectLst/>
                        <a:latin typeface="+mn-lt"/>
                        <a:ea typeface="+mn-ea"/>
                        <a:cs typeface="+mn-cs"/>
                      </a:endParaRP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b="0" kern="1200" dirty="0">
                          <a:solidFill>
                            <a:schemeClr val="dk1"/>
                          </a:solidFill>
                          <a:effectLst/>
                          <a:latin typeface="+mn-lt"/>
                          <a:ea typeface="+mn-ea"/>
                          <a:cs typeface="+mn-cs"/>
                        </a:rPr>
                        <a:t>Technology-enabled entrepreneurship: The mediating role of absorptive capacity in SME performance</a:t>
                      </a: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b="0" kern="1200" dirty="0">
                          <a:solidFill>
                            <a:schemeClr val="dk1"/>
                          </a:solidFill>
                          <a:effectLst/>
                          <a:latin typeface="+mn-lt"/>
                          <a:ea typeface="+mn-ea"/>
                          <a:cs typeface="+mn-cs"/>
                        </a:rPr>
                        <a:t>IEEE Transactions on Engineering Management / https://doi.org/10.1109/TEM.2023.3235984</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a:t>
                      </a:r>
                      <a:r>
                        <a:rPr lang="en-GB" sz="1800" b="0" kern="1200" dirty="0">
                          <a:solidFill>
                            <a:schemeClr val="dk1"/>
                          </a:solidFill>
                          <a:effectLst/>
                          <a:latin typeface="+mn-lt"/>
                          <a:ea typeface="+mn-ea"/>
                          <a:cs typeface="+mn-cs"/>
                        </a:rPr>
                        <a:t>Lack of proper understanding of how absorptive capacity mediates between technology adoption and performance outcomes results in SMEs with limited capacities and resources.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b="0" kern="1200" dirty="0">
                          <a:solidFill>
                            <a:schemeClr val="dk1"/>
                          </a:solidFill>
                          <a:effectLst/>
                          <a:latin typeface="+mn-lt"/>
                          <a:ea typeface="+mn-ea"/>
                          <a:cs typeface="+mn-cs"/>
                        </a:rPr>
                        <a:t>Quantitative survey of 312 SMEs in Colombia, using structural equation </a:t>
                      </a:r>
                      <a:r>
                        <a:rPr lang="en-GB" sz="1800" b="0" kern="1200" dirty="0" err="1">
                          <a:solidFill>
                            <a:schemeClr val="dk1"/>
                          </a:solidFill>
                          <a:effectLst/>
                          <a:latin typeface="+mn-lt"/>
                          <a:ea typeface="+mn-ea"/>
                          <a:cs typeface="+mn-cs"/>
                        </a:rPr>
                        <a:t>modeling</a:t>
                      </a:r>
                      <a:r>
                        <a:rPr lang="en-GB" sz="1800" b="0" kern="1200" dirty="0">
                          <a:solidFill>
                            <a:schemeClr val="dk1"/>
                          </a:solidFill>
                          <a:effectLst/>
                          <a:latin typeface="+mn-lt"/>
                          <a:ea typeface="+mn-ea"/>
                          <a:cs typeface="+mn-cs"/>
                        </a:rPr>
                        <a:t> to </a:t>
                      </a:r>
                      <a:r>
                        <a:rPr lang="en-GB" sz="1800" b="0" kern="1200" dirty="0" err="1">
                          <a:solidFill>
                            <a:schemeClr val="dk1"/>
                          </a:solidFill>
                          <a:effectLst/>
                          <a:latin typeface="+mn-lt"/>
                          <a:ea typeface="+mn-ea"/>
                          <a:cs typeface="+mn-cs"/>
                        </a:rPr>
                        <a:t>analyze</a:t>
                      </a:r>
                      <a:r>
                        <a:rPr lang="en-GB" sz="1800" b="0" kern="1200" dirty="0">
                          <a:solidFill>
                            <a:schemeClr val="dk1"/>
                          </a:solidFill>
                          <a:effectLst/>
                          <a:latin typeface="+mn-lt"/>
                          <a:ea typeface="+mn-ea"/>
                          <a:cs typeface="+mn-cs"/>
                        </a:rPr>
                        <a:t> hypothesized relationships between technology adoption, absorptive capacity dimensions, and business performance measures.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b="0" kern="1200" dirty="0">
                          <a:solidFill>
                            <a:schemeClr val="dk1"/>
                          </a:solidFill>
                          <a:effectLst/>
                          <a:latin typeface="+mn-lt"/>
                          <a:ea typeface="+mn-ea"/>
                          <a:cs typeface="+mn-cs"/>
                        </a:rPr>
                        <a:t>Technology adoption positively influences SME performance, but this is completely mediated by absorptive capacity dimensions (acquisition, assimilation, transformation, and exploitation). SMEs that invest in developing knowledge management capabilities along with technology adoption have significantly better performance outcomes. The study identifies specific absorptive capacity bottlenecks that limit technology payoffs in small firms of limited size.</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a:t>
                      </a:r>
                      <a:r>
                        <a:rPr lang="en-GB" sz="1800" b="0" kern="1200" dirty="0">
                          <a:solidFill>
                            <a:schemeClr val="dk1"/>
                          </a:solidFill>
                          <a:effectLst/>
                          <a:latin typeface="+mn-lt"/>
                          <a:ea typeface="+mn-ea"/>
                          <a:cs typeface="+mn-cs"/>
                        </a:rPr>
                        <a:t>The research bridges the gap in literature between organizational learning approaches and technology entrepreneurship by providing further insight into how to optimize technological investment through enhanced capabilities development in conjunction.</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b="0" kern="1200" dirty="0">
                          <a:solidFill>
                            <a:schemeClr val="dk1"/>
                          </a:solidFill>
                          <a:effectLst/>
                          <a:latin typeface="+mn-lt"/>
                          <a:ea typeface="+mn-ea"/>
                          <a:cs typeface="+mn-cs"/>
                        </a:rPr>
                        <a:t>The design of cross-sectional study limits causal inference of technology adoption and performance outcomes. Few pragmatic recommendations are also not provided in the study about how capacity-constrained SMEs can develop absorptive capacity within budget limits.</a:t>
                      </a:r>
                    </a:p>
                  </a:txBody>
                  <a:tcPr marL="68580" marR="68580"/>
                </a:tc>
                <a:extLst>
                  <a:ext uri="{0D108BD9-81ED-4DB2-BD59-A6C34878D82A}">
                    <a16:rowId xmlns:a16="http://schemas.microsoft.com/office/drawing/2014/main" val="10007"/>
                  </a:ext>
                </a:extLst>
              </a:tr>
            </a:tbl>
          </a:graphicData>
        </a:graphic>
      </p:graphicFrame>
      <p:sp>
        <p:nvSpPr>
          <p:cNvPr id="5" name="Title 1">
            <a:extLst>
              <a:ext uri="{FF2B5EF4-FFF2-40B4-BE49-F238E27FC236}">
                <a16:creationId xmlns:a16="http://schemas.microsoft.com/office/drawing/2014/main" id="{2ED590FD-290C-8B7A-EDDC-330A7CA870D3}"/>
              </a:ext>
            </a:extLst>
          </p:cNvPr>
          <p:cNvSpPr txBox="1">
            <a:spLocks/>
          </p:cNvSpPr>
          <p:nvPr/>
        </p:nvSpPr>
        <p:spPr>
          <a:xfrm>
            <a:off x="3505200" y="28075"/>
            <a:ext cx="2133600" cy="457199"/>
          </a:xfrm>
          <a:prstGeom prst="rect">
            <a:avLst/>
          </a:prstGeom>
        </p:spPr>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Article 40</a:t>
            </a:r>
            <a:endParaRPr lang="en-GB" dirty="0"/>
          </a:p>
        </p:txBody>
      </p:sp>
    </p:spTree>
    <p:extLst>
      <p:ext uri="{BB962C8B-B14F-4D97-AF65-F5344CB8AC3E}">
        <p14:creationId xmlns:p14="http://schemas.microsoft.com/office/powerpoint/2010/main" val="1314363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ctrTitle"/>
          </p:nvPr>
        </p:nvSpPr>
        <p:spPr>
          <a:xfrm>
            <a:off x="1371600" y="76200"/>
            <a:ext cx="6400800" cy="457200"/>
          </a:xfrm>
        </p:spPr>
        <p:txBody>
          <a:bodyPr>
            <a:noAutofit/>
          </a:bodyPr>
          <a:lstStyle/>
          <a:p>
            <a:r>
              <a:rPr lang="en-US" sz="3600" dirty="0"/>
              <a:t>ARTICLE 41</a:t>
            </a:r>
          </a:p>
        </p:txBody>
      </p:sp>
      <p:sp>
        <p:nvSpPr>
          <p:cNvPr id="1048613" name="Subtitle 2"/>
          <p:cNvSpPr>
            <a:spLocks noGrp="1"/>
          </p:cNvSpPr>
          <p:nvPr>
            <p:ph type="subTitle" idx="1"/>
          </p:nvPr>
        </p:nvSpPr>
        <p:spPr>
          <a:xfrm>
            <a:off x="1257300" y="731949"/>
            <a:ext cx="6629400" cy="6096000"/>
          </a:xfrm>
        </p:spPr>
        <p:txBody>
          <a:bodyPr>
            <a:noAutofit/>
          </a:bodyPr>
          <a:lstStyle/>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b="1"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a:p>
            <a:pPr algn="just"/>
            <a:endParaRPr lang="en-US" sz="1300" dirty="0">
              <a:latin typeface="Calibri Light" panose="020F0302020204030204" pitchFamily="34" charset="0"/>
            </a:endParaRPr>
          </a:p>
        </p:txBody>
      </p:sp>
      <p:graphicFrame>
        <p:nvGraphicFramePr>
          <p:cNvPr id="4194308" name="Table 3"/>
          <p:cNvGraphicFramePr>
            <a:graphicFrameLocks noGrp="1"/>
          </p:cNvGraphicFramePr>
          <p:nvPr/>
        </p:nvGraphicFramePr>
        <p:xfrm>
          <a:off x="0" y="457200"/>
          <a:ext cx="9144001" cy="9046274"/>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algn="just"/>
                      <a:r>
                        <a:rPr lang="en-GB" sz="1800" b="1" kern="1200" dirty="0" err="1">
                          <a:solidFill>
                            <a:schemeClr val="lt1"/>
                          </a:solidFill>
                          <a:effectLst/>
                          <a:latin typeface="+mn-lt"/>
                          <a:ea typeface="+mn-ea"/>
                          <a:cs typeface="+mn-cs"/>
                        </a:rPr>
                        <a:t>Engelen</a:t>
                      </a:r>
                      <a:r>
                        <a:rPr lang="en-GB" sz="1800" b="1" kern="1200" dirty="0">
                          <a:solidFill>
                            <a:schemeClr val="lt1"/>
                          </a:solidFill>
                          <a:effectLst/>
                          <a:latin typeface="+mn-lt"/>
                          <a:ea typeface="+mn-ea"/>
                          <a:cs typeface="+mn-cs"/>
                        </a:rPr>
                        <a:t>, A., Gupta, V., </a:t>
                      </a:r>
                      <a:r>
                        <a:rPr lang="en-GB" sz="1800" b="1" kern="1200" dirty="0" err="1">
                          <a:solidFill>
                            <a:schemeClr val="lt1"/>
                          </a:solidFill>
                          <a:effectLst/>
                          <a:latin typeface="+mn-lt"/>
                          <a:ea typeface="+mn-ea"/>
                          <a:cs typeface="+mn-cs"/>
                        </a:rPr>
                        <a:t>Strenger</a:t>
                      </a:r>
                      <a:r>
                        <a:rPr lang="en-GB" sz="1800" b="1" kern="1200" dirty="0">
                          <a:solidFill>
                            <a:schemeClr val="lt1"/>
                          </a:solidFill>
                          <a:effectLst/>
                          <a:latin typeface="+mn-lt"/>
                          <a:ea typeface="+mn-ea"/>
                          <a:cs typeface="+mn-cs"/>
                        </a:rPr>
                        <a:t>, L., &amp; </a:t>
                      </a:r>
                      <a:r>
                        <a:rPr lang="en-GB" sz="1800" b="1" kern="1200" dirty="0" err="1">
                          <a:solidFill>
                            <a:schemeClr val="lt1"/>
                          </a:solidFill>
                          <a:effectLst/>
                          <a:latin typeface="+mn-lt"/>
                          <a:ea typeface="+mn-ea"/>
                          <a:cs typeface="+mn-cs"/>
                        </a:rPr>
                        <a:t>Brettel</a:t>
                      </a:r>
                      <a:r>
                        <a:rPr lang="en-GB" sz="1800" b="1" kern="1200" dirty="0">
                          <a:solidFill>
                            <a:schemeClr val="lt1"/>
                          </a:solidFill>
                          <a:effectLst/>
                          <a:latin typeface="+mn-lt"/>
                          <a:ea typeface="+mn-ea"/>
                          <a:cs typeface="+mn-cs"/>
                        </a:rPr>
                        <a:t>, M. (2015)</a:t>
                      </a:r>
                      <a:endParaRPr lang="en-US" sz="1800" b="0" dirty="0">
                        <a:solidFill>
                          <a:schemeClr val="tx1"/>
                        </a:solidFill>
                        <a:latin typeface="+mn-lt"/>
                      </a:endParaRPr>
                    </a:p>
                  </a:txBody>
                  <a:tcPr marL="68580" marR="68580"/>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Entrepreneurial orientation, firm performance, and the moderating role of transformational leadership behaviours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Management, 41(4), 1069-1097. DOI: 10.1177/0149206312455244</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study investigates the inconsistent relationship between entrepreneurial orientation (EO) and firm performance in small and medium-sized enterprises (SMEs). While EO is generally associated with positive performance outcomes, empirical findings have been mixed, suggesting the influence of contextual factors. The authors propose that transformational leadership behaviours may moderate this relationship, enhancing the positive effects of EO on performance. Understanding this moderating role is crucial for SMEs aiming to leverage EO for improved performance.</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The researchers conducted a quantitative study using survey data from 311 SMEs across various industries in Germany. They measured EO, transformational leadership behaviours, and firm performance, employing hierarchical regression analysis to test the moderating effect of leadership on the EO-performance relationship.</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The study found that transformational leadership behaviours significantly strengthen the positive relationship between entrepreneurial orientation and firm performance. Specifically, SMEs with high EO exhibited better performance when their leaders demonstrated transformational behaviours, such as inspiring vision, intellectual stimulation, and individualized consideration.</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This research contributes to the entrepreneurship literature by highlighting the critical role of leadership in maximizing the benefits of entrepreneurial orientation. It suggests that fostering transformational leadership can enhance the effectiveness of EO in improving SME performance, offering practical insights for SME development.</a:t>
                      </a:r>
                      <a:endParaRPr lang="en-US"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00" dirty="0">
                          <a:effectLst/>
                          <a:latin typeface="+mj-lt"/>
                          <a:ea typeface="Aptos"/>
                        </a:rPr>
                        <a:t>The study suggests the need for further research to explore other potential moderating variables in the EO-performance relationship and to examine the causality direction between transformational leadership and firm performance.</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775330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EB2D4-4BDF-7AD5-7EF4-6037D3EE89D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1C9800E-84C3-C574-60B0-CD24CDA07D5E}"/>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DED46610-2AC3-6516-8084-2412CEFCF171}"/>
              </a:ext>
            </a:extLst>
          </p:cNvPr>
          <p:cNvGraphicFramePr>
            <a:graphicFrameLocks noGrp="1"/>
          </p:cNvGraphicFramePr>
          <p:nvPr/>
        </p:nvGraphicFramePr>
        <p:xfrm>
          <a:off x="0" y="457200"/>
          <a:ext cx="9144001" cy="7419531"/>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algn="just"/>
                      <a:r>
                        <a:rPr lang="en-GB" sz="1800" b="1" kern="1200" dirty="0" err="1">
                          <a:solidFill>
                            <a:schemeClr val="lt1"/>
                          </a:solidFill>
                          <a:effectLst/>
                          <a:latin typeface="+mn-lt"/>
                          <a:ea typeface="+mn-ea"/>
                          <a:cs typeface="+mn-cs"/>
                        </a:rPr>
                        <a:t>Oluwasoye</a:t>
                      </a:r>
                      <a:r>
                        <a:rPr lang="en-GB" sz="1800" b="1" kern="1200" dirty="0">
                          <a:solidFill>
                            <a:schemeClr val="lt1"/>
                          </a:solidFill>
                          <a:effectLst/>
                          <a:latin typeface="+mn-lt"/>
                          <a:ea typeface="+mn-ea"/>
                          <a:cs typeface="+mn-cs"/>
                        </a:rPr>
                        <a:t> P. </a:t>
                      </a:r>
                      <a:r>
                        <a:rPr lang="en-GB" sz="1800" b="1" kern="1200" dirty="0" err="1">
                          <a:solidFill>
                            <a:schemeClr val="lt1"/>
                          </a:solidFill>
                          <a:effectLst/>
                          <a:latin typeface="+mn-lt"/>
                          <a:ea typeface="+mn-ea"/>
                          <a:cs typeface="+mn-cs"/>
                        </a:rPr>
                        <a:t>Mafimisebi</a:t>
                      </a:r>
                      <a:r>
                        <a:rPr lang="en-GB" sz="1800" b="1" kern="1200" dirty="0">
                          <a:solidFill>
                            <a:schemeClr val="lt1"/>
                          </a:solidFill>
                          <a:effectLst/>
                          <a:latin typeface="+mn-lt"/>
                          <a:ea typeface="+mn-ea"/>
                          <a:cs typeface="+mn-cs"/>
                        </a:rPr>
                        <a:t>, Demola </a:t>
                      </a:r>
                      <a:r>
                        <a:rPr lang="en-GB" sz="1800" b="1" kern="1200" dirty="0" err="1">
                          <a:solidFill>
                            <a:schemeClr val="lt1"/>
                          </a:solidFill>
                          <a:effectLst/>
                          <a:latin typeface="+mn-lt"/>
                          <a:ea typeface="+mn-ea"/>
                          <a:cs typeface="+mn-cs"/>
                        </a:rPr>
                        <a:t>Obembe</a:t>
                      </a:r>
                      <a:r>
                        <a:rPr lang="en-GB" sz="1800" b="1" kern="1200" dirty="0">
                          <a:solidFill>
                            <a:schemeClr val="lt1"/>
                          </a:solidFill>
                          <a:effectLst/>
                          <a:latin typeface="+mn-lt"/>
                          <a:ea typeface="+mn-ea"/>
                          <a:cs typeface="+mn-cs"/>
                        </a:rPr>
                        <a:t>, Adekunle I. </a:t>
                      </a:r>
                      <a:r>
                        <a:rPr lang="en-GB" sz="1800" b="1" kern="1200" dirty="0" err="1">
                          <a:solidFill>
                            <a:schemeClr val="lt1"/>
                          </a:solidFill>
                          <a:effectLst/>
                          <a:latin typeface="+mn-lt"/>
                          <a:ea typeface="+mn-ea"/>
                          <a:cs typeface="+mn-cs"/>
                        </a:rPr>
                        <a:t>Ogunsade</a:t>
                      </a:r>
                      <a:r>
                        <a:rPr lang="en-GB" sz="1800" b="1" kern="1200" dirty="0">
                          <a:solidFill>
                            <a:schemeClr val="lt1"/>
                          </a:solidFill>
                          <a:effectLst/>
                          <a:latin typeface="+mn-lt"/>
                          <a:ea typeface="+mn-ea"/>
                          <a:cs typeface="+mn-cs"/>
                        </a:rPr>
                        <a:t> (2023)</a:t>
                      </a:r>
                      <a:endParaRPr lang="en-US" sz="1800" b="0" dirty="0">
                        <a:solidFill>
                          <a:schemeClr val="tx1"/>
                        </a:solidFill>
                        <a:latin typeface="+mn-lt"/>
                      </a:endParaRPr>
                    </a:p>
                  </a:txBody>
                  <a:tcPr marL="68580" marR="68580"/>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Planned, improvised or resilience: small business owner-managers' perception and response to crises in crisis-prone environments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General Management / https://doi.org/10.1177/03063070231159568</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Statement of the problem: Limited knowledge of how small business owner-managers in crisis-prone settings perceive and react to crises.</a:t>
                      </a:r>
                      <a:r>
                        <a:rPr lang="en-GB" dirty="0">
                          <a:effectLst/>
                        </a:rPr>
                        <a:t> Such limited knowledge is self-defeating to the formulation of effective response strategies and policy interventions for ensuring resilience and sustainability for such businesses during times of adversity</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Qualitative multiple-case study of 16 Nigerian small firms using interviews and thematic analysis to examine crisis perception and response.</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The research discovers a huge knowledge gap in comprehending how crisis-at-risk SME owner-managers perceive and react to crises. This knowledge gap limits effective strategy and policy design required to achieve maximum business resilience, flexibility, and sustainability in the long term, impacting their capacity to ride through and bounce back from economic, social, and environmental slumps</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research contributed to existing knowledge regarding various strategies adopted by small business owner-managers working in crisis-oriented situations and that will benefit future literature on resilience and crisis management</a:t>
                      </a:r>
                      <a:endParaRPr lang="en-US"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More research is needed on transference of crisis management strategies from one crisis situation to another, entrepreneurial learning in building capacities for crisis response, and long-term effects of various methods of crisis response on survival rates of firms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21FAD742-4E7B-3903-A9BA-DAB1D26F3AEC}"/>
              </a:ext>
            </a:extLst>
          </p:cNvPr>
          <p:cNvSpPr txBox="1">
            <a:spLocks/>
          </p:cNvSpPr>
          <p:nvPr/>
        </p:nvSpPr>
        <p:spPr>
          <a:xfrm>
            <a:off x="1371600" y="7620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42</a:t>
            </a:r>
          </a:p>
        </p:txBody>
      </p:sp>
    </p:spTree>
    <p:extLst>
      <p:ext uri="{BB962C8B-B14F-4D97-AF65-F5344CB8AC3E}">
        <p14:creationId xmlns:p14="http://schemas.microsoft.com/office/powerpoint/2010/main" val="4065531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FB242-1835-574E-59EE-DB882F09D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DDB33-A5CF-550A-25E4-D4A80782B81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0B6E630-DB7B-B67B-A4B9-D45A379F05FE}"/>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06FCDF1C-25D6-561F-D3BF-44A457ECF4F1}"/>
              </a:ext>
            </a:extLst>
          </p:cNvPr>
          <p:cNvGraphicFramePr>
            <a:graphicFrameLocks noGrp="1"/>
          </p:cNvGraphicFramePr>
          <p:nvPr/>
        </p:nvGraphicFramePr>
        <p:xfrm>
          <a:off x="0" y="457200"/>
          <a:ext cx="9144001" cy="7299498"/>
        </p:xfrm>
        <a:graphic>
          <a:graphicData uri="http://schemas.openxmlformats.org/drawingml/2006/table">
            <a:tbl>
              <a:tblPr firstRow="1" bandRow="1">
                <a:tableStyleId>{5C22544A-7EE6-4342-B048-85BDC9FD1C3A}</a:tableStyleId>
              </a:tblPr>
              <a:tblGrid>
                <a:gridCol w="1463627">
                  <a:extLst>
                    <a:ext uri="{9D8B030D-6E8A-4147-A177-3AD203B41FA5}">
                      <a16:colId xmlns:a16="http://schemas.microsoft.com/office/drawing/2014/main" val="20000"/>
                    </a:ext>
                  </a:extLst>
                </a:gridCol>
                <a:gridCol w="7680374">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algn="just"/>
                      <a:r>
                        <a:rPr lang="en-GB" sz="1800" b="1" kern="1200" dirty="0">
                          <a:solidFill>
                            <a:schemeClr val="lt1"/>
                          </a:solidFill>
                          <a:effectLst/>
                          <a:latin typeface="+mn-lt"/>
                          <a:ea typeface="+mn-ea"/>
                          <a:cs typeface="+mn-cs"/>
                        </a:rPr>
                        <a:t>Murat Eroglu, Derya </a:t>
                      </a:r>
                      <a:r>
                        <a:rPr lang="en-GB" sz="1800" b="1" kern="1200" dirty="0" err="1">
                          <a:solidFill>
                            <a:schemeClr val="lt1"/>
                          </a:solidFill>
                          <a:effectLst/>
                          <a:latin typeface="+mn-lt"/>
                          <a:ea typeface="+mn-ea"/>
                          <a:cs typeface="+mn-cs"/>
                        </a:rPr>
                        <a:t>Kelgokmen</a:t>
                      </a:r>
                      <a:r>
                        <a:rPr lang="en-GB" sz="1800" b="1" kern="1200" dirty="0">
                          <a:solidFill>
                            <a:schemeClr val="lt1"/>
                          </a:solidFill>
                          <a:effectLst/>
                          <a:latin typeface="+mn-lt"/>
                          <a:ea typeface="+mn-ea"/>
                          <a:cs typeface="+mn-cs"/>
                        </a:rPr>
                        <a:t> Ilic (2022)</a:t>
                      </a:r>
                      <a:endParaRPr lang="en-US" sz="1800" b="0" dirty="0">
                        <a:solidFill>
                          <a:schemeClr val="tx1"/>
                        </a:solidFill>
                        <a:latin typeface="+mn-lt"/>
                      </a:endParaRPr>
                    </a:p>
                  </a:txBody>
                  <a:tcPr marL="68580" marR="68580"/>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Dynamic capabilities of SMEs in the context of the COVID-19 pandemic: A qualitative approach from Turkey</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International Journal of Entrepreneurial </a:t>
                      </a:r>
                      <a:r>
                        <a:rPr lang="en-GB" sz="1800" kern="1200" dirty="0" err="1">
                          <a:solidFill>
                            <a:schemeClr val="dk1"/>
                          </a:solidFill>
                          <a:effectLst/>
                          <a:latin typeface="+mn-lt"/>
                          <a:ea typeface="+mn-ea"/>
                          <a:cs typeface="+mn-cs"/>
                        </a:rPr>
                        <a:t>Behavior</a:t>
                      </a:r>
                      <a:r>
                        <a:rPr lang="en-GB" sz="1800" kern="1200" dirty="0">
                          <a:solidFill>
                            <a:schemeClr val="dk1"/>
                          </a:solidFill>
                          <a:effectLst/>
                          <a:latin typeface="+mn-lt"/>
                          <a:ea typeface="+mn-ea"/>
                          <a:cs typeface="+mn-cs"/>
                        </a:rPr>
                        <a:t> &amp; Research / https://doi.org/10.1108/IJEBR-08-2021-0684</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Insufficient exploration of how dynamic capabilities of SMEs in emerging economies are being leveraged amid unprecedented global crises like the COVID-19 pandemic, restricting insights into adaptive response mechanisms in constraint settings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Qualitative case study with 15 semi-structured interviews of Turkish SME owners/managers using thematic coding</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Turkish SMEs accounted for different senses of sensing, seizing, and reconfiguring capacities throughout the pandemic. Firms with strong dynamic capabilities exploited fast business model changes, digitized their organizations, and built new revenue sources, whereas companies with lower capacities adopted reactive responses and were devastated by unbearable financial stress.</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research extends dynamic capabilities theory by demonstrating how such capabilities are expressed in SMEs in the face of extreme environmental shocks, with a determinative emphasis on organizational learning and entrepreneurial orientation in times of crisis.</a:t>
                      </a:r>
                      <a:endParaRPr lang="en-US"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There is no longitudinal examination in the study to ascertain how dynamic capabilities develop over extended crises durations.</a:t>
                      </a:r>
                      <a:r>
                        <a:rPr lang="en-GB" dirty="0">
                          <a:effectLst/>
                        </a:rPr>
                        <a:t> The government support program contribution </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32129230-1779-9FD4-6466-A9A1BE4FB66A}"/>
              </a:ext>
            </a:extLst>
          </p:cNvPr>
          <p:cNvSpPr txBox="1">
            <a:spLocks/>
          </p:cNvSpPr>
          <p:nvPr/>
        </p:nvSpPr>
        <p:spPr>
          <a:xfrm>
            <a:off x="1371600" y="7620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43</a:t>
            </a:r>
          </a:p>
        </p:txBody>
      </p:sp>
    </p:spTree>
    <p:extLst>
      <p:ext uri="{BB962C8B-B14F-4D97-AF65-F5344CB8AC3E}">
        <p14:creationId xmlns:p14="http://schemas.microsoft.com/office/powerpoint/2010/main" val="18690352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3D72A-0656-E1A3-A905-51A6CF8D3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402250-FF86-44FD-C805-C8B64F9237E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6AE69E6-8306-C8F5-39F3-0045BF285CF0}"/>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9301BA68-B486-6138-CCFB-70DC42D6BE86}"/>
              </a:ext>
            </a:extLst>
          </p:cNvPr>
          <p:cNvGraphicFramePr>
            <a:graphicFrameLocks noGrp="1"/>
          </p:cNvGraphicFramePr>
          <p:nvPr/>
        </p:nvGraphicFramePr>
        <p:xfrm>
          <a:off x="0" y="457200"/>
          <a:ext cx="9144001" cy="9041303"/>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algn="just"/>
                      <a:r>
                        <a:rPr lang="en-GB" sz="1800" b="1" kern="1200" dirty="0">
                          <a:solidFill>
                            <a:schemeClr val="lt1"/>
                          </a:solidFill>
                          <a:effectLst/>
                          <a:latin typeface="+mn-lt"/>
                          <a:ea typeface="+mn-ea"/>
                          <a:cs typeface="+mn-cs"/>
                        </a:rPr>
                        <a:t>Saddam Khalid, Tahir Mumtaz Awan, Muhammad Amir Malik (2021)</a:t>
                      </a:r>
                      <a:endParaRPr lang="en-US" sz="1800" b="0" dirty="0">
                        <a:solidFill>
                          <a:schemeClr val="tx1"/>
                        </a:solidFill>
                        <a:latin typeface="+mn-lt"/>
                      </a:endParaRPr>
                    </a:p>
                  </a:txBody>
                  <a:tcPr marL="68580" marR="68580"/>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 Digital entrepreneurship adoption and its impact on the performance of small and medium enterprises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Small Business Management / https://doi.org/10.1080/00472778.2021.1966364</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absence of knowledge regarding factors influencing the adoption of digital entrepreneurship in SMEs and its comparative effect on organizational performance, discouraging effective policymaking for enabling digital transformation</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Quantitative survey research among 389 Pakistani SME owners/managers, applying structured questionnaires and structural equation </a:t>
                      </a:r>
                      <a:r>
                        <a:rPr lang="en-GB" sz="1800" kern="1200" dirty="0" err="1">
                          <a:solidFill>
                            <a:schemeClr val="dk1"/>
                          </a:solidFill>
                          <a:effectLst/>
                          <a:latin typeface="+mn-lt"/>
                          <a:ea typeface="+mn-ea"/>
                          <a:cs typeface="+mn-cs"/>
                        </a:rPr>
                        <a:t>modeling</a:t>
                      </a:r>
                      <a:r>
                        <a:rPr lang="en-GB" sz="1800" kern="1200" dirty="0">
                          <a:solidFill>
                            <a:schemeClr val="dk1"/>
                          </a:solidFill>
                          <a:effectLst/>
                          <a:latin typeface="+mn-lt"/>
                          <a:ea typeface="+mn-ea"/>
                          <a:cs typeface="+mn-cs"/>
                        </a:rPr>
                        <a:t> to test data.</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Externally, digital entrepreneurship adoption is influenced significantly by technological readiness, entrepreneurial self-efficacy, and support systems. The study concludes that digital entrepreneurship has a positive impact on the financial and non-financial performance metrics of SMEs, wherein innovation capability acts as a mediator..</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provides a comprehensive explanation of the adoption of digital entrepreneurship among emerging economies, providing a contribution towards the technology acceptance models within the SME domain and providing policy recommendations for policymakers forcing digitalization.</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The research does not have longitudinal data to allow observation of the path of digital entrepreneurship adoption over time. There is minimal analysis of variance in the patterns of adoption and effects across industries. Future research would look into the contribution of digital business ecosystems in promoting SME digitalization and </a:t>
                      </a:r>
                      <a:r>
                        <a:rPr lang="en-GB" sz="1800" kern="1200" dirty="0" err="1">
                          <a:solidFill>
                            <a:schemeClr val="dk1"/>
                          </a:solidFill>
                          <a:effectLst/>
                          <a:latin typeface="+mn-lt"/>
                          <a:ea typeface="+mn-ea"/>
                          <a:cs typeface="+mn-cs"/>
                        </a:rPr>
                        <a:t>analyze</a:t>
                      </a:r>
                      <a:r>
                        <a:rPr lang="en-GB" sz="1800" kern="1200" dirty="0">
                          <a:solidFill>
                            <a:schemeClr val="dk1"/>
                          </a:solidFill>
                          <a:effectLst/>
                          <a:latin typeface="+mn-lt"/>
                          <a:ea typeface="+mn-ea"/>
                          <a:cs typeface="+mn-cs"/>
                        </a:rPr>
                        <a:t> the contribution of digital entrepreneurship to organizational resilience during financial crises. The connection between digital entrepreneurship and sustainable business models also needs to be looked into further.</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788F694D-73DB-D4C5-159B-B6F1D88EF831}"/>
              </a:ext>
            </a:extLst>
          </p:cNvPr>
          <p:cNvSpPr txBox="1">
            <a:spLocks/>
          </p:cNvSpPr>
          <p:nvPr/>
        </p:nvSpPr>
        <p:spPr>
          <a:xfrm>
            <a:off x="1371600" y="137319"/>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44</a:t>
            </a:r>
          </a:p>
        </p:txBody>
      </p:sp>
    </p:spTree>
    <p:extLst>
      <p:ext uri="{BB962C8B-B14F-4D97-AF65-F5344CB8AC3E}">
        <p14:creationId xmlns:p14="http://schemas.microsoft.com/office/powerpoint/2010/main" val="720399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F7780-B03F-9162-EFB9-2C1C8B0DC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2134C-C275-DBAE-F191-AD31F833882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91837FC-5274-4595-8B87-70F894011ECE}"/>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09F2802C-B607-D010-7D4C-67782EE66E8C}"/>
              </a:ext>
            </a:extLst>
          </p:cNvPr>
          <p:cNvGraphicFramePr>
            <a:graphicFrameLocks noGrp="1"/>
          </p:cNvGraphicFramePr>
          <p:nvPr/>
        </p:nvGraphicFramePr>
        <p:xfrm>
          <a:off x="0" y="365919"/>
          <a:ext cx="9144001" cy="90604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algn="just"/>
                      <a:r>
                        <a:rPr lang="en-GB" sz="1800" b="1" kern="1200" dirty="0">
                          <a:solidFill>
                            <a:schemeClr val="lt1"/>
                          </a:solidFill>
                          <a:effectLst/>
                          <a:latin typeface="+mn-lt"/>
                          <a:ea typeface="+mn-ea"/>
                          <a:cs typeface="+mn-cs"/>
                        </a:rPr>
                        <a:t>Míriam Martín-Martínez, Carlos Vargas-Navarro, Monica Gozun (2020)</a:t>
                      </a:r>
                      <a:endParaRPr lang="en-US" sz="1800" b="0" dirty="0">
                        <a:solidFill>
                          <a:schemeClr val="tx1"/>
                        </a:solidFill>
                        <a:latin typeface="+mn-lt"/>
                      </a:endParaRPr>
                    </a:p>
                  </a:txBody>
                  <a:tcPr marL="68580" marR="68580"/>
                </a:tc>
                <a:extLst>
                  <a:ext uri="{0D108BD9-81ED-4DB2-BD59-A6C34878D82A}">
                    <a16:rowId xmlns:a16="http://schemas.microsoft.com/office/drawing/2014/main" val="10000"/>
                  </a:ext>
                </a:extLst>
              </a:tr>
              <a:tr h="253501">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Innovation, Internationalization, and Business-Model Reconfiguration in SMEs: A Mixed-Method Analysis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Business Research / https://doi.org/10.1016/j.jbusres.2020.03.042</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ambiguous relationship between innovation types, business model reconfiguration, and internationalization performance in SMEs, with specific reference to the interaction between these variables in generating sustainable competitive advantage.</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Mixed-method design involving survey evidence from 234 SMEs and case studies of 7 Spanish firms using fuzzy-set qualitative comparative analysis (</a:t>
                      </a:r>
                      <a:r>
                        <a:rPr lang="en-GB" sz="1800" kern="1200" dirty="0" err="1">
                          <a:solidFill>
                            <a:schemeClr val="dk1"/>
                          </a:solidFill>
                          <a:effectLst/>
                          <a:latin typeface="+mn-lt"/>
                          <a:ea typeface="+mn-ea"/>
                          <a:cs typeface="+mn-cs"/>
                        </a:rPr>
                        <a:t>fsQCA</a:t>
                      </a:r>
                      <a:r>
                        <a:rPr lang="en-GB" sz="1800" kern="1200" dirty="0">
                          <a:solidFill>
                            <a:schemeClr val="dk1"/>
                          </a:solidFill>
                          <a:effectLst/>
                          <a:latin typeface="+mn-lt"/>
                          <a:ea typeface="+mn-ea"/>
                          <a:cs typeface="+mn-cs"/>
                        </a:rPr>
                        <a:t>).</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The research reveals several configurational paths between innovation types (product, process, organizational) and business model components and internationalization success. The findings indicate that successful international SMEs utilize combinations of innovations instead of a single approach, and digitalization is a principal facilitator of business model transformation.</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contributes to configurational theory of SMEs' internationalization by showing equifinality of innovation-led trajectories to success and complementarity between various kinds of innovations in reconfiguration of the business model.</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Research is conducted within the Spanish context and, as such, the applicability to any other institutional settings is in doubt. Temporal business model reconfiguring dynamics of internationalization processes are not comprehensively explored. How particular components of a business model (value proposition, revenue model, etc.) respond to different forms of innovation is something that should be investigated in future research. Moreover, the contribution made by the inter-organizational network to internationalization via innovation should be investigated further, especially among resource-limited SMEs.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E77B8911-C8B8-C44A-A7DB-16FB5B729C5D}"/>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45</a:t>
            </a:r>
          </a:p>
        </p:txBody>
      </p:sp>
    </p:spTree>
    <p:extLst>
      <p:ext uri="{BB962C8B-B14F-4D97-AF65-F5344CB8AC3E}">
        <p14:creationId xmlns:p14="http://schemas.microsoft.com/office/powerpoint/2010/main" val="209101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2A4D0-E843-04F1-33BD-26EE51EC9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7002A-BD07-0F81-E3F4-5A7D532310C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14F0498-7D27-53F0-6DA6-E38E07E79EAE}"/>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6789BA5B-D5F7-73E4-0578-FE6F4EE0FD3A}"/>
              </a:ext>
            </a:extLst>
          </p:cNvPr>
          <p:cNvGraphicFramePr>
            <a:graphicFrameLocks noGrp="1"/>
          </p:cNvGraphicFramePr>
          <p:nvPr>
            <p:extLst>
              <p:ext uri="{D42A27DB-BD31-4B8C-83A1-F6EECF244321}">
                <p14:modId xmlns:p14="http://schemas.microsoft.com/office/powerpoint/2010/main" val="2107894101"/>
              </p:ext>
            </p:extLst>
          </p:nvPr>
        </p:nvGraphicFramePr>
        <p:xfrm>
          <a:off x="0" y="365919"/>
          <a:ext cx="9144001" cy="786731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algn="just"/>
                      <a:r>
                        <a:rPr lang="en-GB" sz="1800" b="1" kern="1200" dirty="0">
                          <a:solidFill>
                            <a:schemeClr val="lt1"/>
                          </a:solidFill>
                          <a:effectLst/>
                          <a:latin typeface="+mn-lt"/>
                          <a:ea typeface="+mn-ea"/>
                          <a:cs typeface="+mn-cs"/>
                        </a:rPr>
                        <a:t>Samuel Adomako, Kevin F. Mole, Franklin N. Opoku Antwi (2021)</a:t>
                      </a:r>
                      <a:endParaRPr lang="en-US" sz="1800" b="0" dirty="0">
                        <a:solidFill>
                          <a:schemeClr val="tx1"/>
                        </a:solidFill>
                        <a:latin typeface="+mn-lt"/>
                      </a:endParaRPr>
                    </a:p>
                  </a:txBody>
                  <a:tcPr marL="68580" marR="68580"/>
                </a:tc>
                <a:extLst>
                  <a:ext uri="{0D108BD9-81ED-4DB2-BD59-A6C34878D82A}">
                    <a16:rowId xmlns:a16="http://schemas.microsoft.com/office/drawing/2014/main" val="10000"/>
                  </a:ext>
                </a:extLst>
              </a:tr>
              <a:tr h="441302">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Entrepreneurial resilience and firm performance under terrorism adversity: The role of political connections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Entrepreneurship &amp; Regional Development / https://doi.org/10.1080/08985626.2021.1938347</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as-yet underexploited relationship between entrepreneurial resilience and firm performance in terrorism-affected environments, precisely how political connections could serve as a mediator in institutional voids.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Longitudinal survey evidence of 212 SMEs in terrorism-affected regions in Kenya and Nigeria at three points in time estimated using hierarchical regression.</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Entrepreneurial resilience significantly affects SME performance in terrorism-affected regions. Political connections were discovered to moderate the impact substantially, enhancing the performance benefits of resilience. The strength, however, depends on the political connection type (formal vs. informal) and institutional environment.</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makes a contribution to entrepreneurial resilience theory by situating it in the backdrop of extreme adversity environments and adding political connections as a boundary condition, and providing implications for how SMEs may leverage non-market approaches in order to enable performance under terrorism threats.</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 highlights research gaps in political ties' ethical implications, anti-terrorism measures in family firms, and technology's role in resilience. It suggests future studies on diverse adversities to enhance contextual understanding of resilience mechanisms in conflict zones.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5584501D-0D0B-039A-3957-C1B68FEE9D3C}"/>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46</a:t>
            </a:r>
          </a:p>
        </p:txBody>
      </p:sp>
    </p:spTree>
    <p:extLst>
      <p:ext uri="{BB962C8B-B14F-4D97-AF65-F5344CB8AC3E}">
        <p14:creationId xmlns:p14="http://schemas.microsoft.com/office/powerpoint/2010/main" val="17444035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C9A3-3F8E-8F89-2F11-43A15E133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17896-4DFE-26E2-D5CA-22AD5517F46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31DAC79-23ED-83FB-3800-D9A3641D3B3F}"/>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3C32ABCB-599E-BDF4-8A1D-413872F44F40}"/>
              </a:ext>
            </a:extLst>
          </p:cNvPr>
          <p:cNvGraphicFramePr>
            <a:graphicFrameLocks noGrp="1"/>
          </p:cNvGraphicFramePr>
          <p:nvPr/>
        </p:nvGraphicFramePr>
        <p:xfrm>
          <a:off x="0" y="365919"/>
          <a:ext cx="9144001" cy="786731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Lester Lloyd-Reason, Atul Mishra, Pablo Muñoz (2020)</a:t>
                      </a:r>
                    </a:p>
                  </a:txBody>
                  <a:tcPr marL="68580" marR="68580"/>
                </a:tc>
                <a:extLst>
                  <a:ext uri="{0D108BD9-81ED-4DB2-BD59-A6C34878D82A}">
                    <a16:rowId xmlns:a16="http://schemas.microsoft.com/office/drawing/2014/main" val="10000"/>
                  </a:ext>
                </a:extLst>
              </a:tr>
              <a:tr h="441302">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Managing the Unexpected: How SMEs Build and Utilize Dynamic Supply Chain Capabilities Under Resource Constraints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International Small Business Journal / https://doi.org/10.1177/0266242620929796</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Lack of clear knowledge of how resource-scarce SMEs build and employ dynamic supply chain capabilities to manage unexpected disruptions, constraining theoretical knowledge and practical advice on small business resilience.</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Multiple case study method investigating 14 UK and Indian manufacturing SMEs pre- and during the first COVID-19 disruption, through interviews, observation, and document analysis.</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SMEs create distinctive "bricolage capabilities" through reconfiguring accessible assets, taking advantage of close supplier relationships, and undertaking adaptive operating changes. Three capability development patterns are outlined: anticipatory (pre-disruption planning), adaptive (immediate crisis response), and transformative (fundamental business model reinventions).</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contributes to dynamic capabilities theory by emphasizing SME-specific processes for supply chain resilience under resource-scarce conditions, challenging the assumption that explicit planning and resource abundance are a precondition to successful crisis recovery.</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The study contributes to dynamic capabilities theory by emphasizing SME-specific processes for supply chain resilience under resource-scarce conditions, challenging the assumption that explicit planning and resource abundance are a precondition to successful crisis recovery.</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C1A1F12B-C9C6-5CF0-C2EB-67D0483FCE82}"/>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47</a:t>
            </a:r>
          </a:p>
        </p:txBody>
      </p:sp>
    </p:spTree>
    <p:extLst>
      <p:ext uri="{BB962C8B-B14F-4D97-AF65-F5344CB8AC3E}">
        <p14:creationId xmlns:p14="http://schemas.microsoft.com/office/powerpoint/2010/main" val="2155934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84A3-45B8-7621-6376-47DAB79CD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9FD86-C432-8167-7FE2-D6AA916568D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BEFCD86-3338-C2AA-3017-151CCB0FCFD8}"/>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E2394D69-5262-AC43-E397-0C2E048C0B81}"/>
              </a:ext>
            </a:extLst>
          </p:cNvPr>
          <p:cNvGraphicFramePr>
            <a:graphicFrameLocks noGrp="1"/>
          </p:cNvGraphicFramePr>
          <p:nvPr>
            <p:extLst>
              <p:ext uri="{D42A27DB-BD31-4B8C-83A1-F6EECF244321}">
                <p14:modId xmlns:p14="http://schemas.microsoft.com/office/powerpoint/2010/main" val="1448447919"/>
              </p:ext>
            </p:extLst>
          </p:nvPr>
        </p:nvGraphicFramePr>
        <p:xfrm>
          <a:off x="0" y="365919"/>
          <a:ext cx="9144001" cy="786731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Vania Sena, Javed Hussain, Scott Decker, Emmanuel Adegbite (2022))</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Inclusive Financial Development and Small Business Growth: Evidence from Minority Entrepreneurs in Urban Areas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Small Business Economics / https://doi.org/10.1007/s11187-021-00587-1</a:t>
                      </a:r>
                      <a:endParaRPr lang="en-US" sz="1800" b="0" dirty="0">
                        <a:solidFill>
                          <a:schemeClr val="tx1"/>
                        </a:solidFill>
                        <a:latin typeface="+mn-lt"/>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long-standing challenges to minority entrepreneurs' access to finance in urban cities and how these challenges influence business growth trends, constraining our knowledge of inclusive financial development.</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Mixed-methods approach using administrative panel data of 1,542 minority-owned SMEs complemented with qualitative in-depth interviews of 45 entrepreneurs and 12 financial intermediaries in UK urban areas.</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The research identifies acuteness in financial inclusion among minority entrepreneurs along lines of ethnicity, gender, and geography. Firms that have enhanced access to alternative finance products exhibit faster growth. Financial programs </a:t>
                      </a:r>
                      <a:r>
                        <a:rPr lang="en-GB" sz="1800" kern="1200" dirty="0" err="1">
                          <a:solidFill>
                            <a:schemeClr val="dk1"/>
                          </a:solidFill>
                          <a:effectLst/>
                          <a:latin typeface="+mn-lt"/>
                          <a:ea typeface="+mn-ea"/>
                          <a:cs typeface="+mn-cs"/>
                        </a:rPr>
                        <a:t>centered</a:t>
                      </a:r>
                      <a:r>
                        <a:rPr lang="en-GB" sz="1800" kern="1200" dirty="0">
                          <a:solidFill>
                            <a:schemeClr val="dk1"/>
                          </a:solidFill>
                          <a:effectLst/>
                          <a:latin typeface="+mn-lt"/>
                          <a:ea typeface="+mn-ea"/>
                          <a:cs typeface="+mn-cs"/>
                        </a:rPr>
                        <a:t> in </a:t>
                      </a:r>
                      <a:r>
                        <a:rPr lang="en-GB" sz="1800" kern="1200" dirty="0" err="1">
                          <a:solidFill>
                            <a:schemeClr val="dk1"/>
                          </a:solidFill>
                          <a:effectLst/>
                          <a:latin typeface="+mn-lt"/>
                          <a:ea typeface="+mn-ea"/>
                          <a:cs typeface="+mn-cs"/>
                        </a:rPr>
                        <a:t>neighborhoods</a:t>
                      </a:r>
                      <a:r>
                        <a:rPr lang="en-GB" sz="1800" kern="1200" dirty="0">
                          <a:solidFill>
                            <a:schemeClr val="dk1"/>
                          </a:solidFill>
                          <a:effectLst/>
                          <a:latin typeface="+mn-lt"/>
                          <a:ea typeface="+mn-ea"/>
                          <a:cs typeface="+mn-cs"/>
                        </a:rPr>
                        <a:t> vow to breach conventional hindrances, whereas digital finance services exhibit mixed impacts based on the digital literacy of entrepreneurs.</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adds to knowledge of inclusive financial development through evidence of the different impacts of financial inclusion programs on different minority entrepreneur groups, contributing to urban entrepreneurship and financial exclusion studies.</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 focuses on UK cities, overlooking rural minority funding and intersectionality in financial inclusion. Future research should compare targeted vs blanket initiatives, explore fintech’s role in minority support, and conduct longitudinal studies on financial inclusion across business lifecycles.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D807EE74-0161-6284-BA9E-70FC9DFC1390}"/>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48</a:t>
            </a:r>
          </a:p>
        </p:txBody>
      </p:sp>
    </p:spTree>
    <p:extLst>
      <p:ext uri="{BB962C8B-B14F-4D97-AF65-F5344CB8AC3E}">
        <p14:creationId xmlns:p14="http://schemas.microsoft.com/office/powerpoint/2010/main" val="2864004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06638-484F-6E33-C66E-F9241A164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94D02-76AD-B2CB-1F26-1041D565688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2B239C6-531C-523C-C5D7-CEC96BCABEB7}"/>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103B4C91-8E99-A580-8080-D0DD5EAF98A1}"/>
              </a:ext>
            </a:extLst>
          </p:cNvPr>
          <p:cNvGraphicFramePr>
            <a:graphicFrameLocks noGrp="1"/>
          </p:cNvGraphicFramePr>
          <p:nvPr>
            <p:extLst>
              <p:ext uri="{D42A27DB-BD31-4B8C-83A1-F6EECF244321}">
                <p14:modId xmlns:p14="http://schemas.microsoft.com/office/powerpoint/2010/main" val="1122823719"/>
              </p:ext>
            </p:extLst>
          </p:nvPr>
        </p:nvGraphicFramePr>
        <p:xfrm>
          <a:off x="0" y="365919"/>
          <a:ext cx="9144001" cy="759299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Christina Theodoraki, Dana </a:t>
                      </a:r>
                      <a:r>
                        <a:rPr lang="en-GB" sz="1800" b="1" kern="1200" dirty="0" err="1">
                          <a:solidFill>
                            <a:schemeClr val="lt1"/>
                          </a:solidFill>
                          <a:effectLst/>
                          <a:latin typeface="+mn-lt"/>
                          <a:ea typeface="+mn-ea"/>
                          <a:cs typeface="+mn-cs"/>
                        </a:rPr>
                        <a:t>Messeghem</a:t>
                      </a:r>
                      <a:r>
                        <a:rPr lang="en-GB" sz="1800" b="1" kern="1200" dirty="0">
                          <a:solidFill>
                            <a:schemeClr val="lt1"/>
                          </a:solidFill>
                          <a:effectLst/>
                          <a:latin typeface="+mn-lt"/>
                          <a:ea typeface="+mn-ea"/>
                          <a:cs typeface="+mn-cs"/>
                        </a:rPr>
                        <a:t>, Etienne St-Jean (2022)</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Network legitimacy and entrepreneurial ecosystem orchestration: How business incubation practices shape the growth trajectories of resource-constrained SMEs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Business Venturing / https://doi.org/10.1016/j.jbusvent.2021.106149</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uncertain mechanisms by which business incubation practices bestow network legitimacy upon resource-constrained SMEs and how this impacts their growth trajectories within entrepreneurial ecosystems.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pPr>
                      <a:r>
                        <a:rPr lang="en-GB" sz="1800" kern="1200" dirty="0">
                          <a:solidFill>
                            <a:schemeClr val="dk1"/>
                          </a:solidFill>
                          <a:effectLst/>
                          <a:latin typeface="+mn-lt"/>
                          <a:ea typeface="+mn-ea"/>
                          <a:cs typeface="+mn-cs"/>
                        </a:rPr>
                        <a:t>30-month longitudinal multiple case study of 26 incubated SMEs in three European business incubators, relying on interviews, observation, and document analysis.</a:t>
                      </a:r>
                      <a:endParaRPr lang="en-US" sz="1800" b="0" i="0" dirty="0">
                        <a:solidFill>
                          <a:schemeClr val="tx1"/>
                        </a:solidFill>
                        <a:latin typeface="+mn-lt"/>
                      </a:endParaRP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Three different paths through which incubation practices transfer network legitimacy are established by the research: institutional bridging, competence </a:t>
                      </a:r>
                      <a:r>
                        <a:rPr lang="en-GB" sz="1800" kern="1200" dirty="0" err="1">
                          <a:solidFill>
                            <a:schemeClr val="dk1"/>
                          </a:solidFill>
                          <a:effectLst/>
                          <a:latin typeface="+mn-lt"/>
                          <a:ea typeface="+mn-ea"/>
                          <a:cs typeface="+mn-cs"/>
                        </a:rPr>
                        <a:t>signaling</a:t>
                      </a:r>
                      <a:r>
                        <a:rPr lang="en-GB" sz="1800" kern="1200" dirty="0">
                          <a:solidFill>
                            <a:schemeClr val="dk1"/>
                          </a:solidFill>
                          <a:effectLst/>
                          <a:latin typeface="+mn-lt"/>
                          <a:ea typeface="+mn-ea"/>
                          <a:cs typeface="+mn-cs"/>
                        </a:rPr>
                        <a:t>, and relational embedding. SMEs pursuing different paths of legitimacy exhibit different growth trajectories, with institutional bridging leading to incremental growth, competence </a:t>
                      </a:r>
                      <a:r>
                        <a:rPr lang="en-GB" sz="1800" kern="1200" dirty="0" err="1">
                          <a:solidFill>
                            <a:schemeClr val="dk1"/>
                          </a:solidFill>
                          <a:effectLst/>
                          <a:latin typeface="+mn-lt"/>
                          <a:ea typeface="+mn-ea"/>
                          <a:cs typeface="+mn-cs"/>
                        </a:rPr>
                        <a:t>signaling</a:t>
                      </a:r>
                      <a:r>
                        <a:rPr lang="en-GB" sz="1800" kern="1200" dirty="0">
                          <a:solidFill>
                            <a:schemeClr val="dk1"/>
                          </a:solidFill>
                          <a:effectLst/>
                          <a:latin typeface="+mn-lt"/>
                          <a:ea typeface="+mn-ea"/>
                          <a:cs typeface="+mn-cs"/>
                        </a:rPr>
                        <a:t> facilitating scaling at a rapid rate, and relational embedding leading to sustainable growth.</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contributes to entrepreneurial ecosystem orchestration by offering mechanisms through which business incubators operate as legitimacy brokers and adding to network theory and entrepreneurial ecosystem literature.</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 lacks quantitative analysis of legitimacy-performance links and offers limited insight on online vs offline incubation. Future research should explore evolving incubation needs, and cross-cultural studies could reveal how institutional contexts impact legitimacy strategies and their effectiveness.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0B5B55D4-53F9-2914-1589-7FEA5C54E463}"/>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49</a:t>
            </a:r>
          </a:p>
        </p:txBody>
      </p:sp>
    </p:spTree>
    <p:extLst>
      <p:ext uri="{BB962C8B-B14F-4D97-AF65-F5344CB8AC3E}">
        <p14:creationId xmlns:p14="http://schemas.microsoft.com/office/powerpoint/2010/main" val="39020482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BD5EE-EE05-DA8A-2181-D3FB6C2CB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502C2-9080-6C85-9727-C73A9F13B18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0CA6355-1DCE-1AD5-04C9-CAE01338022F}"/>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97AF850C-008F-2A82-F2C6-5F4D6888C478}"/>
              </a:ext>
            </a:extLst>
          </p:cNvPr>
          <p:cNvGraphicFramePr>
            <a:graphicFrameLocks noGrp="1"/>
          </p:cNvGraphicFramePr>
          <p:nvPr>
            <p:extLst>
              <p:ext uri="{D42A27DB-BD31-4B8C-83A1-F6EECF244321}">
                <p14:modId xmlns:p14="http://schemas.microsoft.com/office/powerpoint/2010/main" val="188246844"/>
              </p:ext>
            </p:extLst>
          </p:nvPr>
        </p:nvGraphicFramePr>
        <p:xfrm>
          <a:off x="0" y="365919"/>
          <a:ext cx="9144001" cy="7155298"/>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Andrea Rey-Martí, Domingo Ribeiro-Soriano, Daniel Palacios-Marqués (2016)</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A bibliometric analysis of social entrepreneurship</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Business Research / https://doi.org/10.1016/j.jbusres.2015.10.033</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uneven distribution of social entrepreneurship research and absence of a critical perception of its trends of evolution, which hinders detection of research gaps and trends in forthcoming research.</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Bibliometric study of 2,922 social entrepreneurship articles between 1990 and 2015, </a:t>
                      </a:r>
                      <a:r>
                        <a:rPr lang="en-GB" sz="1800" kern="1200" dirty="0" err="1">
                          <a:solidFill>
                            <a:schemeClr val="dk1"/>
                          </a:solidFill>
                          <a:effectLst/>
                          <a:latin typeface="+mn-lt"/>
                          <a:ea typeface="+mn-ea"/>
                          <a:cs typeface="+mn-cs"/>
                        </a:rPr>
                        <a:t>analyzing</a:t>
                      </a:r>
                      <a:r>
                        <a:rPr lang="en-GB" sz="1800" kern="1200" dirty="0">
                          <a:solidFill>
                            <a:schemeClr val="dk1"/>
                          </a:solidFill>
                          <a:effectLst/>
                          <a:latin typeface="+mn-lt"/>
                          <a:ea typeface="+mn-ea"/>
                          <a:cs typeface="+mn-cs"/>
                        </a:rPr>
                        <a:t> citation patterns, co-citation networks, and thematic evolution.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The research identifies five dominant research clusters in social entrepreneurship: theoretical underpinnings, measurement of performance, institutional settings, sustainable development, and innovation capacities. Key knowledge gaps are identified, in analysis, in performance measurement approaches and in institutional setting factors influencing social entrepreneurship outcomes.</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research provides comprehensive mapping of literature in social entrepreneurship and an integrated model for understanding intellectual structure and areas of high impact for future research development.</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research overlooks recent themes like digital social entrepreneurship and platform models, with minimal attention to geographical and disciplinary biases. Future studies should link social entrepreneurship with related fields and adopt innovative, practice-focused research methods to address knowledge gaps.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1BF7C283-2FBF-6D69-8906-57B6A83E07B6}"/>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50</a:t>
            </a:r>
          </a:p>
        </p:txBody>
      </p:sp>
    </p:spTree>
    <p:extLst>
      <p:ext uri="{BB962C8B-B14F-4D97-AF65-F5344CB8AC3E}">
        <p14:creationId xmlns:p14="http://schemas.microsoft.com/office/powerpoint/2010/main" val="34993155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2633-7C04-A998-CFA5-9C75DCDBC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245E1-E749-1A81-BDB6-E768DB1B7556}"/>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26F44E2-A187-D94D-47DF-1F34493C9B5E}"/>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081E755E-13E1-3FA9-F3F5-5FB1B2D00311}"/>
              </a:ext>
            </a:extLst>
          </p:cNvPr>
          <p:cNvGraphicFramePr>
            <a:graphicFrameLocks noGrp="1"/>
          </p:cNvGraphicFramePr>
          <p:nvPr>
            <p:extLst>
              <p:ext uri="{D42A27DB-BD31-4B8C-83A1-F6EECF244321}">
                <p14:modId xmlns:p14="http://schemas.microsoft.com/office/powerpoint/2010/main" val="703145849"/>
              </p:ext>
            </p:extLst>
          </p:nvPr>
        </p:nvGraphicFramePr>
        <p:xfrm>
          <a:off x="0" y="365919"/>
          <a:ext cx="9144001" cy="759299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Helena </a:t>
                      </a:r>
                      <a:r>
                        <a:rPr lang="en-GB" sz="1800" b="1" kern="1200" dirty="0" err="1">
                          <a:solidFill>
                            <a:schemeClr val="lt1"/>
                          </a:solidFill>
                          <a:effectLst/>
                          <a:latin typeface="+mn-lt"/>
                          <a:ea typeface="+mn-ea"/>
                          <a:cs typeface="+mn-cs"/>
                        </a:rPr>
                        <a:t>Halbinger</a:t>
                      </a:r>
                      <a:r>
                        <a:rPr lang="en-GB" sz="1800" b="1" kern="1200" dirty="0">
                          <a:solidFill>
                            <a:schemeClr val="lt1"/>
                          </a:solidFill>
                          <a:effectLst/>
                          <a:latin typeface="+mn-lt"/>
                          <a:ea typeface="+mn-ea"/>
                          <a:cs typeface="+mn-cs"/>
                        </a:rPr>
                        <a:t>, Julian Müller, Martin </a:t>
                      </a:r>
                      <a:r>
                        <a:rPr lang="en-GB" sz="1800" b="1" kern="1200" dirty="0" err="1">
                          <a:solidFill>
                            <a:schemeClr val="lt1"/>
                          </a:solidFill>
                          <a:effectLst/>
                          <a:latin typeface="+mn-lt"/>
                          <a:ea typeface="+mn-ea"/>
                          <a:cs typeface="+mn-cs"/>
                        </a:rPr>
                        <a:t>Hiebl</a:t>
                      </a:r>
                      <a:r>
                        <a:rPr lang="en-GB" sz="1800" b="1" kern="1200" dirty="0">
                          <a:solidFill>
                            <a:schemeClr val="lt1"/>
                          </a:solidFill>
                          <a:effectLst/>
                          <a:latin typeface="+mn-lt"/>
                          <a:ea typeface="+mn-ea"/>
                          <a:cs typeface="+mn-cs"/>
                        </a:rPr>
                        <a:t> (2019)</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Management accounting systems in small and medium-sized enterprises: A systematic literature review and agenda for future research</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Management Control / https://doi.org/10.1007/s00187-019-00282-z</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Disjointed knowledge regarding MAS adoption and use in SMEs, constraining theory development and practical advice on efficient financial management in smaller businesses.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Systematic review of 73 peer-reviewed journal articles between 1990 and 2018 on management accounting systems in SMEs, using thematic content analysis.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pPr algn="just"/>
                      <a:r>
                        <a:rPr lang="en-GB" sz="1800" kern="1200" dirty="0">
                          <a:solidFill>
                            <a:schemeClr val="dk1"/>
                          </a:solidFill>
                          <a:effectLst/>
                          <a:latin typeface="+mn-lt"/>
                          <a:ea typeface="+mn-ea"/>
                          <a:cs typeface="+mn-cs"/>
                        </a:rPr>
                        <a:t>Four are the most prominent themes of MAS adoption studies in SMEs, i.e., adoption drivers, implementation challenges, implications for performance, and patterns of evolution. Formal MAS adoption in SMEs is driven by owner-manager attributes, availability of resources, and external pressures, as per the analysis. Formalization resistance and knowledge constraints are the challenges to implementation.</a:t>
                      </a:r>
                      <a:endParaRPr lang="en-US" sz="1800" b="0" i="0" dirty="0">
                        <a:solidFill>
                          <a:schemeClr val="tx1"/>
                        </a:solidFill>
                        <a:latin typeface="+mn-lt"/>
                      </a:endParaRP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offers a consistent framework of MAS in SMEs, highlighting the necessity for accounting theories that are specifically applicable to SMEs and which recognize the particular features of small firms and their financial management style.</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research offers limited insight into how digitalization affects MAS in SMEs, lacking sector-specific analysis. Future studies should examine MAS sophistication’s link to growth, family influence, external professionals’ roles, and compare MAS use in traditional vs new-style SMEs.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A4174958-25C6-F6AC-A53D-0A74AAFE8EAB}"/>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51</a:t>
            </a:r>
          </a:p>
        </p:txBody>
      </p:sp>
    </p:spTree>
    <p:extLst>
      <p:ext uri="{BB962C8B-B14F-4D97-AF65-F5344CB8AC3E}">
        <p14:creationId xmlns:p14="http://schemas.microsoft.com/office/powerpoint/2010/main" val="26498025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68F51-A4F3-581D-D804-324DD3661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75DAF-4EEF-B7B7-A14A-437FD34596D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00FE39A-0D31-569F-CB84-87D8025DB2FC}"/>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A9C56505-906F-C0DD-5099-27DD84A4046A}"/>
              </a:ext>
            </a:extLst>
          </p:cNvPr>
          <p:cNvGraphicFramePr>
            <a:graphicFrameLocks noGrp="1"/>
          </p:cNvGraphicFramePr>
          <p:nvPr>
            <p:extLst>
              <p:ext uri="{D42A27DB-BD31-4B8C-83A1-F6EECF244321}">
                <p14:modId xmlns:p14="http://schemas.microsoft.com/office/powerpoint/2010/main" val="1884763575"/>
              </p:ext>
            </p:extLst>
          </p:nvPr>
        </p:nvGraphicFramePr>
        <p:xfrm>
          <a:off x="0" y="365919"/>
          <a:ext cx="9144001" cy="786731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Emily Barlow, Nathaniel Boso, Garth Riddell, Pratima </a:t>
                      </a:r>
                      <a:r>
                        <a:rPr lang="en-GB" sz="1800" b="1" kern="1200" dirty="0" err="1">
                          <a:solidFill>
                            <a:schemeClr val="lt1"/>
                          </a:solidFill>
                          <a:effectLst/>
                          <a:latin typeface="+mn-lt"/>
                          <a:ea typeface="+mn-ea"/>
                          <a:cs typeface="+mn-cs"/>
                        </a:rPr>
                        <a:t>Sambamurthy</a:t>
                      </a:r>
                      <a:r>
                        <a:rPr lang="en-GB" sz="1800" b="1" kern="1200" dirty="0">
                          <a:solidFill>
                            <a:schemeClr val="lt1"/>
                          </a:solidFill>
                          <a:effectLst/>
                          <a:latin typeface="+mn-lt"/>
                          <a:ea typeface="+mn-ea"/>
                          <a:cs typeface="+mn-cs"/>
                        </a:rPr>
                        <a:t> (2023)</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Digital Transformation in SMEs: The Role of Digital Ecosystem Engagement and Dynamic Managerial Capabilities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Strategic Entrepreneurship Journal / https://doi.org/10.1002/sej.1428</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Lack of understanding how small and medium-sized enterprises are able to execute digital transformation appropriately, particularly in the relationship between external ecosystem engagement and internal managerial capabilities.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Mixed-method study that included survey responses from 342 SMEs in different industries and 28 semi-structured interviews with SME leaders currently spearheading digital transformation efforts.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It is found through the study that effective digital transformation in SMEs is contingent on the interaction of three factors: depth of digital ecosystem involvement, dynamic managerial capabilities (i.e., digital cognition), and organizational learning mechanisms. SMEs which strategically involve themselves in digital ecosystems while cultivating complementary internal capabilities deliver better transformation outcomes.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is a contribution to digital transformation theory as it provides the "ecosystem-capability alignment" in SMEs, showing how external involvement and internal capability need to change in parallel to have effective digital transformation results.</a:t>
                      </a:r>
                    </a:p>
                  </a:txBody>
                  <a:tcPr marL="68580" marR="68580"/>
                </a:tc>
                <a:extLst>
                  <a:ext uri="{0D108BD9-81ED-4DB2-BD59-A6C34878D82A}">
                    <a16:rowId xmlns:a16="http://schemas.microsoft.com/office/drawing/2014/main" val="10006"/>
                  </a:ext>
                </a:extLst>
              </a:tr>
              <a:tr h="68021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research lacks longitudinal analysis of digital transformation in SMEs and overlooks failed initiatives. Future studies should assess its impact on culture, employee welfare, crisis resilience, and post-acquisition competency transfer, while exploring industry-specific transformation trajectories in greater depth.</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5F6DA689-978E-F3B2-6750-76C4D65FA044}"/>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52</a:t>
            </a:r>
          </a:p>
        </p:txBody>
      </p:sp>
    </p:spTree>
    <p:extLst>
      <p:ext uri="{BB962C8B-B14F-4D97-AF65-F5344CB8AC3E}">
        <p14:creationId xmlns:p14="http://schemas.microsoft.com/office/powerpoint/2010/main" val="32689564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41E2E-1784-C375-7775-CA9EA603D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31456-D46E-7B18-F1E2-A64D55D4A55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C9FB405-6D4B-40E3-6A1C-E471D780CB1E}"/>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8E57DFF8-1243-0BDD-7CE8-916A46F7C63C}"/>
              </a:ext>
            </a:extLst>
          </p:cNvPr>
          <p:cNvGraphicFramePr>
            <a:graphicFrameLocks noGrp="1"/>
          </p:cNvGraphicFramePr>
          <p:nvPr>
            <p:extLst>
              <p:ext uri="{D42A27DB-BD31-4B8C-83A1-F6EECF244321}">
                <p14:modId xmlns:p14="http://schemas.microsoft.com/office/powerpoint/2010/main" val="1957988314"/>
              </p:ext>
            </p:extLst>
          </p:nvPr>
        </p:nvGraphicFramePr>
        <p:xfrm>
          <a:off x="0" y="365919"/>
          <a:ext cx="9144001" cy="8160812"/>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Hao Khanh Lin, Elias </a:t>
                      </a:r>
                      <a:r>
                        <a:rPr lang="en-GB" sz="1800" b="1" kern="1200" dirty="0" err="1">
                          <a:solidFill>
                            <a:schemeClr val="lt1"/>
                          </a:solidFill>
                          <a:effectLst/>
                          <a:latin typeface="+mn-lt"/>
                          <a:ea typeface="+mn-ea"/>
                          <a:cs typeface="+mn-cs"/>
                        </a:rPr>
                        <a:t>Carayannis</a:t>
                      </a:r>
                      <a:r>
                        <a:rPr lang="en-GB" sz="1800" b="1" kern="1200" dirty="0">
                          <a:solidFill>
                            <a:schemeClr val="lt1"/>
                          </a:solidFill>
                          <a:effectLst/>
                          <a:latin typeface="+mn-lt"/>
                          <a:ea typeface="+mn-ea"/>
                          <a:cs typeface="+mn-cs"/>
                        </a:rPr>
                        <a:t>, Dirk Meissner (2021)</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Knowledge-Intensive Entrepreneurship and Innovation Ecosystems: Evidence from the Global South</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Technological Forecasting and Social Change / https://doi.org/10.1016/j.techfore.2021.120961</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Lack of sufficient knowledge on how knowledge-intensive entrepreneurship arises and develops in innovation ecosystems of emerging economies, constraining theoretical as well as policy interventions.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Comparative case study examination of 64 knowledge-intensive SMEs in Vietnam, Thailand, Brazil, and South Africa, through interviews, field observation, and archival data over three years.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research finds unique patterns of knowledge-intensive entrepreneurship in emerging economies, with hybrid innovation strategies of local knowledge adaptation and technological leapfrogging. Companies navigate institutional voids through informal knowledge networks, niche innovation intermediaries, and strategically managed partnerships with global knowledge clusters.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enriches innovation ecosystem theory by describing unique patterns of knowledge-intensive entrepreneurship evolution in emerging economies, challenging Western-centric models and highlighting new avenues of innovation-led entrepreneurship.</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 overlooks how knowledge-intensive entrepreneurship drives socioeconomic development and lacks analysis of supportive policies in emerging economies. Future research should explore knowledge spillovers, online and diaspora networks’ roles in knowledge transfer, and track ecosystem evolution through longitudinal studies.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7668F1F3-C3B1-9D17-C8C1-F0DC8EA339C4}"/>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53</a:t>
            </a:r>
          </a:p>
        </p:txBody>
      </p:sp>
    </p:spTree>
    <p:extLst>
      <p:ext uri="{BB962C8B-B14F-4D97-AF65-F5344CB8AC3E}">
        <p14:creationId xmlns:p14="http://schemas.microsoft.com/office/powerpoint/2010/main" val="21330860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9301-66F0-A363-4675-ECE7A21DC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7139A-CDCC-52DE-E829-F3072189939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A4CC99E-E217-0BB2-19B3-D922A720D216}"/>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A8BD97AB-4947-7688-2FEF-24840F5A6C59}"/>
              </a:ext>
            </a:extLst>
          </p:cNvPr>
          <p:cNvGraphicFramePr>
            <a:graphicFrameLocks noGrp="1"/>
          </p:cNvGraphicFramePr>
          <p:nvPr>
            <p:extLst>
              <p:ext uri="{D42A27DB-BD31-4B8C-83A1-F6EECF244321}">
                <p14:modId xmlns:p14="http://schemas.microsoft.com/office/powerpoint/2010/main" val="2946445937"/>
              </p:ext>
            </p:extLst>
          </p:nvPr>
        </p:nvGraphicFramePr>
        <p:xfrm>
          <a:off x="0" y="365919"/>
          <a:ext cx="9144001" cy="814163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Sarah Wright, Thang Le, Mei Ling Wong (2021)</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Social Media, Market Orientation and Business Performance in Transitioning Economy SMEs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International Small Business Journal / https://doi.org/10.1177/0266242620988348</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inadequate understanding of how SMEs in transitioning economies leverage social media to enhance market orientation and business performance, particularly given resource constraints and institutional limitations.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Survey data from 423 SMEs in Vietnam, </a:t>
                      </a:r>
                      <a:r>
                        <a:rPr lang="en-GB" sz="1800" kern="1200" dirty="0" err="1">
                          <a:solidFill>
                            <a:schemeClr val="dk1"/>
                          </a:solidFill>
                          <a:effectLst/>
                          <a:latin typeface="+mn-lt"/>
                          <a:ea typeface="+mn-ea"/>
                          <a:cs typeface="+mn-cs"/>
                        </a:rPr>
                        <a:t>analyzed</a:t>
                      </a:r>
                      <a:r>
                        <a:rPr lang="en-GB" sz="1800" kern="1200" dirty="0">
                          <a:solidFill>
                            <a:schemeClr val="dk1"/>
                          </a:solidFill>
                          <a:effectLst/>
                          <a:latin typeface="+mn-lt"/>
                          <a:ea typeface="+mn-ea"/>
                          <a:cs typeface="+mn-cs"/>
                        </a:rPr>
                        <a:t> through partial least squares structural equation </a:t>
                      </a:r>
                      <a:r>
                        <a:rPr lang="en-GB" sz="1800" kern="1200" dirty="0" err="1">
                          <a:solidFill>
                            <a:schemeClr val="dk1"/>
                          </a:solidFill>
                          <a:effectLst/>
                          <a:latin typeface="+mn-lt"/>
                          <a:ea typeface="+mn-ea"/>
                          <a:cs typeface="+mn-cs"/>
                        </a:rPr>
                        <a:t>modeling</a:t>
                      </a:r>
                      <a:r>
                        <a:rPr lang="en-GB" sz="1800" kern="1200" dirty="0">
                          <a:solidFill>
                            <a:schemeClr val="dk1"/>
                          </a:solidFill>
                          <a:effectLst/>
                          <a:latin typeface="+mn-lt"/>
                          <a:ea typeface="+mn-ea"/>
                          <a:cs typeface="+mn-cs"/>
                        </a:rPr>
                        <a:t> (PLS-SEM), supplemented by follow-up interviews with 12 SME owners.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study reveals that social media utilization positively influences both responsive and proactive market orientation in transitioning economy SMEs. However, this relationship is moderated by digital literacy, business networking capability, and institutional support. The performance impact of market orientation is amplified when firms effectively integrate social media insights into strategic decision-making processes.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research extends market orientation theory by demonstrating how social media transforms market intelligence generation, dissemination, and responsiveness in resource-constrained transitioning economy contexts, offering a nuanced understanding of digital-enabled market orientation.</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study’s focus on Vietnam limits generalizability, and it overlooks social media’s negative effects on market intelligence. Future research should examine platform-specific impacts on market orientation, lifecycle evolution, integration of traditional and digital approaches, and analytics use in resource-limited firms.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D10E7676-29F3-766B-AF1E-E9F127793ACB}"/>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54</a:t>
            </a:r>
          </a:p>
        </p:txBody>
      </p:sp>
    </p:spTree>
    <p:extLst>
      <p:ext uri="{BB962C8B-B14F-4D97-AF65-F5344CB8AC3E}">
        <p14:creationId xmlns:p14="http://schemas.microsoft.com/office/powerpoint/2010/main" val="22854463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FDED6-68B9-F63D-41D1-28580BB21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974E1-2C1E-0CF3-B993-22BE0495E27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7BFEBD2-CC46-CF87-3429-1010A26B43ED}"/>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F85FE010-92B5-6C64-B061-D521C34AA67D}"/>
              </a:ext>
            </a:extLst>
          </p:cNvPr>
          <p:cNvGraphicFramePr>
            <a:graphicFrameLocks noGrp="1"/>
          </p:cNvGraphicFramePr>
          <p:nvPr>
            <p:extLst>
              <p:ext uri="{D42A27DB-BD31-4B8C-83A1-F6EECF244321}">
                <p14:modId xmlns:p14="http://schemas.microsoft.com/office/powerpoint/2010/main" val="841763579"/>
              </p:ext>
            </p:extLst>
          </p:nvPr>
        </p:nvGraphicFramePr>
        <p:xfrm>
          <a:off x="0" y="365919"/>
          <a:ext cx="9144001" cy="827175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Lundberg-</a:t>
                      </a:r>
                      <a:r>
                        <a:rPr lang="en-GB" sz="1800" b="1" kern="1200" dirty="0" err="1">
                          <a:solidFill>
                            <a:schemeClr val="lt1"/>
                          </a:solidFill>
                          <a:effectLst/>
                          <a:latin typeface="+mn-lt"/>
                          <a:ea typeface="+mn-ea"/>
                          <a:cs typeface="+mn-cs"/>
                        </a:rPr>
                        <a:t>Willén</a:t>
                      </a:r>
                      <a:r>
                        <a:rPr lang="en-GB" sz="1800" b="1" kern="1200" dirty="0">
                          <a:solidFill>
                            <a:schemeClr val="lt1"/>
                          </a:solidFill>
                          <a:effectLst/>
                          <a:latin typeface="+mn-lt"/>
                          <a:ea typeface="+mn-ea"/>
                          <a:cs typeface="+mn-cs"/>
                        </a:rPr>
                        <a:t>, N., Korsgaard, S., &amp; </a:t>
                      </a:r>
                      <a:r>
                        <a:rPr lang="en-GB" sz="1800" b="1" kern="1200" dirty="0" err="1">
                          <a:solidFill>
                            <a:schemeClr val="lt1"/>
                          </a:solidFill>
                          <a:effectLst/>
                          <a:latin typeface="+mn-lt"/>
                          <a:ea typeface="+mn-ea"/>
                          <a:cs typeface="+mn-cs"/>
                        </a:rPr>
                        <a:t>Achtenhagen</a:t>
                      </a:r>
                      <a:r>
                        <a:rPr lang="en-GB" sz="1800" b="1" kern="1200" dirty="0">
                          <a:solidFill>
                            <a:schemeClr val="lt1"/>
                          </a:solidFill>
                          <a:effectLst/>
                          <a:latin typeface="+mn-lt"/>
                          <a:ea typeface="+mn-ea"/>
                          <a:cs typeface="+mn-cs"/>
                        </a:rPr>
                        <a:t>, L. (2020)</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The Rural Roots of Sustainable Entrepreneurship</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Entrepreneurship &amp; Regional Development / https://doi.org/10.1080/08985626.2020.1761861</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Rural bias in sustainable entrepreneurship research and little is known about how rural contexts shape sustainability-oriented business models and strategies in SMEs.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Qualitative comparative case study of 16 Scandinavian rural sustainable SMEs through interviews, observations, and archival data </a:t>
                      </a:r>
                      <a:r>
                        <a:rPr lang="en-GB" sz="1800" kern="1200" dirty="0" err="1">
                          <a:solidFill>
                            <a:schemeClr val="dk1"/>
                          </a:solidFill>
                          <a:effectLst/>
                          <a:latin typeface="+mn-lt"/>
                          <a:ea typeface="+mn-ea"/>
                          <a:cs typeface="+mn-cs"/>
                        </a:rPr>
                        <a:t>analyzed</a:t>
                      </a:r>
                      <a:r>
                        <a:rPr lang="en-GB" sz="1800" kern="1200" dirty="0">
                          <a:solidFill>
                            <a:schemeClr val="dk1"/>
                          </a:solidFill>
                          <a:effectLst/>
                          <a:latin typeface="+mn-lt"/>
                          <a:ea typeface="+mn-ea"/>
                          <a:cs typeface="+mn-cs"/>
                        </a:rPr>
                        <a:t> using grounded theory techniques.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research finds unique patterns of "embedded sustainability" in rural SMEs where sustainable practices arise organically from place-specific knowledge, limited resources, and community embeddedness instead of a deliberate strategy to sustainability. Rural sustainable companies create proprietary value-creation strategies based on resource circularity, multi-functionality, and slow growth paths.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resists prevailing city-centric discourses of sustainable entrepreneurship by documenting diverse rural trajectories, adding to entrepreneurial space theories, and advancing spatial understanding of context-dependent sustainability practices.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 is limited to the Scandinavian context, neglecting rural sustainable entrepreneurship in emerging economies. Future research should explore tech-driven rural opportunities, compare traditional and modern sustainability approaches, examine urban-to-rural knowledge transfer, and conduct longitudinal studies on scaling sustainability practices.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E1758CD4-E055-02DA-C062-45A1B883E9FE}"/>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55</a:t>
            </a:r>
          </a:p>
        </p:txBody>
      </p:sp>
    </p:spTree>
    <p:extLst>
      <p:ext uri="{BB962C8B-B14F-4D97-AF65-F5344CB8AC3E}">
        <p14:creationId xmlns:p14="http://schemas.microsoft.com/office/powerpoint/2010/main" val="5955058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5D6FB-FCDA-3DEB-D326-DBE12F8A7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76189-0A36-B600-A0C9-CC21645810D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298AFDC-9E8B-D377-0944-88FB087CD960}"/>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88BA395F-B939-A82E-E578-036F5F7A8682}"/>
              </a:ext>
            </a:extLst>
          </p:cNvPr>
          <p:cNvGraphicFramePr>
            <a:graphicFrameLocks noGrp="1"/>
          </p:cNvGraphicFramePr>
          <p:nvPr>
            <p:extLst>
              <p:ext uri="{D42A27DB-BD31-4B8C-83A1-F6EECF244321}">
                <p14:modId xmlns:p14="http://schemas.microsoft.com/office/powerpoint/2010/main" val="3088497164"/>
              </p:ext>
            </p:extLst>
          </p:nvPr>
        </p:nvGraphicFramePr>
        <p:xfrm>
          <a:off x="0" y="365919"/>
          <a:ext cx="9144001" cy="7886492"/>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Diana Christensen, Shaker Zahra, Roberto Moreno-Sanchez (2021)</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Family Business Resilience in Adversity: The Role of Socioemotional Wealth and Dynamic Capabilities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Family Business Review / https://doi.org/10.1177/0894486520962046</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Little is known about how family businesses leverage socioemotional wealth (SEW) to build resilience in adversity, and specifically, the driving forces of SEW dimensions towards dynamic capability construction.</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Longitudinal multiple case study of 11 Spanish family-controlled SMEs during pre, during, and post-economic crisis periods (2008-2018) based on interviews, archive records, and financial performance indicators.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research presents both enabling and constraining SEW effects on family business resilience. While family control and recognition boost commitment to crises, they may also limit required strategic adaptations. Family firms that possess "balanced dynamic capabilities" that adjust to both business and family demands show better resilience outcomes.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research adds to family business theory through the revelation of the dual character of socioemotional wealth during crisis and the tracing of capability configurations that enhance family business resilience without compromising family values.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research focuses on Spanish family firms, leaving cultural impacts on SEW unclear. It lacks insight into governance and resilience building. Future studies should examine intergenerational strategies, digitalization’s role in SEW preservation, non-family managers’ contributions, and compare family vs non-family SME resilience.</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1007C693-209C-AF25-1C99-81E137D9C7D0}"/>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56</a:t>
            </a:r>
          </a:p>
        </p:txBody>
      </p:sp>
    </p:spTree>
    <p:extLst>
      <p:ext uri="{BB962C8B-B14F-4D97-AF65-F5344CB8AC3E}">
        <p14:creationId xmlns:p14="http://schemas.microsoft.com/office/powerpoint/2010/main" val="5771605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5F6DD-BCA8-8DA2-29B4-A60D54FFE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C0ADF-1CB6-ABD9-B78A-725507BAE08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6A2EFA8-4EA8-9C25-794D-3583946C5D4C}"/>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93A7D468-0FE4-8D7E-6FAA-439674A0C349}"/>
              </a:ext>
            </a:extLst>
          </p:cNvPr>
          <p:cNvGraphicFramePr>
            <a:graphicFrameLocks noGrp="1"/>
          </p:cNvGraphicFramePr>
          <p:nvPr>
            <p:extLst>
              <p:ext uri="{D42A27DB-BD31-4B8C-83A1-F6EECF244321}">
                <p14:modId xmlns:p14="http://schemas.microsoft.com/office/powerpoint/2010/main" val="2374729969"/>
              </p:ext>
            </p:extLst>
          </p:nvPr>
        </p:nvGraphicFramePr>
        <p:xfrm>
          <a:off x="0" y="365919"/>
          <a:ext cx="9144001" cy="8435132"/>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Sofia </a:t>
                      </a:r>
                      <a:r>
                        <a:rPr lang="en-GB" sz="1800" b="1" kern="1200" dirty="0" err="1">
                          <a:solidFill>
                            <a:schemeClr val="lt1"/>
                          </a:solidFill>
                          <a:effectLst/>
                          <a:latin typeface="+mn-lt"/>
                          <a:ea typeface="+mn-ea"/>
                          <a:cs typeface="+mn-cs"/>
                        </a:rPr>
                        <a:t>Kotsiri</a:t>
                      </a:r>
                      <a:r>
                        <a:rPr lang="en-GB" sz="1800" b="1" kern="1200" dirty="0">
                          <a:solidFill>
                            <a:schemeClr val="lt1"/>
                          </a:solidFill>
                          <a:effectLst/>
                          <a:latin typeface="+mn-lt"/>
                          <a:ea typeface="+mn-ea"/>
                          <a:cs typeface="+mn-cs"/>
                        </a:rPr>
                        <a:t>, Leah Xu, David Deakins (2019)</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SME International Performance in Latin America: The Role of Entrepreneurial and Technological Capabilities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Small Business and Enterprise Development / https://doi.org/10.1108/JSBED-04-2018-0133</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There is limited insight into how Latin American emerging market SMEs construct and use capabilities for successful internationalization, that is, how entrepreneurial and technological capabilities relate.</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Quantitative analysis using structured questionnaires from 389 Brazilian, Chilean, and Mexican internationalizing SMEs using structural equation </a:t>
                      </a:r>
                      <a:r>
                        <a:rPr lang="en-GB" sz="1800" kern="1200" dirty="0" err="1">
                          <a:solidFill>
                            <a:schemeClr val="dk1"/>
                          </a:solidFill>
                          <a:effectLst/>
                          <a:latin typeface="+mn-lt"/>
                          <a:ea typeface="+mn-ea"/>
                          <a:cs typeface="+mn-cs"/>
                        </a:rPr>
                        <a:t>modeling</a:t>
                      </a:r>
                      <a:r>
                        <a:rPr lang="en-GB" sz="1800" kern="1200" dirty="0">
                          <a:solidFill>
                            <a:schemeClr val="dk1"/>
                          </a:solidFill>
                          <a:effectLst/>
                          <a:latin typeface="+mn-lt"/>
                          <a:ea typeface="+mn-ea"/>
                          <a:cs typeface="+mn-cs"/>
                        </a:rPr>
                        <a:t> to </a:t>
                      </a:r>
                      <a:r>
                        <a:rPr lang="en-GB" sz="1800" kern="1200" dirty="0" err="1">
                          <a:solidFill>
                            <a:schemeClr val="dk1"/>
                          </a:solidFill>
                          <a:effectLst/>
                          <a:latin typeface="+mn-lt"/>
                          <a:ea typeface="+mn-ea"/>
                          <a:cs typeface="+mn-cs"/>
                        </a:rPr>
                        <a:t>analyze</a:t>
                      </a:r>
                      <a:r>
                        <a:rPr lang="en-GB" sz="1800" kern="1200" dirty="0">
                          <a:solidFill>
                            <a:schemeClr val="dk1"/>
                          </a:solidFill>
                          <a:effectLst/>
                          <a:latin typeface="+mn-lt"/>
                          <a:ea typeface="+mn-ea"/>
                          <a:cs typeface="+mn-cs"/>
                        </a:rPr>
                        <a:t> data.</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It is established in the study that technological capabilities have a more direct effect on international performance than entrepreneurial capabilities for Latin American SMEs. Yet, entrepreneurial capabilities play key roles in building technological capability. Export intensity has a positive relation with performance only when companies have high absorptive capacity to acquire international market knowledge.</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makes a contribution to internationalization theory by identifying unique capability configurations in Latin American SMEs, which disobey dominant assumptions from developed market contexts and emphasize the pivotal role of absorptive capacity in emerging market internationalization.</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There is a lack of longitudinal research on how capabilities evolve during internationalization. Future studies should examine the role of regional trade agreements, institutional differences, knowledge transfer mechanisms, and industry-specific factors in shaping internationalization capabilities and priorities.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02DBB576-6FA8-D983-BAD5-0B7386F27B9B}"/>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57</a:t>
            </a:r>
          </a:p>
        </p:txBody>
      </p:sp>
    </p:spTree>
    <p:extLst>
      <p:ext uri="{BB962C8B-B14F-4D97-AF65-F5344CB8AC3E}">
        <p14:creationId xmlns:p14="http://schemas.microsoft.com/office/powerpoint/2010/main" val="3230699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AD225-0EB5-D081-1934-79A928314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1CBF9-5309-A627-3E62-BBC9B21EE58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861B713-1BEC-49D4-1DAC-90BEDC5F6CBC}"/>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7225708B-1F0D-5CB4-9B4D-F50A3CF2F214}"/>
              </a:ext>
            </a:extLst>
          </p:cNvPr>
          <p:cNvGraphicFramePr>
            <a:graphicFrameLocks noGrp="1"/>
          </p:cNvGraphicFramePr>
          <p:nvPr>
            <p:extLst>
              <p:ext uri="{D42A27DB-BD31-4B8C-83A1-F6EECF244321}">
                <p14:modId xmlns:p14="http://schemas.microsoft.com/office/powerpoint/2010/main" val="1510104578"/>
              </p:ext>
            </p:extLst>
          </p:nvPr>
        </p:nvGraphicFramePr>
        <p:xfrm>
          <a:off x="10886" y="362857"/>
          <a:ext cx="9144001" cy="8160812"/>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Robert Blackburn, Piers Thompson, Isaac Quaye (2017)</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Small business resilience in turbulent environments: A resource-based perspective</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International Journal of Entrepreneurial </a:t>
                      </a:r>
                      <a:r>
                        <a:rPr lang="en-GB" sz="1800" kern="1200" dirty="0" err="1">
                          <a:solidFill>
                            <a:schemeClr val="dk1"/>
                          </a:solidFill>
                          <a:effectLst/>
                          <a:latin typeface="+mn-lt"/>
                          <a:ea typeface="+mn-ea"/>
                          <a:cs typeface="+mn-cs"/>
                        </a:rPr>
                        <a:t>Behavior</a:t>
                      </a:r>
                      <a:r>
                        <a:rPr lang="en-GB" sz="1800" kern="1200" dirty="0">
                          <a:solidFill>
                            <a:schemeClr val="dk1"/>
                          </a:solidFill>
                          <a:effectLst/>
                          <a:latin typeface="+mn-lt"/>
                          <a:ea typeface="+mn-ea"/>
                          <a:cs typeface="+mn-cs"/>
                        </a:rPr>
                        <a:t> &amp; Research / https://doi.org/10.1108/IJEBR-12-2016-0430</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poor comprehension of how small firms develop resilience in turbulent environments based on limited bases of resources, notably what resources are most important for survival and bounce-back.</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Mixed-method approach combining survey data from 782 small businesses with 30 in-depth case studies across manufacturing and service sectors in the UK during post-recession periods.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According to resource portfolios, the research determines distinct configurations of resilience. High social capital and adaptive organizational configurations in small businesses exhibit greater adaptive capacity despite financial deficiencies. Strategic resilience is a result of orchestrating intangible and tangible resources instead of resource surpluses.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research adds to resource-based theory by demonstrating how small businesses utilize resource orchestration rather than resource ownership to build resilience, contradicting conventional wisdom regarding the relationship between resource constraints and vulnerability.</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research is limited to UK contexts during specific economic turmoil periods and lacks insight into how digital resources enhance resilience. Future studies could explore business lifecycles, resilience transfer across crises, the negative impact of over-resilience, and compare resilience approaches between novice and experienced entrepreneurs.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5DE1266A-DF69-D691-EFA4-7961D33FD23E}"/>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58</a:t>
            </a:r>
          </a:p>
        </p:txBody>
      </p:sp>
    </p:spTree>
    <p:extLst>
      <p:ext uri="{BB962C8B-B14F-4D97-AF65-F5344CB8AC3E}">
        <p14:creationId xmlns:p14="http://schemas.microsoft.com/office/powerpoint/2010/main" val="4271167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3624F-EAED-AE44-5B32-A375725C7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C2F87-5D6D-3F7B-73AB-94A7CD44A7B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13D53F8-D3DE-D1CA-FCDC-0B2A3DB88F8A}"/>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6DE55ACE-ED8F-51DE-D52A-356A3DEB480F}"/>
              </a:ext>
            </a:extLst>
          </p:cNvPr>
          <p:cNvGraphicFramePr>
            <a:graphicFrameLocks noGrp="1"/>
          </p:cNvGraphicFramePr>
          <p:nvPr>
            <p:extLst>
              <p:ext uri="{D42A27DB-BD31-4B8C-83A1-F6EECF244321}">
                <p14:modId xmlns:p14="http://schemas.microsoft.com/office/powerpoint/2010/main" val="3259769595"/>
              </p:ext>
            </p:extLst>
          </p:nvPr>
        </p:nvGraphicFramePr>
        <p:xfrm>
          <a:off x="10886" y="362857"/>
          <a:ext cx="9144001" cy="8747806"/>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lt1"/>
                          </a:solidFill>
                          <a:effectLst/>
                          <a:latin typeface="+mn-lt"/>
                          <a:ea typeface="+mn-ea"/>
                          <a:cs typeface="+mn-cs"/>
                        </a:rPr>
                        <a:t>Mariusz </a:t>
                      </a:r>
                      <a:r>
                        <a:rPr lang="en-GB" sz="1800" b="1" kern="1200" dirty="0" err="1">
                          <a:solidFill>
                            <a:schemeClr val="lt1"/>
                          </a:solidFill>
                          <a:effectLst/>
                          <a:latin typeface="+mn-lt"/>
                          <a:ea typeface="+mn-ea"/>
                          <a:cs typeface="+mn-cs"/>
                        </a:rPr>
                        <a:t>Urbański</a:t>
                      </a:r>
                      <a:r>
                        <a:rPr lang="en-GB" sz="1800" b="1" kern="1200" dirty="0">
                          <a:solidFill>
                            <a:schemeClr val="lt1"/>
                          </a:solidFill>
                          <a:effectLst/>
                          <a:latin typeface="+mn-lt"/>
                          <a:ea typeface="+mn-ea"/>
                          <a:cs typeface="+mn-cs"/>
                        </a:rPr>
                        <a:t>, Ahmed Hammad, Ayman Cheikh (2020)</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Small and Medium Enterprises Sustainability Assessment: A Management Approach Using Big Data</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Sustainability / https://doi.org/10.3390/su12093412</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algn="just"/>
                      <a:r>
                        <a:rPr lang="en-GB" sz="1800" kern="1200" dirty="0">
                          <a:solidFill>
                            <a:schemeClr val="dk1"/>
                          </a:solidFill>
                          <a:effectLst/>
                          <a:latin typeface="+mn-lt"/>
                          <a:ea typeface="+mn-ea"/>
                          <a:cs typeface="+mn-cs"/>
                        </a:rPr>
                        <a:t>The absence of applied frameworks for evaluating SME sustainability performance based on big data analytics, restraining the capacity of SMEs to quantify and enhance their sustainability programs.</a:t>
                      </a:r>
                      <a:endParaRPr lang="en-US" sz="1800" b="0" dirty="0">
                        <a:solidFill>
                          <a:schemeClr val="tx1"/>
                        </a:solidFill>
                        <a:latin typeface="+mn-lt"/>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Mixed-method approach that integrates the creation of a sustainability assessment framework with validation through 124 SME case applications across manufacturing industries in Poland, Egypt, and Morocco.</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study develops and validates a comprehensive SME sustainability assessment framework incorporating environmental, social, economic, and governance dimensions. Results demonstrate that simplified big data analytics tools enable SMEs to overcome resource constraints in sustainability measurement, with particular benefits in identifying operational inefficiencies and strengthening stakeholder trust.</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research advances sustainability measurement theory by developing an SME-specific assessment approach that balances comprehensiveness with practical applicability, contributing to both sustainability management literature and SME performance measurement.</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 focuses on manufacturing sectors, neglecting the sustainability assessment needs of the service sector. It also lacks analysis of how these practices impact strategic decision-making in SMEs. Future research should examine the link between sustainability assessment sophistication and financial performance, explore evolving assessment frameworks, consider industry standards, and investigate the integration of traditional and big data-based sustainability measurements for better implementation strategies.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72C2655B-C0F4-CD5D-5DE7-E64D4AA56F24}"/>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59</a:t>
            </a:r>
          </a:p>
        </p:txBody>
      </p:sp>
    </p:spTree>
    <p:extLst>
      <p:ext uri="{BB962C8B-B14F-4D97-AF65-F5344CB8AC3E}">
        <p14:creationId xmlns:p14="http://schemas.microsoft.com/office/powerpoint/2010/main" val="12658353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76176-81CE-1310-5F0E-2D4D87A2B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CDF67-DD64-8625-32C6-CA92219FDB4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39D257D-E42C-7206-5E56-3E043E52016B}"/>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A7454B1B-93DD-1E1A-F926-4ED2F08298EF}"/>
              </a:ext>
            </a:extLst>
          </p:cNvPr>
          <p:cNvGraphicFramePr>
            <a:graphicFrameLocks noGrp="1"/>
          </p:cNvGraphicFramePr>
          <p:nvPr>
            <p:extLst>
              <p:ext uri="{D42A27DB-BD31-4B8C-83A1-F6EECF244321}">
                <p14:modId xmlns:p14="http://schemas.microsoft.com/office/powerpoint/2010/main" val="1495917053"/>
              </p:ext>
            </p:extLst>
          </p:nvPr>
        </p:nvGraphicFramePr>
        <p:xfrm>
          <a:off x="10886" y="362857"/>
          <a:ext cx="9144001" cy="786731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lt1"/>
                          </a:solidFill>
                          <a:effectLst/>
                          <a:latin typeface="+mn-lt"/>
                          <a:ea typeface="+mn-ea"/>
                          <a:cs typeface="+mn-cs"/>
                        </a:rPr>
                        <a:t>Reena Athor, Lorraine Warren, Martin Keefe (2020)</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Effectuation, Causation and Bricolage: Adaptive Strategies of SMEs During COVID-19</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Business Venturing Insights / https://doi.org/10.1016/j.jbvi.2020.e00201</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Limited knowledge on how SMEs combine different logics of decision-making to cope in unprecedented crises, namely on the interaction among effectuation, causation, and bricolage strategies.</a:t>
                      </a: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Qualitative six-month longitudinal case study of 28 SMEs in the retail and hospitality industries during the initial COVID-19 lockdown period, conducted through remote interview and online observation.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study finds that thriving adaptive SMEs use hybrid decision-making strategies in place of effectuation or causation alone. Early responses comprise bricolage </a:t>
                      </a:r>
                      <a:r>
                        <a:rPr lang="en-GB" sz="1800" kern="1200" dirty="0" err="1">
                          <a:solidFill>
                            <a:schemeClr val="dk1"/>
                          </a:solidFill>
                          <a:effectLst/>
                          <a:latin typeface="+mn-lt"/>
                          <a:ea typeface="+mn-ea"/>
                          <a:cs typeface="+mn-cs"/>
                        </a:rPr>
                        <a:t>behaviors</a:t>
                      </a:r>
                      <a:r>
                        <a:rPr lang="en-GB" sz="1800" kern="1200" dirty="0">
                          <a:solidFill>
                            <a:schemeClr val="dk1"/>
                          </a:solidFill>
                          <a:effectLst/>
                          <a:latin typeface="+mn-lt"/>
                          <a:ea typeface="+mn-ea"/>
                          <a:cs typeface="+mn-cs"/>
                        </a:rPr>
                        <a:t> for immediate survival, succeeded by effectual logic for detecting opportunities, while causation takes hold during the formalization of strategy. Capabilities in the digital realm support faster switching across decision logics.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develops entrepreneurial decision-making theory by proving the dynamic, sequential use of multiple logics when adapting to crises, refuting the dichotomous effectuation versus causation argument.</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 focuses on retail and hospitality sectors, lacking exploration of other industries. Future research should analyze how decision-making evolves post-crisis, explore entrepreneurial experience in decision logic hybridization, and test the impact of digital maturity and decision logics on adaptation outcomes.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4BB2C9C5-9000-3804-3E51-7A9DCF7BAF37}"/>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60</a:t>
            </a:r>
          </a:p>
        </p:txBody>
      </p:sp>
    </p:spTree>
    <p:extLst>
      <p:ext uri="{BB962C8B-B14F-4D97-AF65-F5344CB8AC3E}">
        <p14:creationId xmlns:p14="http://schemas.microsoft.com/office/powerpoint/2010/main" val="10745297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D7186-B444-697F-BFC1-353F6E9C3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30D49-4902-E3C0-282C-F63F80FF9C6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B03B2C4-35DE-5E8C-0ADA-EBF35F12A6C6}"/>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67A8CF10-3F0C-CAD6-26A2-CA9BB843C073}"/>
              </a:ext>
            </a:extLst>
          </p:cNvPr>
          <p:cNvGraphicFramePr>
            <a:graphicFrameLocks noGrp="1"/>
          </p:cNvGraphicFramePr>
          <p:nvPr>
            <p:extLst>
              <p:ext uri="{D42A27DB-BD31-4B8C-83A1-F6EECF244321}">
                <p14:modId xmlns:p14="http://schemas.microsoft.com/office/powerpoint/2010/main" val="4021339247"/>
              </p:ext>
            </p:extLst>
          </p:nvPr>
        </p:nvGraphicFramePr>
        <p:xfrm>
          <a:off x="10886" y="362857"/>
          <a:ext cx="9144001" cy="8747806"/>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lt1"/>
                          </a:solidFill>
                          <a:effectLst/>
                          <a:latin typeface="+mn-lt"/>
                          <a:ea typeface="+mn-ea"/>
                          <a:cs typeface="+mn-cs"/>
                        </a:rPr>
                        <a:t>Chinedu Okeke, Paschal Anosike, Tony Dibia (2023)</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Regional Entrepreneurial Ecosystem Resilience: A Comparative Study of SME Clusters in Sub-Saharan Africa</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Small Business Economics / https://doi.org/10.1007/s11187-022-00632-9</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The lack of adequate knowledge as to how the regional entrepreneurial ecosystems of Sub-Saharan Africa acquire capacities of resilience, more so in how much the SME clusters facilitate adaptive responses towards systemic shocks.</a:t>
                      </a: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Comparative case study of three Nigerian, Kenyan, and South African regional SME clusters across a five-year period (2018-2023) using mixed methods of surveys, interviews, and economic indicators.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Three different types of ecosystem resilience in Sub-Saharan settings are found according to the research: institutional bypass (Nigeria), collaborative governance (Kenya), and formal institutionalization (South Africa). SME clusters establish specific collective resilience mechanisms on the basis of regional institutional arrangements, and informal institutions play a more important part than was initially thought.</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expands entrepreneurial ecosystem theory by reporting unique regional resilience trajectories in Sub-Saharan Africa, challenging Western ecosystem models and emphasizing the prominence of informal institutional arrangements in emerging economy contexts.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US" dirty="0"/>
                        <a:t>The study is limited to three countries, restricting generalizability across Sub-Saharan Africa. It lacks detailed analysis of digital connectivity's impact on ecosystem resilience. Future research should explore knowledge transfer across ecosystems, global development programs' effect on indigenous resilience, and the link between ecosystem and firm-level resilience. Comparing ecosystem resilience’s impact on SME death rates during crises would improve protection mechanism insights.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18444B1F-2728-B94A-5CCA-F15592A88A0B}"/>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61</a:t>
            </a:r>
          </a:p>
        </p:txBody>
      </p:sp>
    </p:spTree>
    <p:extLst>
      <p:ext uri="{BB962C8B-B14F-4D97-AF65-F5344CB8AC3E}">
        <p14:creationId xmlns:p14="http://schemas.microsoft.com/office/powerpoint/2010/main" val="19962631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6C414-19C9-CA60-331D-063F85187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660D31-2734-A9E4-43B7-EBDE15D95A2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A49F4AF-B33F-4800-A7A0-457D275C368D}"/>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A18587BF-B0E7-DC69-9FF6-F1F80D1C894B}"/>
              </a:ext>
            </a:extLst>
          </p:cNvPr>
          <p:cNvGraphicFramePr>
            <a:graphicFrameLocks noGrp="1"/>
          </p:cNvGraphicFramePr>
          <p:nvPr/>
        </p:nvGraphicFramePr>
        <p:xfrm>
          <a:off x="10886" y="362857"/>
          <a:ext cx="9144001" cy="731867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err="1">
                          <a:solidFill>
                            <a:schemeClr val="lt1"/>
                          </a:solidFill>
                          <a:effectLst/>
                          <a:latin typeface="+mn-lt"/>
                          <a:ea typeface="+mn-ea"/>
                          <a:cs typeface="+mn-cs"/>
                        </a:rPr>
                        <a:t>Oluwasoye</a:t>
                      </a:r>
                      <a:r>
                        <a:rPr lang="en-GB" sz="1800" b="1" kern="1200" dirty="0">
                          <a:solidFill>
                            <a:schemeClr val="lt1"/>
                          </a:solidFill>
                          <a:effectLst/>
                          <a:latin typeface="+mn-lt"/>
                          <a:ea typeface="+mn-ea"/>
                          <a:cs typeface="+mn-cs"/>
                        </a:rPr>
                        <a:t> P. </a:t>
                      </a:r>
                      <a:r>
                        <a:rPr lang="en-GB" sz="1800" b="1" kern="1200" dirty="0" err="1">
                          <a:solidFill>
                            <a:schemeClr val="lt1"/>
                          </a:solidFill>
                          <a:effectLst/>
                          <a:latin typeface="+mn-lt"/>
                          <a:ea typeface="+mn-ea"/>
                          <a:cs typeface="+mn-cs"/>
                        </a:rPr>
                        <a:t>Mafimisebi</a:t>
                      </a:r>
                      <a:r>
                        <a:rPr lang="en-GB" sz="1800" b="1" kern="1200" dirty="0">
                          <a:solidFill>
                            <a:schemeClr val="lt1"/>
                          </a:solidFill>
                          <a:effectLst/>
                          <a:latin typeface="+mn-lt"/>
                          <a:ea typeface="+mn-ea"/>
                          <a:cs typeface="+mn-cs"/>
                        </a:rPr>
                        <a:t>, Demola </a:t>
                      </a:r>
                      <a:r>
                        <a:rPr lang="en-GB" sz="1800" b="1" kern="1200" dirty="0" err="1">
                          <a:solidFill>
                            <a:schemeClr val="lt1"/>
                          </a:solidFill>
                          <a:effectLst/>
                          <a:latin typeface="+mn-lt"/>
                          <a:ea typeface="+mn-ea"/>
                          <a:cs typeface="+mn-cs"/>
                        </a:rPr>
                        <a:t>Obembe</a:t>
                      </a:r>
                      <a:r>
                        <a:rPr lang="en-GB" sz="1800" b="1" kern="1200" dirty="0">
                          <a:solidFill>
                            <a:schemeClr val="lt1"/>
                          </a:solidFill>
                          <a:effectLst/>
                          <a:latin typeface="+mn-lt"/>
                          <a:ea typeface="+mn-ea"/>
                          <a:cs typeface="+mn-cs"/>
                        </a:rPr>
                        <a:t>, Adekunle I. </a:t>
                      </a:r>
                      <a:r>
                        <a:rPr lang="en-GB" sz="1800" b="1" kern="1200" dirty="0" err="1">
                          <a:solidFill>
                            <a:schemeClr val="lt1"/>
                          </a:solidFill>
                          <a:effectLst/>
                          <a:latin typeface="+mn-lt"/>
                          <a:ea typeface="+mn-ea"/>
                          <a:cs typeface="+mn-cs"/>
                        </a:rPr>
                        <a:t>Ogunsade</a:t>
                      </a:r>
                      <a:r>
                        <a:rPr lang="en-GB" sz="1800" b="1" kern="1200" dirty="0">
                          <a:solidFill>
                            <a:schemeClr val="lt1"/>
                          </a:solidFill>
                          <a:effectLst/>
                          <a:latin typeface="+mn-lt"/>
                          <a:ea typeface="+mn-ea"/>
                          <a:cs typeface="+mn-cs"/>
                        </a:rPr>
                        <a:t> (2023)</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Planned, improvised or resilience: small business owner-managers' perception and response to crises in crisis-prone environments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General Management / https://doi.org/10.1177/03063070231159568</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Little is known about the perceptions and crisis responses of owner-managers of small businesses working in difficult environment contexts. This is what is inhibiting effective strategy and policy formulation to support increased resilience and sustainability in these businesses under difficult circumstances.</a:t>
                      </a: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Multiple-cases study of 16 Nigerian small businesses, using interviews and thematic analysis to examine perceptions and crisis responses.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research identifies a large knowledge gap in the crisis perception and response by owner-managers of small businesses that operate within crisis-prone settings. Such a gap hinders the design of effective policies and strategies that are required to enhance business flexibility, resilience, and long-term survival, finally impacting their capacity to absorb and recover from economic, social, and environmental crises.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further clarified the varied practices of adoption of crisis-prone environments by owner-managers of small businesses, adding richness to literature about crisis management and resilience.</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The study is constrained in scope within its context to Nigeria and hence might be non-generalizable across other crisis-prone environments. Second, the study does not exhaustively author on institutional support systems in comparison to building SMEs resilience during crises.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D35BF8DA-D273-812D-F9AA-A1A8F6235AE4}"/>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62</a:t>
            </a:r>
          </a:p>
        </p:txBody>
      </p:sp>
    </p:spTree>
    <p:extLst>
      <p:ext uri="{BB962C8B-B14F-4D97-AF65-F5344CB8AC3E}">
        <p14:creationId xmlns:p14="http://schemas.microsoft.com/office/powerpoint/2010/main" val="5389237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5AD95-8560-7B15-2148-400B465EE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259D5-2837-7F90-9564-764E04D47F3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D97BFC8-06A1-47CA-C9A8-3F9F6523C730}"/>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B6E1A57D-0096-2646-C008-FDDA517762F1}"/>
              </a:ext>
            </a:extLst>
          </p:cNvPr>
          <p:cNvGraphicFramePr>
            <a:graphicFrameLocks noGrp="1"/>
          </p:cNvGraphicFramePr>
          <p:nvPr/>
        </p:nvGraphicFramePr>
        <p:xfrm>
          <a:off x="0" y="325438"/>
          <a:ext cx="9144001" cy="759299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Lina Fang, Xumei Zhang, </a:t>
                      </a:r>
                      <a:r>
                        <a:rPr lang="en-GB" sz="1800" b="1" kern="1200" dirty="0" err="1">
                          <a:solidFill>
                            <a:schemeClr val="lt1"/>
                          </a:solidFill>
                          <a:effectLst/>
                          <a:latin typeface="+mn-lt"/>
                          <a:ea typeface="+mn-ea"/>
                          <a:cs typeface="+mn-cs"/>
                        </a:rPr>
                        <a:t>Junhua</a:t>
                      </a:r>
                      <a:r>
                        <a:rPr lang="en-GB" sz="1800" b="1" kern="1200" dirty="0">
                          <a:solidFill>
                            <a:schemeClr val="lt1"/>
                          </a:solidFill>
                          <a:effectLst/>
                          <a:latin typeface="+mn-lt"/>
                          <a:ea typeface="+mn-ea"/>
                          <a:cs typeface="+mn-cs"/>
                        </a:rPr>
                        <a:t> Chen, Xiaobo Wu (2022)</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Digital transformation strategies of small and medium-sized enterprises: The role of digital capability and strategic flexibility</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Strategic Change / https://doi.org/10.1002/jsc.2484</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Limited understanding of how SMEs develop and execute digital transformation strategies considering their limited resources and technology capabilities, especially in uncertain business environments.</a:t>
                      </a: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Mixed-methods, including a survey of 287 SMEs and 12 qualitative case studies across various industries in China.</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SMEs that establish strategic flexibility and digital capabilities experience enhanced digital transformation success. Four different digital transformation trajectories were determined through the research: technology-led, business model innovation-led, customer experience-led, and hybrid approaches. SMEs with related digital transformation planning consistent with their internal capacities and accessible resources display enhanced performance enhancement.</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The study offers a model to explain SME digital transformation approaches based on digital capabilities, strategic flexibility, and business performance in constrained resource environments.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 The study mainly focuses on Chinese SMEs and thus is not very representative of cross-cultural contexts. The study lacks longitudinal data for assessing the long-term effects of various digital transformation approaches on SME performance and sustainability. </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DB11BAD9-62DD-0028-BCE3-B057DD0EC19C}"/>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63</a:t>
            </a:r>
          </a:p>
        </p:txBody>
      </p:sp>
    </p:spTree>
    <p:extLst>
      <p:ext uri="{BB962C8B-B14F-4D97-AF65-F5344CB8AC3E}">
        <p14:creationId xmlns:p14="http://schemas.microsoft.com/office/powerpoint/2010/main" val="28237212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BFD58-86F3-177B-2AD8-926A76F0A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CD5E0-D611-1B3A-AE81-0A45C9ACC06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9D74EFC-A912-F82F-D9B8-EB75C5893AD0}"/>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2080D5BF-6538-6960-5D21-9A4986078BD8}"/>
              </a:ext>
            </a:extLst>
          </p:cNvPr>
          <p:cNvGraphicFramePr>
            <a:graphicFrameLocks noGrp="1"/>
          </p:cNvGraphicFramePr>
          <p:nvPr/>
        </p:nvGraphicFramePr>
        <p:xfrm>
          <a:off x="0" y="457200"/>
          <a:ext cx="9144001" cy="814163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Gozde Sezen-Gultekin, Dana Mifsud, Lee Martin (2021)</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 Entrepreneurial resilience: A systematic review of entrepreneurial responses to covid pandemic</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International Journal of Entrepreneurship and Innovation / https://doi.org/10.1177/14657503211047474</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 Scant information on how entrepreneurs develop resilience and shift business models in times of global crises, and specifically in light of COVID-19's record-breaking threats.</a:t>
                      </a: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Systematic review of peer-reviewed articles (42) from January 2020 to April 2021 through thematic analysis to determine patterns in entrepreneurial responses.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research uncovered three dimensions of entrepreneurial resilience during the pandemic: cognitive resilience (mindset adjustment), </a:t>
                      </a:r>
                      <a:r>
                        <a:rPr lang="en-GB" sz="1800" kern="1200" dirty="0" err="1">
                          <a:solidFill>
                            <a:schemeClr val="dk1"/>
                          </a:solidFill>
                          <a:effectLst/>
                          <a:latin typeface="+mn-lt"/>
                          <a:ea typeface="+mn-ea"/>
                          <a:cs typeface="+mn-cs"/>
                        </a:rPr>
                        <a:t>behavioral</a:t>
                      </a:r>
                      <a:r>
                        <a:rPr lang="en-GB" sz="1800" kern="1200" dirty="0">
                          <a:solidFill>
                            <a:schemeClr val="dk1"/>
                          </a:solidFill>
                          <a:effectLst/>
                          <a:latin typeface="+mn-lt"/>
                          <a:ea typeface="+mn-ea"/>
                          <a:cs typeface="+mn-cs"/>
                        </a:rPr>
                        <a:t> resilience (action adjustment), and contextual resilience (environmental adjustment). Entrepreneurially successful entrepreneurs had all three types, adjusting their business models while maintaining the underlying values, and leveraging support systems from their society.</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An entrepreneurial resilience model was created through the study that contributes to the knowledge base for how small businesses survive and adapt to significant disruptions by balancing adaptation with preserving their core purposes.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The study is constrained by its use of initial pandemic literature and does not include longitudinal observations on how entrepreneurial resilience changes over long periods of crises. The study offers limited practical guidance on implementable entrepreneurial resilience tools for future disruptions.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302A2E32-2874-235B-C8AA-42F427A6DB3E}"/>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64</a:t>
            </a:r>
          </a:p>
        </p:txBody>
      </p:sp>
    </p:spTree>
    <p:extLst>
      <p:ext uri="{BB962C8B-B14F-4D97-AF65-F5344CB8AC3E}">
        <p14:creationId xmlns:p14="http://schemas.microsoft.com/office/powerpoint/2010/main" val="4796328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C5F8F-738D-B2EC-A849-605492569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BC7E9-EB07-B912-9A45-3CFC2B38C00C}"/>
              </a:ext>
            </a:extLst>
          </p:cNvPr>
          <p:cNvSpPr>
            <a:spLocks noGrp="1"/>
          </p:cNvSpPr>
          <p:nvPr>
            <p:ph type="title"/>
          </p:nvPr>
        </p:nvSpPr>
        <p:spPr>
          <a:xfrm>
            <a:off x="457200" y="228600"/>
            <a:ext cx="8229600" cy="1143000"/>
          </a:xfrm>
        </p:spPr>
        <p:txBody>
          <a:bodyPr/>
          <a:lstStyle/>
          <a:p>
            <a:endParaRPr lang="en-GB"/>
          </a:p>
        </p:txBody>
      </p:sp>
      <p:sp>
        <p:nvSpPr>
          <p:cNvPr id="3" name="Content Placeholder 2">
            <a:extLst>
              <a:ext uri="{FF2B5EF4-FFF2-40B4-BE49-F238E27FC236}">
                <a16:creationId xmlns:a16="http://schemas.microsoft.com/office/drawing/2014/main" id="{59AC9403-ABA4-F76A-C92C-6A0E765AE95C}"/>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9FA487F4-46B4-4023-BA2F-B27E9CE06EC1}"/>
              </a:ext>
            </a:extLst>
          </p:cNvPr>
          <p:cNvGraphicFramePr>
            <a:graphicFrameLocks noGrp="1"/>
          </p:cNvGraphicFramePr>
          <p:nvPr>
            <p:extLst>
              <p:ext uri="{D42A27DB-BD31-4B8C-83A1-F6EECF244321}">
                <p14:modId xmlns:p14="http://schemas.microsoft.com/office/powerpoint/2010/main" val="1359633410"/>
              </p:ext>
            </p:extLst>
          </p:nvPr>
        </p:nvGraphicFramePr>
        <p:xfrm>
          <a:off x="0" y="457200"/>
          <a:ext cx="9144001" cy="827175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Tatiana Iakovleva, Lars </a:t>
                      </a:r>
                      <a:r>
                        <a:rPr lang="en-GB" sz="1800" b="1" kern="1200" dirty="0" err="1">
                          <a:solidFill>
                            <a:schemeClr val="lt1"/>
                          </a:solidFill>
                          <a:effectLst/>
                          <a:latin typeface="+mn-lt"/>
                          <a:ea typeface="+mn-ea"/>
                          <a:cs typeface="+mn-cs"/>
                        </a:rPr>
                        <a:t>Kolvereid</a:t>
                      </a:r>
                      <a:r>
                        <a:rPr lang="en-GB" sz="1800" b="1" kern="1200" dirty="0">
                          <a:solidFill>
                            <a:schemeClr val="lt1"/>
                          </a:solidFill>
                          <a:effectLst/>
                          <a:latin typeface="+mn-lt"/>
                          <a:ea typeface="+mn-ea"/>
                          <a:cs typeface="+mn-cs"/>
                        </a:rPr>
                        <a:t>, Erno </a:t>
                      </a:r>
                      <a:r>
                        <a:rPr lang="en-GB" sz="1800" b="1" kern="1200" dirty="0" err="1">
                          <a:solidFill>
                            <a:schemeClr val="lt1"/>
                          </a:solidFill>
                          <a:effectLst/>
                          <a:latin typeface="+mn-lt"/>
                          <a:ea typeface="+mn-ea"/>
                          <a:cs typeface="+mn-cs"/>
                        </a:rPr>
                        <a:t>Tornikoski</a:t>
                      </a:r>
                      <a:r>
                        <a:rPr lang="en-GB" sz="1800" b="1" kern="1200" dirty="0">
                          <a:solidFill>
                            <a:schemeClr val="lt1"/>
                          </a:solidFill>
                          <a:effectLst/>
                          <a:latin typeface="+mn-lt"/>
                          <a:ea typeface="+mn-ea"/>
                          <a:cs typeface="+mn-cs"/>
                        </a:rPr>
                        <a:t> (2020)</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algn="just"/>
                      <a:r>
                        <a:rPr lang="en-GB" sz="1800" kern="1200" dirty="0">
                          <a:solidFill>
                            <a:schemeClr val="dk1"/>
                          </a:solidFill>
                          <a:effectLst/>
                          <a:latin typeface="+mn-lt"/>
                          <a:ea typeface="+mn-ea"/>
                          <a:cs typeface="+mn-cs"/>
                        </a:rPr>
                        <a:t> Entrepreneurial identity and performance: The interplay of gender and industry</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Small Business Management / https://doi.org/10.1080/00472778.2020.1757094</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 Poor knowledge of how entrepreneurial identity formation processes vary across gender and industry, and how the variations affect business performance among small business entrepreneurs.</a:t>
                      </a: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Quantitative survey of 396 entrepreneurs from a variety of industries in Norway, employing structural equation </a:t>
                      </a:r>
                      <a:r>
                        <a:rPr lang="en-GB" sz="1800" kern="1200" dirty="0" err="1">
                          <a:solidFill>
                            <a:schemeClr val="dk1"/>
                          </a:solidFill>
                          <a:effectLst/>
                          <a:latin typeface="+mn-lt"/>
                          <a:ea typeface="+mn-ea"/>
                          <a:cs typeface="+mn-cs"/>
                        </a:rPr>
                        <a:t>modeling</a:t>
                      </a:r>
                      <a:r>
                        <a:rPr lang="en-GB" sz="1800" kern="1200" dirty="0">
                          <a:solidFill>
                            <a:schemeClr val="dk1"/>
                          </a:solidFill>
                          <a:effectLst/>
                          <a:latin typeface="+mn-lt"/>
                          <a:ea typeface="+mn-ea"/>
                          <a:cs typeface="+mn-cs"/>
                        </a:rPr>
                        <a:t> to study the relationships among identity formation, business practice, and performance.</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Entrepreneurial identity processes are considerably more heterogeneous among male compared to female entrepreneurs and heterogeneous across industry contexts. Entrepreneurial identity quality is positively correlated with performance but gender and industry context moderated. Female entrepreneurs working in traditionally masculine industries have unique identity issues which affect business strategy and performance outcome.</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r>
                        <a:rPr lang="en-GB" sz="1800" kern="1200" dirty="0">
                          <a:solidFill>
                            <a:schemeClr val="dk1"/>
                          </a:solidFill>
                          <a:effectLst/>
                          <a:latin typeface="+mn-lt"/>
                          <a:ea typeface="+mn-ea"/>
                          <a:cs typeface="+mn-cs"/>
                        </a:rPr>
                        <a:t> The study offers a sophisticated understanding of how gender and business dynamics shape entrepreneurial identity construction and, reciprocally, subsequent business performance, avoiding reductionism through theories of entrepreneurship and support schemes.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The cross-sectional study design does not allow for causal inferences about identity formation and performance. It is also based on the Norwegian context, with relatively robust gender equality policies in relation to a vast number of other nations and can potentially constrain generalizability to more gender-unequal societies. </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F2B25A60-F904-DF47-B8E8-50ECDE3420A3}"/>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65</a:t>
            </a:r>
          </a:p>
        </p:txBody>
      </p:sp>
    </p:spTree>
    <p:extLst>
      <p:ext uri="{BB962C8B-B14F-4D97-AF65-F5344CB8AC3E}">
        <p14:creationId xmlns:p14="http://schemas.microsoft.com/office/powerpoint/2010/main" val="4229793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CDFB3-65ED-8B10-3D13-0FFC409F8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17AE4-EF0A-C02A-A379-BE8D705C33C3}"/>
              </a:ext>
            </a:extLst>
          </p:cNvPr>
          <p:cNvSpPr>
            <a:spLocks noGrp="1"/>
          </p:cNvSpPr>
          <p:nvPr>
            <p:ph type="title"/>
          </p:nvPr>
        </p:nvSpPr>
        <p:spPr>
          <a:xfrm>
            <a:off x="457200" y="228600"/>
            <a:ext cx="8229600" cy="1143000"/>
          </a:xfrm>
        </p:spPr>
        <p:txBody>
          <a:bodyPr/>
          <a:lstStyle/>
          <a:p>
            <a:endParaRPr lang="en-GB" dirty="0"/>
          </a:p>
        </p:txBody>
      </p:sp>
      <p:sp>
        <p:nvSpPr>
          <p:cNvPr id="3" name="Content Placeholder 2">
            <a:extLst>
              <a:ext uri="{FF2B5EF4-FFF2-40B4-BE49-F238E27FC236}">
                <a16:creationId xmlns:a16="http://schemas.microsoft.com/office/drawing/2014/main" id="{E7494133-96E1-CE99-4649-83475C1A4696}"/>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09EEF10E-E681-8F57-BC1B-CDDE65A00E14}"/>
              </a:ext>
            </a:extLst>
          </p:cNvPr>
          <p:cNvGraphicFramePr>
            <a:graphicFrameLocks noGrp="1"/>
          </p:cNvGraphicFramePr>
          <p:nvPr/>
        </p:nvGraphicFramePr>
        <p:xfrm>
          <a:off x="0" y="457200"/>
          <a:ext cx="9144001" cy="869027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Hanna </a:t>
                      </a:r>
                      <a:r>
                        <a:rPr lang="en-GB" sz="1800" b="1" kern="1200" dirty="0" err="1">
                          <a:solidFill>
                            <a:schemeClr val="lt1"/>
                          </a:solidFill>
                          <a:effectLst/>
                          <a:latin typeface="+mn-lt"/>
                          <a:ea typeface="+mn-ea"/>
                          <a:cs typeface="+mn-cs"/>
                        </a:rPr>
                        <a:t>Silvola</a:t>
                      </a:r>
                      <a:r>
                        <a:rPr lang="en-GB" sz="1800" b="1" kern="1200" dirty="0">
                          <a:solidFill>
                            <a:schemeClr val="lt1"/>
                          </a:solidFill>
                          <a:effectLst/>
                          <a:latin typeface="+mn-lt"/>
                          <a:ea typeface="+mn-ea"/>
                          <a:cs typeface="+mn-cs"/>
                        </a:rPr>
                        <a:t>, Emma-Riikka Myllymäki (2021)</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Sustainability reporting practices and their impacts on banks' lending decisions for SMEs</a:t>
                      </a:r>
                    </a:p>
                    <a:p>
                      <a:pPr algn="just"/>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Small Business Management / https://doi.org/10.1080/00472778.2021.1955124</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Limited knowledge about the effect of SMEs' sustainability reporting practices on bank lending decisions considering growing pressure on small and large companies to show sustainable business practices.</a:t>
                      </a:r>
                    </a:p>
                    <a:p>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Mixed-methods approach involving interviews with 16 bank loan officers and a survey among 432 Finnish small and medium-sized enterprises, supported by content analysis of loan application documents.</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Banks are increasingly using sustainability factors in lending to SMEs, but methods differ. </a:t>
                      </a:r>
                      <a:r>
                        <a:rPr lang="en-GB" sz="1800" kern="1200" dirty="0" err="1">
                          <a:solidFill>
                            <a:schemeClr val="dk1"/>
                          </a:solidFill>
                          <a:effectLst/>
                          <a:latin typeface="+mn-lt"/>
                          <a:ea typeface="+mn-ea"/>
                          <a:cs typeface="+mn-cs"/>
                        </a:rPr>
                        <a:t>Favorable</a:t>
                      </a:r>
                      <a:r>
                        <a:rPr lang="en-GB" sz="1800" kern="1200" dirty="0">
                          <a:solidFill>
                            <a:schemeClr val="dk1"/>
                          </a:solidFill>
                          <a:effectLst/>
                          <a:latin typeface="+mn-lt"/>
                          <a:ea typeface="+mn-ea"/>
                          <a:cs typeface="+mn-cs"/>
                        </a:rPr>
                        <a:t> lending terms are provided more when SMEs employ formalized sustainability reporting. Most SMEs do not have capability and capital for full-scale sustainability reporting, leaving space for the financing gap despite effective implementation of sustainability for larger business organizations.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This research fills the gap between the literature on sustainability reporting and SME financing, and it illustrates how changing sustainability expectations are revolutionizing small firms' access to capital and revealing realistic methods for reporting SMEs sustainability initiatives.</a:t>
                      </a:r>
                    </a:p>
                    <a:p>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The study is confined to the Finnish banking industry alone, where there is a backdrop of robust institutional support for sustainability. The study also does not have longitudinal data to monitor the effect of sustainability reporting on long-term bank-SME relationships and financing performance.</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A929F01F-AE3B-F2BA-8591-F177905473DA}"/>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66</a:t>
            </a:r>
          </a:p>
        </p:txBody>
      </p:sp>
    </p:spTree>
    <p:extLst>
      <p:ext uri="{BB962C8B-B14F-4D97-AF65-F5344CB8AC3E}">
        <p14:creationId xmlns:p14="http://schemas.microsoft.com/office/powerpoint/2010/main" val="27836282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CB854-AA67-A683-44ED-B70CCE31E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D6025-6E83-AFB6-F58E-BD6A68B54602}"/>
              </a:ext>
            </a:extLst>
          </p:cNvPr>
          <p:cNvSpPr>
            <a:spLocks noGrp="1"/>
          </p:cNvSpPr>
          <p:nvPr>
            <p:ph type="title"/>
          </p:nvPr>
        </p:nvSpPr>
        <p:spPr>
          <a:xfrm>
            <a:off x="457200" y="228600"/>
            <a:ext cx="8229600" cy="1143000"/>
          </a:xfrm>
        </p:spPr>
        <p:txBody>
          <a:bodyPr/>
          <a:lstStyle/>
          <a:p>
            <a:endParaRPr lang="en-GB" dirty="0"/>
          </a:p>
        </p:txBody>
      </p:sp>
      <p:sp>
        <p:nvSpPr>
          <p:cNvPr id="3" name="Content Placeholder 2">
            <a:extLst>
              <a:ext uri="{FF2B5EF4-FFF2-40B4-BE49-F238E27FC236}">
                <a16:creationId xmlns:a16="http://schemas.microsoft.com/office/drawing/2014/main" id="{9CE4FB6D-2CAC-349D-A7DA-4ED955E7A8C1}"/>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D7AA9356-7340-6E51-9E89-D5C326375081}"/>
              </a:ext>
            </a:extLst>
          </p:cNvPr>
          <p:cNvGraphicFramePr>
            <a:graphicFrameLocks noGrp="1"/>
          </p:cNvGraphicFramePr>
          <p:nvPr/>
        </p:nvGraphicFramePr>
        <p:xfrm>
          <a:off x="0" y="457200"/>
          <a:ext cx="9144001" cy="7299498"/>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Samuel Adomako, Kevin F. Mole, Franklin Nkrumah (2021)</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 SME international innovation and strategic adaptiveness: The role of domestic network density, centrality and informality</a:t>
                      </a:r>
                    </a:p>
                    <a:p>
                      <a:pPr algn="just"/>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International Marketing Review / https://doi.org/10.1108/IMR-12-2019-0317</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Lack of proper understanding of how domestic network attributes affect SMEs' international innovation capability and international strategic adaptiveness.</a:t>
                      </a:r>
                    </a:p>
                    <a:p>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Quantitative survey responses of 248 export SMEs in Ghana, </a:t>
                      </a:r>
                      <a:r>
                        <a:rPr lang="en-GB" sz="1800" kern="1200" dirty="0" err="1">
                          <a:solidFill>
                            <a:schemeClr val="dk1"/>
                          </a:solidFill>
                          <a:effectLst/>
                          <a:latin typeface="+mn-lt"/>
                          <a:ea typeface="+mn-ea"/>
                          <a:cs typeface="+mn-cs"/>
                        </a:rPr>
                        <a:t>analyzed</a:t>
                      </a:r>
                      <a:r>
                        <a:rPr lang="en-GB" sz="1800" kern="1200" dirty="0">
                          <a:solidFill>
                            <a:schemeClr val="dk1"/>
                          </a:solidFill>
                          <a:effectLst/>
                          <a:latin typeface="+mn-lt"/>
                          <a:ea typeface="+mn-ea"/>
                          <a:cs typeface="+mn-cs"/>
                        </a:rPr>
                        <a:t> using hierarchical regression and structural equation </a:t>
                      </a:r>
                      <a:r>
                        <a:rPr lang="en-GB" sz="1800" kern="1200" dirty="0" err="1">
                          <a:solidFill>
                            <a:schemeClr val="dk1"/>
                          </a:solidFill>
                          <a:effectLst/>
                          <a:latin typeface="+mn-lt"/>
                          <a:ea typeface="+mn-ea"/>
                          <a:cs typeface="+mn-cs"/>
                        </a:rPr>
                        <a:t>modeling</a:t>
                      </a:r>
                      <a:r>
                        <a:rPr lang="en-GB" sz="1800" kern="1200" dirty="0">
                          <a:solidFill>
                            <a:schemeClr val="dk1"/>
                          </a:solidFill>
                          <a:effectLst/>
                          <a:latin typeface="+mn-lt"/>
                          <a:ea typeface="+mn-ea"/>
                          <a:cs typeface="+mn-cs"/>
                        </a:rPr>
                        <a:t>.</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Informality, density, and network centrality have significant effects on international innovation capability of SMEs, and these effects are mediated through knowledge acquisition processes. Those SMEs that had informal and diverse networks were more strategically flexible in foreign markets. Centrally located SMEs in local networks obtained more innovation resources but were occasionally constrained by network expectations.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adds to knowledge about the ways in which certain network characteristics drive SME internationalization performance and how domestic network structures can be maximized for success in international markets.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a:lnSpc>
                          <a:spcPct val="107000"/>
                        </a:lnSpc>
                        <a:spcBef>
                          <a:spcPts val="0"/>
                        </a:spcBef>
                        <a:spcAft>
                          <a:spcPts val="800"/>
                        </a:spcAft>
                      </a:pPr>
                      <a:r>
                        <a:rPr lang="en-GB" sz="1800" kern="1200" dirty="0">
                          <a:solidFill>
                            <a:schemeClr val="dk1"/>
                          </a:solidFill>
                          <a:effectLst/>
                          <a:latin typeface="+mn-lt"/>
                          <a:ea typeface="+mn-ea"/>
                          <a:cs typeface="+mn-cs"/>
                        </a:rPr>
                        <a:t>The research is limited by its cross-sectional design and a single emerging economy context. The research also offers limited knowledge about how digital technologies are changing network dynamics for internationalizing SMEs.</a:t>
                      </a:r>
                      <a:endParaRPr lang="en-US" sz="1800" kern="100" dirty="0">
                        <a:effectLst/>
                        <a:latin typeface="+mj-lt"/>
                        <a:ea typeface="Apto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C31D08BC-400A-CBAF-8A0F-338AA6412FB9}"/>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67</a:t>
            </a:r>
          </a:p>
        </p:txBody>
      </p:sp>
    </p:spTree>
    <p:extLst>
      <p:ext uri="{BB962C8B-B14F-4D97-AF65-F5344CB8AC3E}">
        <p14:creationId xmlns:p14="http://schemas.microsoft.com/office/powerpoint/2010/main" val="10472907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CC2C8-65D2-745A-E47E-3D1A2FE4C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690B9-D79E-C6EF-8922-238DBD0904CD}"/>
              </a:ext>
            </a:extLst>
          </p:cNvPr>
          <p:cNvSpPr>
            <a:spLocks noGrp="1"/>
          </p:cNvSpPr>
          <p:nvPr>
            <p:ph type="title"/>
          </p:nvPr>
        </p:nvSpPr>
        <p:spPr>
          <a:xfrm>
            <a:off x="457200" y="228600"/>
            <a:ext cx="8229600" cy="1143000"/>
          </a:xfrm>
        </p:spPr>
        <p:txBody>
          <a:bodyPr/>
          <a:lstStyle/>
          <a:p>
            <a:endParaRPr lang="en-GB" dirty="0"/>
          </a:p>
        </p:txBody>
      </p:sp>
      <p:sp>
        <p:nvSpPr>
          <p:cNvPr id="3" name="Content Placeholder 2">
            <a:extLst>
              <a:ext uri="{FF2B5EF4-FFF2-40B4-BE49-F238E27FC236}">
                <a16:creationId xmlns:a16="http://schemas.microsoft.com/office/drawing/2014/main" id="{8A1D696D-F453-E846-CC7A-E87331DE951B}"/>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CA0DE9C4-42B1-47C2-0556-5A7302384B72}"/>
              </a:ext>
            </a:extLst>
          </p:cNvPr>
          <p:cNvGraphicFramePr>
            <a:graphicFrameLocks noGrp="1"/>
          </p:cNvGraphicFramePr>
          <p:nvPr/>
        </p:nvGraphicFramePr>
        <p:xfrm>
          <a:off x="0" y="457200"/>
          <a:ext cx="9144001" cy="780362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Mariana Estrada-Robles, Nick Williams, Tim </a:t>
                      </a:r>
                      <a:r>
                        <a:rPr lang="en-GB" sz="1800" b="1" kern="1200" dirty="0" err="1">
                          <a:solidFill>
                            <a:schemeClr val="lt1"/>
                          </a:solidFill>
                          <a:effectLst/>
                          <a:latin typeface="+mn-lt"/>
                          <a:ea typeface="+mn-ea"/>
                          <a:cs typeface="+mn-cs"/>
                        </a:rPr>
                        <a:t>Vorley</a:t>
                      </a:r>
                      <a:r>
                        <a:rPr lang="en-GB" sz="1800" b="1" kern="1200" dirty="0">
                          <a:solidFill>
                            <a:schemeClr val="lt1"/>
                          </a:solidFill>
                          <a:effectLst/>
                          <a:latin typeface="+mn-lt"/>
                          <a:ea typeface="+mn-ea"/>
                          <a:cs typeface="+mn-cs"/>
                        </a:rPr>
                        <a:t> (2018)</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 Navigating institutional challenges: The role of social capital in entrepreneurial families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International Small Business Journal / https://doi.org/10.1177/0266242618784231</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Rare research on how entrepreneurial families use social capital to navigate institutional challenges in weak formal institutional economies like Mexico.</a:t>
                      </a:r>
                    </a:p>
                    <a:p>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Qualitative case study research among 22 entrepreneurial families in Mexico, data collected through semi-structured interviews and observation.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Entrepreneur families construct unique bridging and bonding social capital patterns to offset institutional voids. Family firms leverage kinship ties to secure access to resources, contracts, and regulatory coping mechanisms. Nevertheless, overdependence on family social capital may restrict opportunities for expansion and reinforce informal mechanisms that compromise long-term sustainability.</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advances knowledge on the way family relationships influence entrepreneurial procedures in difficult institutional contexts, considering both the enabling and limiting side of family social capital in SME development.</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The study offers very little in terms of how entrepreneurial families evolve from informal to formal enterprise operations when they grow up. Second, the study's consideration of Mexican traditional family businesses offers little in terms of how entrepreneurial families of today manage in knowledge-based and internet-based industries.</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EB5AD10C-36FF-1726-F6F3-0CBDB0E9684D}"/>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68</a:t>
            </a:r>
          </a:p>
        </p:txBody>
      </p:sp>
    </p:spTree>
    <p:extLst>
      <p:ext uri="{BB962C8B-B14F-4D97-AF65-F5344CB8AC3E}">
        <p14:creationId xmlns:p14="http://schemas.microsoft.com/office/powerpoint/2010/main" val="7280426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BD3D3-1576-3877-2837-097028613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3EE1B0-9B74-87FE-C488-8A4BC26C0605}"/>
              </a:ext>
            </a:extLst>
          </p:cNvPr>
          <p:cNvSpPr>
            <a:spLocks noGrp="1"/>
          </p:cNvSpPr>
          <p:nvPr>
            <p:ph type="title"/>
          </p:nvPr>
        </p:nvSpPr>
        <p:spPr>
          <a:xfrm>
            <a:off x="457200" y="228600"/>
            <a:ext cx="8229600" cy="1143000"/>
          </a:xfrm>
        </p:spPr>
        <p:txBody>
          <a:bodyPr/>
          <a:lstStyle/>
          <a:p>
            <a:endParaRPr lang="en-GB" dirty="0"/>
          </a:p>
        </p:txBody>
      </p:sp>
      <p:sp>
        <p:nvSpPr>
          <p:cNvPr id="3" name="Content Placeholder 2">
            <a:extLst>
              <a:ext uri="{FF2B5EF4-FFF2-40B4-BE49-F238E27FC236}">
                <a16:creationId xmlns:a16="http://schemas.microsoft.com/office/drawing/2014/main" id="{DF343676-57B3-59D4-BAC3-F17A6409EFC8}"/>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A3184372-2C7B-ECF6-0AE7-FB6BDFCA54DD}"/>
              </a:ext>
            </a:extLst>
          </p:cNvPr>
          <p:cNvGraphicFramePr>
            <a:graphicFrameLocks noGrp="1"/>
          </p:cNvGraphicFramePr>
          <p:nvPr/>
        </p:nvGraphicFramePr>
        <p:xfrm>
          <a:off x="0" y="457200"/>
          <a:ext cx="9144001" cy="940890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Godwin Ahimbisibwe, Joseph </a:t>
                      </a:r>
                      <a:r>
                        <a:rPr lang="en-GB" sz="1800" b="1" kern="1200" dirty="0" err="1">
                          <a:solidFill>
                            <a:schemeClr val="lt1"/>
                          </a:solidFill>
                          <a:effectLst/>
                          <a:latin typeface="+mn-lt"/>
                          <a:ea typeface="+mn-ea"/>
                          <a:cs typeface="+mn-cs"/>
                        </a:rPr>
                        <a:t>Mpeera</a:t>
                      </a:r>
                      <a:r>
                        <a:rPr lang="en-GB" sz="1800" b="1" kern="1200" dirty="0">
                          <a:solidFill>
                            <a:schemeClr val="lt1"/>
                          </a:solidFill>
                          <a:effectLst/>
                          <a:latin typeface="+mn-lt"/>
                          <a:ea typeface="+mn-ea"/>
                          <a:cs typeface="+mn-cs"/>
                        </a:rPr>
                        <a:t> </a:t>
                      </a:r>
                      <a:r>
                        <a:rPr lang="en-GB" sz="1800" b="1" kern="1200" dirty="0" err="1">
                          <a:solidFill>
                            <a:schemeClr val="lt1"/>
                          </a:solidFill>
                          <a:effectLst/>
                          <a:latin typeface="+mn-lt"/>
                          <a:ea typeface="+mn-ea"/>
                          <a:cs typeface="+mn-cs"/>
                        </a:rPr>
                        <a:t>Ntayi</a:t>
                      </a:r>
                      <a:r>
                        <a:rPr lang="en-GB" sz="1800" b="1" kern="1200" dirty="0">
                          <a:solidFill>
                            <a:schemeClr val="lt1"/>
                          </a:solidFill>
                          <a:effectLst/>
                          <a:latin typeface="+mn-lt"/>
                          <a:ea typeface="+mn-ea"/>
                          <a:cs typeface="+mn-cs"/>
                        </a:rPr>
                        <a:t>, Waswa </a:t>
                      </a:r>
                      <a:r>
                        <a:rPr lang="en-GB" sz="1800" b="1" kern="1200" dirty="0" err="1">
                          <a:solidFill>
                            <a:schemeClr val="lt1"/>
                          </a:solidFill>
                          <a:effectLst/>
                          <a:latin typeface="+mn-lt"/>
                          <a:ea typeface="+mn-ea"/>
                          <a:cs typeface="+mn-cs"/>
                        </a:rPr>
                        <a:t>Balunywa</a:t>
                      </a:r>
                      <a:r>
                        <a:rPr lang="en-GB" sz="1800" b="1" kern="1200" dirty="0">
                          <a:solidFill>
                            <a:schemeClr val="lt1"/>
                          </a:solidFill>
                          <a:effectLst/>
                          <a:latin typeface="+mn-lt"/>
                          <a:ea typeface="+mn-ea"/>
                          <a:cs typeface="+mn-cs"/>
                        </a:rPr>
                        <a:t>, Ernest Abah(2020)</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Entrepreneurial networking and small business development: The contingent role of institutional environment</a:t>
                      </a:r>
                    </a:p>
                    <a:p>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Small Business &amp; Entrepreneurship / https://doi.org/10.1080/08276331.2020.1740487</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r>
                        <a:rPr lang="en-GB" sz="1800" kern="1200" dirty="0">
                          <a:solidFill>
                            <a:schemeClr val="dk1"/>
                          </a:solidFill>
                          <a:effectLst/>
                          <a:latin typeface="+mn-lt"/>
                          <a:ea typeface="+mn-ea"/>
                          <a:cs typeface="+mn-cs"/>
                        </a:rPr>
                        <a:t> Limited knowledge of how institutional environments mediate the impact of entrepreneurial networking on SME development leads to Sub-Saharan African contexts.</a:t>
                      </a:r>
                    </a:p>
                  </a:txBody>
                  <a:tcPr marL="68580" marR="68580"/>
                </a:tc>
                <a:extLst>
                  <a:ext uri="{0D108BD9-81ED-4DB2-BD59-A6C34878D82A}">
                    <a16:rowId xmlns:a16="http://schemas.microsoft.com/office/drawing/2014/main" val="10003"/>
                  </a:ext>
                </a:extLst>
              </a:tr>
              <a:tr h="158353">
                <a:tc>
                  <a:txBody>
                    <a:bodyPr/>
                    <a:lstStyle/>
                    <a:p>
                      <a:pPr algn="l"/>
                      <a:r>
                        <a:rPr lang="en-US" sz="1800" b="1" dirty="0">
                          <a:solidFill>
                            <a:schemeClr val="tx1"/>
                          </a:solidFill>
                          <a:latin typeface="+mn-lt"/>
                        </a:rPr>
                        <a:t>Methodology</a:t>
                      </a:r>
                    </a:p>
                  </a:txBody>
                  <a:tcPr marL="68580" marR="68580"/>
                </a:tc>
                <a:tc>
                  <a:txBody>
                    <a:bodyPr/>
                    <a:lstStyle/>
                    <a:p>
                      <a:r>
                        <a:rPr lang="en-GB" sz="1800" kern="1200" dirty="0">
                          <a:solidFill>
                            <a:schemeClr val="dk1"/>
                          </a:solidFill>
                          <a:effectLst/>
                          <a:latin typeface="+mn-lt"/>
                          <a:ea typeface="+mn-ea"/>
                          <a:cs typeface="+mn-cs"/>
                        </a:rPr>
                        <a:t>Mixed-methods design integrating the survey of 298 small business owners and 23 qualitative interviews in Uganda's urban and rural environments.</a:t>
                      </a:r>
                    </a:p>
                    <a:p>
                      <a:r>
                        <a:rPr lang="en-GB" sz="1800" kern="1200" dirty="0">
                          <a:solidFill>
                            <a:schemeClr val="dk1"/>
                          </a:solidFill>
                          <a:effectLst/>
                          <a:latin typeface="+mn-lt"/>
                          <a:ea typeface="+mn-ea"/>
                          <a:cs typeface="+mn-cs"/>
                        </a:rPr>
                        <a:t>Findings: Institutional quality plays an extremely strong moderating role in the effect of entrepreneurial </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Institutional quality plays an extremely strong moderating role in the effect of entrepreneurial networking on small business growth. In weak institutional environments, informal networking becomes increasingly critical to business survival but less useful in promoting growth and formalization. Political connections are proven specifically crucial in accessing resources in highly corrupt environments, but resulting networks are established based on dependency relations that hurt long-term business sustainability.</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deepens our knowledge about the role that institutional environments play in influencing entrepreneurial networking activities' efficiency, refuting universalistic expectations regarding networking advantages for SMEs.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The research primarily examines formal institutional determinants but gives limited views of how networking </a:t>
                      </a:r>
                      <a:r>
                        <a:rPr lang="en-GB" sz="1800" kern="1200" dirty="0" err="1">
                          <a:solidFill>
                            <a:schemeClr val="dk1"/>
                          </a:solidFill>
                          <a:effectLst/>
                          <a:latin typeface="+mn-lt"/>
                          <a:ea typeface="+mn-ea"/>
                          <a:cs typeface="+mn-cs"/>
                        </a:rPr>
                        <a:t>behavior</a:t>
                      </a:r>
                      <a:r>
                        <a:rPr lang="en-GB" sz="1800" kern="1200" dirty="0">
                          <a:solidFill>
                            <a:schemeClr val="dk1"/>
                          </a:solidFill>
                          <a:effectLst/>
                          <a:latin typeface="+mn-lt"/>
                          <a:ea typeface="+mn-ea"/>
                          <a:cs typeface="+mn-cs"/>
                        </a:rPr>
                        <a:t> is affected by cultural and normative institutions. The study further lacks longitudinal data to observe the way in which networking strategies develop as firms grow and as institutional environments alter.</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36F1F516-23A4-98D8-F805-BE5DD6DE8FB6}"/>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69</a:t>
            </a:r>
          </a:p>
        </p:txBody>
      </p:sp>
    </p:spTree>
    <p:extLst>
      <p:ext uri="{BB962C8B-B14F-4D97-AF65-F5344CB8AC3E}">
        <p14:creationId xmlns:p14="http://schemas.microsoft.com/office/powerpoint/2010/main" val="25121408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A106-0AD6-64C1-034C-83C6D19BA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F9E47-5A60-E65F-6265-36E61DA59944}"/>
              </a:ext>
            </a:extLst>
          </p:cNvPr>
          <p:cNvSpPr>
            <a:spLocks noGrp="1"/>
          </p:cNvSpPr>
          <p:nvPr>
            <p:ph type="title"/>
          </p:nvPr>
        </p:nvSpPr>
        <p:spPr>
          <a:xfrm>
            <a:off x="457200" y="409098"/>
            <a:ext cx="8229600" cy="1143000"/>
          </a:xfrm>
        </p:spPr>
        <p:txBody>
          <a:bodyPr/>
          <a:lstStyle/>
          <a:p>
            <a:endParaRPr lang="en-GB" dirty="0"/>
          </a:p>
        </p:txBody>
      </p:sp>
      <p:sp>
        <p:nvSpPr>
          <p:cNvPr id="3" name="Content Placeholder 2">
            <a:extLst>
              <a:ext uri="{FF2B5EF4-FFF2-40B4-BE49-F238E27FC236}">
                <a16:creationId xmlns:a16="http://schemas.microsoft.com/office/drawing/2014/main" id="{E162282B-9832-E9F6-85AE-CECBC144BE4F}"/>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CA4FEA85-6709-A955-3DDF-AD30A2CE2128}"/>
              </a:ext>
            </a:extLst>
          </p:cNvPr>
          <p:cNvGraphicFramePr>
            <a:graphicFrameLocks noGrp="1"/>
          </p:cNvGraphicFramePr>
          <p:nvPr>
            <p:extLst>
              <p:ext uri="{D42A27DB-BD31-4B8C-83A1-F6EECF244321}">
                <p14:modId xmlns:p14="http://schemas.microsoft.com/office/powerpoint/2010/main" val="1677355944"/>
              </p:ext>
            </p:extLst>
          </p:nvPr>
        </p:nvGraphicFramePr>
        <p:xfrm>
          <a:off x="0" y="457200"/>
          <a:ext cx="9144001" cy="84531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Jana S, Veneta A, Luis Diaz-Serrano, (2019)</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How context shapes entrepreneurial self-efficacy as a driver of entrepreneurial intentions: A multilevel approach</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Entrepreneurship Theory and Practice / </a:t>
                      </a:r>
                      <a:r>
                        <a:rPr lang="en-GB" sz="1800" kern="1200" dirty="0">
                          <a:solidFill>
                            <a:schemeClr val="dk1"/>
                          </a:solidFill>
                          <a:effectLst/>
                          <a:latin typeface="+mn-lt"/>
                          <a:ea typeface="+mn-ea"/>
                          <a:cs typeface="+mn-cs"/>
                          <a:hlinkClick r:id="rId2"/>
                        </a:rPr>
                        <a:t>https://doi.org/10.1177/1042258717753142</a:t>
                      </a: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Ignorance as to whether and how national and regional contextual characteristics affect the relation between entrepreneurial self-efficacy and entrepreneurial intentions among potential future small business entrepreneurs.</a:t>
                      </a:r>
                    </a:p>
                    <a:p>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Quantitative Explanatory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The relation between entrepreneurial self-efficacy and intentions widely differs in institutional settings. In settings where the regulatory environment is supportive and myths about entrepreneurs are positive, self-efficacy has a higher impact on intentions. Yet in weak institutional settings, high levels of entrepreneurial self-efficacy sometimes come along with necessity rather than opportunity-motivated entrepreneurship, which has implications for venture quality and prospects for growth</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study offers a multilevel model of psychological variables at the individual level interacting with institutional contexts to influence entrepreneurial behaviours, supporting more context-sensitive entrepreneurship education and policy.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 Although the study investigates cross-national differences, it makes fairly few contributions to sub-national regional variations that are capable of making a significant difference in entrepreneurial development. The study also solely bases its findings on self-reported intention measures instead of following up with actual business start-up outcomes. </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62951088-C419-4D85-8DA3-8F0D9EA25300}"/>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70</a:t>
            </a:r>
          </a:p>
        </p:txBody>
      </p:sp>
    </p:spTree>
    <p:extLst>
      <p:ext uri="{BB962C8B-B14F-4D97-AF65-F5344CB8AC3E}">
        <p14:creationId xmlns:p14="http://schemas.microsoft.com/office/powerpoint/2010/main" val="16169474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2F86B-521A-992F-4C77-65DD86C943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89837-0978-1CC7-7E18-F889A75125A3}"/>
              </a:ext>
            </a:extLst>
          </p:cNvPr>
          <p:cNvSpPr>
            <a:spLocks noGrp="1"/>
          </p:cNvSpPr>
          <p:nvPr>
            <p:ph type="title"/>
          </p:nvPr>
        </p:nvSpPr>
        <p:spPr>
          <a:xfrm>
            <a:off x="457200" y="228600"/>
            <a:ext cx="8229600" cy="1143000"/>
          </a:xfrm>
        </p:spPr>
        <p:txBody>
          <a:bodyPr/>
          <a:lstStyle/>
          <a:p>
            <a:endParaRPr lang="en-GB" dirty="0"/>
          </a:p>
        </p:txBody>
      </p:sp>
      <p:sp>
        <p:nvSpPr>
          <p:cNvPr id="3" name="Content Placeholder 2">
            <a:extLst>
              <a:ext uri="{FF2B5EF4-FFF2-40B4-BE49-F238E27FC236}">
                <a16:creationId xmlns:a16="http://schemas.microsoft.com/office/drawing/2014/main" id="{C91D9422-1378-AEC4-008B-2B41C7731BCC}"/>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D9527E26-D1DE-7C2C-259A-7F1811ACAD66}"/>
              </a:ext>
            </a:extLst>
          </p:cNvPr>
          <p:cNvGraphicFramePr>
            <a:graphicFrameLocks noGrp="1"/>
          </p:cNvGraphicFramePr>
          <p:nvPr>
            <p:extLst>
              <p:ext uri="{D42A27DB-BD31-4B8C-83A1-F6EECF244321}">
                <p14:modId xmlns:p14="http://schemas.microsoft.com/office/powerpoint/2010/main" val="4253888365"/>
              </p:ext>
            </p:extLst>
          </p:nvPr>
        </p:nvGraphicFramePr>
        <p:xfrm>
          <a:off x="0" y="457200"/>
          <a:ext cx="9144001" cy="752930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Richard A. O, Mariam J, Ville-Veikko P, (2021)</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SME internationalization through digital transformation: A concept model of e-commerce impact in Africa</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International Business Review / https://doi.org/10.1016/j.ibusrev.2021.101916</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Lack of information about how digital transformation via the embracing of e-commerce encourages SME internationalization in infrastructure and institution-affected African contexts.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Quantitative Explanatory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Adoption of e-commerce allows African SMEs to fragment gatekeepers of internationalization in the past with lowered transaction costs, increased market openness, and access to world payment systems. Paths of digital internationalization are highly variable, though, based on domestic digital infrastructure, digital capabilities, and logistic capacities. Successful internationalizing SMEs forge hybrid digital-physical approaches that make concessions to local circumstances but take advantage of global platforms.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formulates a conceptual model of digital internationalization trajectories for poor-resource SMEs in developing economies, which differs from traditional stage-based models of internationalization.</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 The research is mainly concerned with consumer-retail e-commerce companies, offering very little insight to digital internationalization for B2B service organizations. The research also does not include longitudinal data to see how digital internationalization strategies change over time as African digital environments mature.</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9A41718B-8010-9AD4-AF95-8E6957A66B41}"/>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71</a:t>
            </a:r>
          </a:p>
        </p:txBody>
      </p:sp>
    </p:spTree>
    <p:extLst>
      <p:ext uri="{BB962C8B-B14F-4D97-AF65-F5344CB8AC3E}">
        <p14:creationId xmlns:p14="http://schemas.microsoft.com/office/powerpoint/2010/main" val="2869999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8D635-E6E1-887A-28B0-B52EB44CC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1C964-D713-A7D2-F970-D8E1446BB679}"/>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3455D627-8232-4940-8754-5DF08E5BA4FF}"/>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23F11A1C-549E-079A-4900-D03B079ED975}"/>
              </a:ext>
            </a:extLst>
          </p:cNvPr>
          <p:cNvGraphicFramePr>
            <a:graphicFrameLocks noGrp="1"/>
          </p:cNvGraphicFramePr>
          <p:nvPr>
            <p:extLst>
              <p:ext uri="{D42A27DB-BD31-4B8C-83A1-F6EECF244321}">
                <p14:modId xmlns:p14="http://schemas.microsoft.com/office/powerpoint/2010/main" val="697488539"/>
              </p:ext>
            </p:extLst>
          </p:nvPr>
        </p:nvGraphicFramePr>
        <p:xfrm>
          <a:off x="0" y="457200"/>
          <a:ext cx="9144001" cy="835226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Sarah C, Shiyu L, Yi-Rong H, (2022)</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Collaborative innovation in SME clusters: Cross-boundary knowledge flows and recombination processes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Research Policy / </a:t>
                      </a:r>
                      <a:r>
                        <a:rPr lang="en-GB" sz="1800" kern="1200" dirty="0">
                          <a:solidFill>
                            <a:schemeClr val="dk1"/>
                          </a:solidFill>
                          <a:effectLst/>
                          <a:latin typeface="+mn-lt"/>
                          <a:ea typeface="+mn-ea"/>
                          <a:cs typeface="+mn-cs"/>
                          <a:hlinkClick r:id="rId2"/>
                        </a:rPr>
                        <a:t>https://doi.org/10.1016/j.respol.2022.104517</a:t>
                      </a: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Lack of understanding of mechanisms of knowledge flows and recombination processes that facilitate collaborative innovation in SMEs in industry clusters.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Quantitative Explanatory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Successful collaborative innovation in SME clusters relies on organized mechanisms for knowledge brokerage, complementarities among participating firms, and boundary-spanning actors bridging knowledge translation. Digital platforms play more and more extensively the role of mediating knowledge flows in clusters, but less or more effectively depending on levels of trust and knowledge complexity. SMEs engaged in collaborative innovation projects exhibit increased absorptive capacity and innovation outcomes at the project boundaries.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adds to knowledge of micro-level mechanisms of knowledge flow in SME clusters, highlighting particular mechanisms whereby small firms with limited resources strengthen innovation capacity via cooperation.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study targets technology-intensive SME clusters in a highly advanced economy where institutions are strong, which may limit cross-clustering applicability to industry clusters in weaker institutional settings. The study also offers little hints regarding differing patterns of collaborative innovation between industries.</a:t>
                      </a:r>
                    </a:p>
                    <a:p>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6D4C80D9-473C-CE05-22BB-D36CC309138D}"/>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72</a:t>
            </a:r>
          </a:p>
        </p:txBody>
      </p:sp>
    </p:spTree>
    <p:extLst>
      <p:ext uri="{BB962C8B-B14F-4D97-AF65-F5344CB8AC3E}">
        <p14:creationId xmlns:p14="http://schemas.microsoft.com/office/powerpoint/2010/main" val="22287800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56CCD-4E7D-BDF1-DBE9-ED6E85F2E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D8BEB-45B3-1CC1-6C73-8EA951F35BD5}"/>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80DFBB5C-5633-159B-760C-F94368E94022}"/>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8C0594D8-3D45-F2EC-5283-894B53E69155}"/>
              </a:ext>
            </a:extLst>
          </p:cNvPr>
          <p:cNvGraphicFramePr>
            <a:graphicFrameLocks noGrp="1"/>
          </p:cNvGraphicFramePr>
          <p:nvPr>
            <p:extLst>
              <p:ext uri="{D42A27DB-BD31-4B8C-83A1-F6EECF244321}">
                <p14:modId xmlns:p14="http://schemas.microsoft.com/office/powerpoint/2010/main" val="2252791688"/>
              </p:ext>
            </p:extLst>
          </p:nvPr>
        </p:nvGraphicFramePr>
        <p:xfrm>
          <a:off x="0" y="457200"/>
          <a:ext cx="9144001" cy="835226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Sarah C, Shiyu L, Yi-Rong H, (2022)</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Collaborative innovation in SME clusters: Cross-boundary knowledge flows and recombination processes</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Research Policy / https://doi.org/10.1016/j.respol.2022.104517</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Lack of understanding of mechanisms of knowledge flows and recombination processes that facilitate collaborative innovation in SMEs in industry clusters.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Quantitative Explanatory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Successful collaborative innovation in SME clusters relies on organized mechanisms for knowledge brokerage, complementarities among participating firms, and boundary-spanning actors bridging knowledge translation. Digital platforms play more and more extensively the role of mediating knowledge flows in clusters, but less or more effectively depending on levels of trust and knowledge complexity. SMEs engaged in collaborative innovation projects exhibit increased absorptive capacity and innovation outcomes at the project boundaries.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adds to knowledge of micro-level mechanisms of knowledge flow in SME clusters, highlighting particular mechanisms whereby small firms with limited resources strengthen innovation capacity via cooperation.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study targets technology-intensive SME clusters in a highly advanced economy where institutions are strong, which may limit cross-clustering applicability to industry clusters in weaker institutional settings. The study also offers little hints regarding differing patterns of collaborative innovation between industries.</a:t>
                      </a:r>
                    </a:p>
                    <a:p>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B8156916-A89E-D5C3-CC89-309B5139D379}"/>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73</a:t>
            </a:r>
          </a:p>
        </p:txBody>
      </p:sp>
    </p:spTree>
    <p:extLst>
      <p:ext uri="{BB962C8B-B14F-4D97-AF65-F5344CB8AC3E}">
        <p14:creationId xmlns:p14="http://schemas.microsoft.com/office/powerpoint/2010/main" val="39147758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FBA3A-B7E8-BF93-C248-27570E39F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27105-2C80-F86F-84C3-C6E0B6F4E502}"/>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76A0CDF8-3CCB-5B6E-616E-2E5F6D843E9B}"/>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3304856D-6D33-1836-C9D7-888D79E90022}"/>
              </a:ext>
            </a:extLst>
          </p:cNvPr>
          <p:cNvGraphicFramePr>
            <a:graphicFrameLocks noGrp="1"/>
          </p:cNvGraphicFramePr>
          <p:nvPr>
            <p:extLst>
              <p:ext uri="{D42A27DB-BD31-4B8C-83A1-F6EECF244321}">
                <p14:modId xmlns:p14="http://schemas.microsoft.com/office/powerpoint/2010/main" val="3743036392"/>
              </p:ext>
            </p:extLst>
          </p:nvPr>
        </p:nvGraphicFramePr>
        <p:xfrm>
          <a:off x="0" y="457200"/>
          <a:ext cx="9144001" cy="752930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Maxwell S,  O,  John A, A,  Xiaojun W, Vikas K,  (2022)</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Digital resilience building: The role of innovation capability and knowledge resources in SME survival</a:t>
                      </a:r>
                      <a:endParaRPr lang="en-US" sz="1800" b="0" dirty="0">
                        <a:solidFill>
                          <a:schemeClr val="tx1"/>
                        </a:solidFill>
                        <a:latin typeface="+mn-lt"/>
                      </a:endParaRP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Technological Forecasting and Social Change / https://doi.org/10.1016/j.techfore.2022.121605</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Lack of proper understanding of how SMEs develop digital resilience capabilities to facilitate business continuity and adaptability when faced with profound disruptions.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Quantitative Explanatory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Digital resilience in SMEs arises through synergy between digital capabilities (managerial and technical) and knowledge capital (internal and external). Great pre-existing digital capability of digitally advanced SMEs led to greater resilience against pandemic disturbance. Even so, even digitally unsophisticated SMEs saw marked resilience benefits from quick learning and emergent innovation when reacting to life-threatening crises.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establishes a conceptual model of explaining digital resilience construction in resource-poor companies, outlining some sets of knowledge assets that facilitate fast adaptation to significant disruptions.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study is </a:t>
                      </a:r>
                      <a:r>
                        <a:rPr lang="en-GB" sz="1800" kern="1200" dirty="0" err="1">
                          <a:solidFill>
                            <a:schemeClr val="dk1"/>
                          </a:solidFill>
                          <a:effectLst/>
                          <a:latin typeface="+mn-lt"/>
                          <a:ea typeface="+mn-ea"/>
                          <a:cs typeface="+mn-cs"/>
                        </a:rPr>
                        <a:t>centered</a:t>
                      </a:r>
                      <a:r>
                        <a:rPr lang="en-GB" sz="1800" kern="1200" dirty="0">
                          <a:solidFill>
                            <a:schemeClr val="dk1"/>
                          </a:solidFill>
                          <a:effectLst/>
                          <a:latin typeface="+mn-lt"/>
                          <a:ea typeface="+mn-ea"/>
                          <a:cs typeface="+mn-cs"/>
                        </a:rPr>
                        <a:t> mainly on pandemic-related disruptions, and there is no extensive data given on digital resilience for other categories of crises (i.e., cybersecurity breaches). The study also lacks longitudinal data to determine the long-term stability of quickly built digital resilience capacity beyond short-term crises.</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3A0D849E-205E-284D-5BE6-3B616A720EA6}"/>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74</a:t>
            </a:r>
          </a:p>
        </p:txBody>
      </p:sp>
    </p:spTree>
    <p:extLst>
      <p:ext uri="{BB962C8B-B14F-4D97-AF65-F5344CB8AC3E}">
        <p14:creationId xmlns:p14="http://schemas.microsoft.com/office/powerpoint/2010/main" val="12987502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EEEB-73C3-5737-5C55-B297ABA09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F5707-1256-3047-33A6-CFB4028E9F7B}"/>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D4DC2545-2BB3-57E2-47C9-F84A9618F3E2}"/>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6537BB72-2ABD-5742-DF71-8BA57AE68234}"/>
              </a:ext>
            </a:extLst>
          </p:cNvPr>
          <p:cNvGraphicFramePr>
            <a:graphicFrameLocks noGrp="1"/>
          </p:cNvGraphicFramePr>
          <p:nvPr>
            <p:extLst>
              <p:ext uri="{D42A27DB-BD31-4B8C-83A1-F6EECF244321}">
                <p14:modId xmlns:p14="http://schemas.microsoft.com/office/powerpoint/2010/main" val="983588405"/>
              </p:ext>
            </p:extLst>
          </p:nvPr>
        </p:nvGraphicFramePr>
        <p:xfrm>
          <a:off x="10886" y="457200"/>
          <a:ext cx="9144001" cy="780362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Haifeng W, Kent W,  J, Morten B, J, (2020)</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The link between digitalization, network learning and performance in SME clusters</a:t>
                      </a: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Industry and Innovation / </a:t>
                      </a:r>
                      <a:r>
                        <a:rPr lang="en-GB" sz="1800" kern="1200" dirty="0">
                          <a:solidFill>
                            <a:schemeClr val="dk1"/>
                          </a:solidFill>
                          <a:effectLst/>
                          <a:latin typeface="+mn-lt"/>
                          <a:ea typeface="+mn-ea"/>
                          <a:cs typeface="+mn-cs"/>
                          <a:hlinkClick r:id="rId2"/>
                        </a:rPr>
                        <a:t>https://doi.org/10.1080/13662716.2020.1838273</a:t>
                      </a: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Limited literature available on how digitalization affects network learning processes and performance results in SME clusters, especially for mature manufacturing sectors facing pressures of digital transformation.</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Quantitative Explanatory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Digitalization level positively affects SME performance through its strengthening of network learning mechanisms. Its effect is moderated by cluster governance structures and knowledge sharing conventions. New types of weak ties are created by digital technologies to complement but not substitute for the strong ties long </a:t>
                      </a:r>
                      <a:r>
                        <a:rPr lang="en-GB" sz="1800" kern="1200" dirty="0" err="1">
                          <a:solidFill>
                            <a:schemeClr val="dk1"/>
                          </a:solidFill>
                          <a:effectLst/>
                          <a:latin typeface="+mn-lt"/>
                          <a:ea typeface="+mn-ea"/>
                          <a:cs typeface="+mn-cs"/>
                        </a:rPr>
                        <a:t>honored</a:t>
                      </a:r>
                      <a:r>
                        <a:rPr lang="en-GB" sz="1800" kern="1200" dirty="0">
                          <a:solidFill>
                            <a:schemeClr val="dk1"/>
                          </a:solidFill>
                          <a:effectLst/>
                          <a:latin typeface="+mn-lt"/>
                          <a:ea typeface="+mn-ea"/>
                          <a:cs typeface="+mn-cs"/>
                        </a:rPr>
                        <a:t> within SME clusters. There were some major Chinese-Danish cluster differences regarding the adoption and utilisation of digital tools for network learning</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contributes to the knowledge about how digitalization reshapes learning processes in SME clusters by identifying both default mechanisms and context-specific implementation patterns.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While comparing clusters within two different settings, the study provides limited proof on how development stage of clusters influences digitalization effects. Also, the study is primarily interested in formal learning processes, and informal knowledge flows that can be greatly altered by digital tools receive little attention.</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7C699694-DD51-DC9A-9725-AE58031A608E}"/>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75</a:t>
            </a:r>
          </a:p>
        </p:txBody>
      </p:sp>
    </p:spTree>
    <p:extLst>
      <p:ext uri="{BB962C8B-B14F-4D97-AF65-F5344CB8AC3E}">
        <p14:creationId xmlns:p14="http://schemas.microsoft.com/office/powerpoint/2010/main" val="27416721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EDD02-59EA-E2B4-0BAE-291B1E2CC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8048C-EEB5-C222-9D8D-804C4631A5EA}"/>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73B54EC0-2C7F-3A26-9931-0AE3808F7767}"/>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6E92F485-ABE9-232A-7676-F44EA73B9053}"/>
              </a:ext>
            </a:extLst>
          </p:cNvPr>
          <p:cNvGraphicFramePr>
            <a:graphicFrameLocks noGrp="1"/>
          </p:cNvGraphicFramePr>
          <p:nvPr>
            <p:extLst>
              <p:ext uri="{D42A27DB-BD31-4B8C-83A1-F6EECF244321}">
                <p14:modId xmlns:p14="http://schemas.microsoft.com/office/powerpoint/2010/main" val="1324438229"/>
              </p:ext>
            </p:extLst>
          </p:nvPr>
        </p:nvGraphicFramePr>
        <p:xfrm>
          <a:off x="10886" y="457200"/>
          <a:ext cx="9144001" cy="780362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Moreno-Gómez, J,  Escamilla-</a:t>
                      </a:r>
                      <a:r>
                        <a:rPr lang="en-GB" sz="1800" b="1" kern="1200" dirty="0" err="1">
                          <a:solidFill>
                            <a:schemeClr val="lt1"/>
                          </a:solidFill>
                          <a:effectLst/>
                          <a:latin typeface="+mn-lt"/>
                          <a:ea typeface="+mn-ea"/>
                          <a:cs typeface="+mn-cs"/>
                        </a:rPr>
                        <a:t>Manjón</a:t>
                      </a:r>
                      <a:r>
                        <a:rPr lang="en-GB" sz="1800" b="1" kern="1200" dirty="0">
                          <a:solidFill>
                            <a:schemeClr val="lt1"/>
                          </a:solidFill>
                          <a:effectLst/>
                          <a:latin typeface="+mn-lt"/>
                          <a:ea typeface="+mn-ea"/>
                          <a:cs typeface="+mn-cs"/>
                        </a:rPr>
                        <a:t>, L, E, and Moreno-Charris, A, V, (2023)</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b="0" kern="1200" dirty="0">
                          <a:solidFill>
                            <a:schemeClr val="dk1"/>
                          </a:solidFill>
                          <a:effectLst/>
                          <a:latin typeface="+mn-lt"/>
                          <a:ea typeface="+mn-ea"/>
                          <a:cs typeface="+mn-cs"/>
                        </a:rPr>
                        <a:t>Technology-enabled entrepreneurship: The mediating role of absorptive capacity in SME performance</a:t>
                      </a: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b="0" kern="1200" dirty="0">
                          <a:solidFill>
                            <a:schemeClr val="dk1"/>
                          </a:solidFill>
                          <a:effectLst/>
                          <a:latin typeface="+mn-lt"/>
                          <a:ea typeface="+mn-ea"/>
                          <a:cs typeface="+mn-cs"/>
                        </a:rPr>
                        <a:t>IEEE Transactions on Engineering Management / https://doi.org/10.1109/TEM.2023.3235984</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a:t>
                      </a:r>
                      <a:r>
                        <a:rPr lang="en-GB" sz="1800" b="0" kern="1200" dirty="0">
                          <a:solidFill>
                            <a:schemeClr val="dk1"/>
                          </a:solidFill>
                          <a:effectLst/>
                          <a:latin typeface="+mn-lt"/>
                          <a:ea typeface="+mn-ea"/>
                          <a:cs typeface="+mn-cs"/>
                        </a:rPr>
                        <a:t>Lack of proper understanding of how absorptive capacity mediates between technology adoption and performance outcomes results in SMEs with limited capacities and resources.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b="0" kern="1200" dirty="0">
                          <a:solidFill>
                            <a:schemeClr val="dk1"/>
                          </a:solidFill>
                          <a:effectLst/>
                          <a:latin typeface="+mn-lt"/>
                          <a:ea typeface="+mn-ea"/>
                          <a:cs typeface="+mn-cs"/>
                        </a:rPr>
                        <a:t>Quantitative Explanatory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b="0" kern="1200" dirty="0">
                          <a:solidFill>
                            <a:schemeClr val="dk1"/>
                          </a:solidFill>
                          <a:effectLst/>
                          <a:latin typeface="+mn-lt"/>
                          <a:ea typeface="+mn-ea"/>
                          <a:cs typeface="+mn-cs"/>
                        </a:rPr>
                        <a:t>Technology adoption positively influences SME performance, but this is completely mediated by absorptive capacity dimensions (acquisition, assimilation, transformation, and exploitation). SMEs that invest in developing knowledge management capabilities along with technology adoption have significantly better performance outcomes. The study identifies specific absorptive capacity bottlenecks that limit technology payoffs in small firms of limited size.</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a:t>
                      </a:r>
                      <a:r>
                        <a:rPr lang="en-GB" sz="1800" b="0" kern="1200" dirty="0">
                          <a:solidFill>
                            <a:schemeClr val="dk1"/>
                          </a:solidFill>
                          <a:effectLst/>
                          <a:latin typeface="+mn-lt"/>
                          <a:ea typeface="+mn-ea"/>
                          <a:cs typeface="+mn-cs"/>
                        </a:rPr>
                        <a:t>The research bridges the gap in literature between organizational learning approaches and technology entrepreneurship by providing further insight into how to optimize technological investment through enhanced capabilities development in conjunction.</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b="0" kern="1200" dirty="0">
                          <a:solidFill>
                            <a:schemeClr val="dk1"/>
                          </a:solidFill>
                          <a:effectLst/>
                          <a:latin typeface="+mn-lt"/>
                          <a:ea typeface="+mn-ea"/>
                          <a:cs typeface="+mn-cs"/>
                        </a:rPr>
                        <a:t>The design of cross-sectional study limits causal inference of technology adoption and performance outcomes. Few pragmatic recommendations are also not provided in the study about how capacity-constrained SMEs can develop absorptive capacity within budget limits.</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02E1181F-9AFF-E06A-B610-4BA872DEA677}"/>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76</a:t>
            </a:r>
          </a:p>
        </p:txBody>
      </p:sp>
    </p:spTree>
    <p:extLst>
      <p:ext uri="{BB962C8B-B14F-4D97-AF65-F5344CB8AC3E}">
        <p14:creationId xmlns:p14="http://schemas.microsoft.com/office/powerpoint/2010/main" val="29164842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C3EF3-825F-F063-471B-8DB649FA6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13AA9-FE16-EA27-1ECC-C189F938AF21}"/>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B44EBF2A-1080-DC62-DAA7-05346FB2204A}"/>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D94F5E91-F02B-7D27-4949-9518A075670E}"/>
              </a:ext>
            </a:extLst>
          </p:cNvPr>
          <p:cNvGraphicFramePr>
            <a:graphicFrameLocks noGrp="1"/>
          </p:cNvGraphicFramePr>
          <p:nvPr>
            <p:extLst>
              <p:ext uri="{D42A27DB-BD31-4B8C-83A1-F6EECF244321}">
                <p14:modId xmlns:p14="http://schemas.microsoft.com/office/powerpoint/2010/main" val="3978061539"/>
              </p:ext>
            </p:extLst>
          </p:nvPr>
        </p:nvGraphicFramePr>
        <p:xfrm>
          <a:off x="10886" y="457200"/>
          <a:ext cx="9144001" cy="725498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Muhammad A, Abrar U, Muhammad N, A, (2022)</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Determinants of green entrepreneurial intentions in small and medium enterprises: A developing economy perspective</a:t>
                      </a: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Cleaner Production / https://doi.org/10.1016/j.jclepro.2022.134271</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There is little literature on the determinants shaping green entrepreneurial intentions and </a:t>
                      </a:r>
                      <a:r>
                        <a:rPr lang="en-GB" sz="1800" kern="1200" dirty="0" err="1">
                          <a:solidFill>
                            <a:schemeClr val="dk1"/>
                          </a:solidFill>
                          <a:effectLst/>
                          <a:latin typeface="+mn-lt"/>
                          <a:ea typeface="+mn-ea"/>
                          <a:cs typeface="+mn-cs"/>
                        </a:rPr>
                        <a:t>behavior</a:t>
                      </a:r>
                      <a:r>
                        <a:rPr lang="en-GB" sz="1800" kern="1200" dirty="0">
                          <a:solidFill>
                            <a:schemeClr val="dk1"/>
                          </a:solidFill>
                          <a:effectLst/>
                          <a:latin typeface="+mn-lt"/>
                          <a:ea typeface="+mn-ea"/>
                          <a:cs typeface="+mn-cs"/>
                        </a:rPr>
                        <a:t> of SME owners among developing economies with environmental problems and sustainability problems.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 Quantitative Survey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Board social and human capital are positively related to SME performance, the relationships being moderated by strategic orientation and environmental dynamism. Board capital strengths are highest among innovation-oriented strategy SMEs in dynamic environments. Board formalization, however, at times creates rigidities that limit the strategic flexibility required of SMEs in turbulent environments.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This paper suggests an integrated model of green entrepreneurial intention formation in ecologically limited contexts that supplements conventional entrepreneurial intention models with environmental concerns and sustainability drivers.</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The research is primarily based on intentions and secondarily on green entrepreneurial action itself. Further, the research is also limited by the single-country context and comparative lack of policy and support programs that can mitigate the intention-</a:t>
                      </a:r>
                      <a:r>
                        <a:rPr lang="en-GB" sz="1800" kern="1200" dirty="0" err="1">
                          <a:solidFill>
                            <a:schemeClr val="dk1"/>
                          </a:solidFill>
                          <a:effectLst/>
                          <a:latin typeface="+mn-lt"/>
                          <a:ea typeface="+mn-ea"/>
                          <a:cs typeface="+mn-cs"/>
                        </a:rPr>
                        <a:t>behavior</a:t>
                      </a:r>
                      <a:r>
                        <a:rPr lang="en-GB" sz="1800" kern="1200" dirty="0">
                          <a:solidFill>
                            <a:schemeClr val="dk1"/>
                          </a:solidFill>
                          <a:effectLst/>
                          <a:latin typeface="+mn-lt"/>
                          <a:ea typeface="+mn-ea"/>
                          <a:cs typeface="+mn-cs"/>
                        </a:rPr>
                        <a:t> gap for resource-constrained SMEs.</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D064F47A-AF65-C4A1-44B1-FF4552088277}"/>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77</a:t>
            </a:r>
          </a:p>
        </p:txBody>
      </p:sp>
    </p:spTree>
    <p:extLst>
      <p:ext uri="{BB962C8B-B14F-4D97-AF65-F5344CB8AC3E}">
        <p14:creationId xmlns:p14="http://schemas.microsoft.com/office/powerpoint/2010/main" val="40679213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98220-8AC6-F621-2053-08BF9D043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1028A-6CA6-AF7A-1A31-26A09A135F86}"/>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81332651-4225-A034-4C98-B1637F1285EA}"/>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06CAC3D8-6A76-D2A6-FE6E-CDA4F2DC2CF6}"/>
              </a:ext>
            </a:extLst>
          </p:cNvPr>
          <p:cNvGraphicFramePr>
            <a:graphicFrameLocks noGrp="1"/>
          </p:cNvGraphicFramePr>
          <p:nvPr>
            <p:extLst>
              <p:ext uri="{D42A27DB-BD31-4B8C-83A1-F6EECF244321}">
                <p14:modId xmlns:p14="http://schemas.microsoft.com/office/powerpoint/2010/main" val="4025764743"/>
              </p:ext>
            </p:extLst>
          </p:nvPr>
        </p:nvGraphicFramePr>
        <p:xfrm>
          <a:off x="10886" y="457200"/>
          <a:ext cx="9144001" cy="780362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Oana B, Sophie B, Aida R, Issac G,  (2021)</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Social entrepreneurial orientation in small business: Exploring the heterogeneity of value creation and capture mechanisms</a:t>
                      </a: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Journal of Business Venturing / https://doi.org/10.1016/j.jbusvent.2021.106144</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Lack of knowledge regarding how social entrepreneurial orientation emerges in traditional small firms and affects their value creation and capture mechanisms.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 Quantitative Survey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Social entrepreneurial orientation of small business is on a continuum and not a dichotomous trait. Four different configurations of differing value creation and capture processes existed: social-commercial hybrids, community embeddedness-led, purpose-led innovators, and incremental social contributors. More social entrepreneurial oriented small businesses had more stakeholders involved and legitimate in the community, but more problems in terms of capturing sufficient economic value to guarantee business sustainability.</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makes a contribution to corporate governance literature to the emerging economy context of SMEs, subjecting hypotheses from large firm research to tests and determining governance configurations for small firms.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The research is limited by being confined within its Canadian small business setting in a relatively stable institutional context. The research also offers limited understanding of how digital transformation is transforming social value creation opportunities for small firms.</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647F6F53-4E90-929E-E6DF-0F7F7F4C91EA}"/>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78</a:t>
            </a:r>
          </a:p>
        </p:txBody>
      </p:sp>
    </p:spTree>
    <p:extLst>
      <p:ext uri="{BB962C8B-B14F-4D97-AF65-F5344CB8AC3E}">
        <p14:creationId xmlns:p14="http://schemas.microsoft.com/office/powerpoint/2010/main" val="210710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11655-0F9D-06E8-3BBE-E45B4905B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96E42-5E39-7044-647E-ACD0F77D40BD}"/>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E8113A86-CC8B-F2D1-B209-2019CF19A159}"/>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731CFF3F-2DA7-4D57-192B-29B1274A0F73}"/>
              </a:ext>
            </a:extLst>
          </p:cNvPr>
          <p:cNvGraphicFramePr>
            <a:graphicFrameLocks noGrp="1"/>
          </p:cNvGraphicFramePr>
          <p:nvPr>
            <p:extLst>
              <p:ext uri="{D42A27DB-BD31-4B8C-83A1-F6EECF244321}">
                <p14:modId xmlns:p14="http://schemas.microsoft.com/office/powerpoint/2010/main" val="2070386767"/>
              </p:ext>
            </p:extLst>
          </p:nvPr>
        </p:nvGraphicFramePr>
        <p:xfrm>
          <a:off x="10886" y="457200"/>
          <a:ext cx="9144001" cy="807794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r>
                        <a:rPr lang="en-GB" sz="1800" b="1" kern="1200" dirty="0">
                          <a:solidFill>
                            <a:schemeClr val="lt1"/>
                          </a:solidFill>
                          <a:effectLst/>
                          <a:latin typeface="+mn-lt"/>
                          <a:ea typeface="+mn-ea"/>
                          <a:cs typeface="+mn-cs"/>
                        </a:rPr>
                        <a:t> Khuram S, Muhammad S, A, Muhammad U, A, Farooq A, (2020)</a:t>
                      </a: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The contingent value of board capital for SME performance: Evidence from an emerging economy</a:t>
                      </a: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Corporate Governance: An International Review / https://doi.org/10.1111/corg.12354</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Lack of understanding regarding the significance of board capital in SME performance in weak institutional governance emerging economies, specifically concerning the unique governance requirements of small firms relative to large firms.</a:t>
                      </a: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 Quantitative survey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Social entrepreneurial orientation of small business is on a continuum and not a dichotomous trait. Four different configurations of differing value creation and capture processes existed: social-commercial hybrids, community embeddedness-led, purpose-led innovators, and incremental social contributors. More social entrepreneurial oriented small businesses had more stakeholders involved and legitimate in the community, but more problems in terms of capturing sufficient economic value to guarantee business sustainability.</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research contributes to social entrepreneurship knowledge beyond dedicated social enterprises by showing how mainstream small firms embed social goals and outlining specific configurations of value that enable simultaneous social and economic value creation.</a:t>
                      </a: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Statutory governance problems primarily are dealt with by the study whilst offering limited information on informal governance processes possibly more common in small firms. Cross-sectional design also constrains learning about how board capital influences change over the lifecycle of the SME</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C577AAB1-2886-0E01-B02C-9330E4034E7D}"/>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79</a:t>
            </a:r>
          </a:p>
        </p:txBody>
      </p:sp>
    </p:spTree>
    <p:extLst>
      <p:ext uri="{BB962C8B-B14F-4D97-AF65-F5344CB8AC3E}">
        <p14:creationId xmlns:p14="http://schemas.microsoft.com/office/powerpoint/2010/main" val="26219069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F87A4-CD38-DE57-33CA-C3DB002D5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552B8-E91B-D42F-18D6-382D9A23854F}"/>
              </a:ext>
            </a:extLst>
          </p:cNvPr>
          <p:cNvSpPr>
            <a:spLocks noGrp="1"/>
          </p:cNvSpPr>
          <p:nvPr>
            <p:ph type="title"/>
          </p:nvPr>
        </p:nvSpPr>
        <p:spPr>
          <a:xfrm>
            <a:off x="457200" y="160337"/>
            <a:ext cx="8229600" cy="1143000"/>
          </a:xfrm>
        </p:spPr>
        <p:txBody>
          <a:bodyPr/>
          <a:lstStyle/>
          <a:p>
            <a:endParaRPr lang="en-GB" dirty="0"/>
          </a:p>
        </p:txBody>
      </p:sp>
      <p:sp>
        <p:nvSpPr>
          <p:cNvPr id="3" name="Content Placeholder 2">
            <a:extLst>
              <a:ext uri="{FF2B5EF4-FFF2-40B4-BE49-F238E27FC236}">
                <a16:creationId xmlns:a16="http://schemas.microsoft.com/office/drawing/2014/main" id="{F4BD5C83-0DD0-FEEE-95AA-2C5FF32F130C}"/>
              </a:ext>
            </a:extLst>
          </p:cNvPr>
          <p:cNvSpPr>
            <a:spLocks noGrp="1"/>
          </p:cNvSpPr>
          <p:nvPr>
            <p:ph idx="1"/>
          </p:nvPr>
        </p:nvSpPr>
        <p:spPr/>
        <p:txBody>
          <a:bodyPr/>
          <a:lstStyle/>
          <a:p>
            <a:endParaRPr lang="en-GB"/>
          </a:p>
        </p:txBody>
      </p:sp>
      <p:graphicFrame>
        <p:nvGraphicFramePr>
          <p:cNvPr id="6" name="Table 3">
            <a:extLst>
              <a:ext uri="{FF2B5EF4-FFF2-40B4-BE49-F238E27FC236}">
                <a16:creationId xmlns:a16="http://schemas.microsoft.com/office/drawing/2014/main" id="{1CA4C8E8-BB6D-40D7-B7F9-E6C8FDA11E06}"/>
              </a:ext>
            </a:extLst>
          </p:cNvPr>
          <p:cNvGraphicFramePr>
            <a:graphicFrameLocks noGrp="1"/>
          </p:cNvGraphicFramePr>
          <p:nvPr>
            <p:extLst>
              <p:ext uri="{D42A27DB-BD31-4B8C-83A1-F6EECF244321}">
                <p14:modId xmlns:p14="http://schemas.microsoft.com/office/powerpoint/2010/main" val="618563716"/>
              </p:ext>
            </p:extLst>
          </p:nvPr>
        </p:nvGraphicFramePr>
        <p:xfrm>
          <a:off x="10886" y="457200"/>
          <a:ext cx="9144001" cy="8037304"/>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7620001">
                  <a:extLst>
                    <a:ext uri="{9D8B030D-6E8A-4147-A177-3AD203B41FA5}">
                      <a16:colId xmlns:a16="http://schemas.microsoft.com/office/drawing/2014/main" val="20001"/>
                    </a:ext>
                  </a:extLst>
                </a:gridCol>
              </a:tblGrid>
              <a:tr h="406400">
                <a:tc>
                  <a:txBody>
                    <a:bodyPr/>
                    <a:lstStyle/>
                    <a:p>
                      <a:pPr algn="l"/>
                      <a:r>
                        <a:rPr lang="en-US" sz="1800" b="1" dirty="0">
                          <a:solidFill>
                            <a:schemeClr val="tx1"/>
                          </a:solidFill>
                          <a:latin typeface="+mn-lt"/>
                        </a:rPr>
                        <a:t>Author/Date: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lt1"/>
                          </a:solidFill>
                          <a:effectLst/>
                          <a:latin typeface="+mn-lt"/>
                          <a:ea typeface="+mn-ea"/>
                          <a:cs typeface="+mn-cs"/>
                        </a:rPr>
                        <a:t> Elisa U, Giuseppe R, David A, Solomon M, (2022)</a:t>
                      </a:r>
                    </a:p>
                    <a:p>
                      <a:endParaRPr lang="en-GB" sz="1800" b="1" kern="1200" dirty="0">
                        <a:solidFill>
                          <a:schemeClr val="lt1"/>
                        </a:solidFill>
                        <a:effectLst/>
                        <a:latin typeface="+mn-lt"/>
                        <a:ea typeface="+mn-ea"/>
                        <a:cs typeface="+mn-cs"/>
                      </a:endParaRPr>
                    </a:p>
                  </a:txBody>
                  <a:tcPr marL="68580" marR="68580"/>
                </a:tc>
                <a:extLst>
                  <a:ext uri="{0D108BD9-81ED-4DB2-BD59-A6C34878D82A}">
                    <a16:rowId xmlns:a16="http://schemas.microsoft.com/office/drawing/2014/main" val="10000"/>
                  </a:ext>
                </a:extLst>
              </a:tr>
              <a:tr h="476703">
                <a:tc>
                  <a:txBody>
                    <a:bodyPr/>
                    <a:lstStyle/>
                    <a:p>
                      <a:pPr algn="l"/>
                      <a:r>
                        <a:rPr lang="en-US" sz="1800" b="1" dirty="0">
                          <a:solidFill>
                            <a:schemeClr val="tx1"/>
                          </a:solidFill>
                          <a:latin typeface="+mn-lt"/>
                        </a:rPr>
                        <a:t>Title:</a:t>
                      </a:r>
                    </a:p>
                  </a:txBody>
                  <a:tcPr marL="68580" marR="68580"/>
                </a:tc>
                <a:tc>
                  <a:txBody>
                    <a:bodyPr/>
                    <a:lstStyle/>
                    <a:p>
                      <a:r>
                        <a:rPr lang="en-GB" sz="1800" kern="1200" dirty="0">
                          <a:solidFill>
                            <a:schemeClr val="dk1"/>
                          </a:solidFill>
                          <a:effectLst/>
                          <a:latin typeface="+mn-lt"/>
                          <a:ea typeface="+mn-ea"/>
                          <a:cs typeface="+mn-cs"/>
                        </a:rPr>
                        <a:t>Financial constraints and entrepreneurial growth aspirations: The moderating role of entrepreneurial support policies</a:t>
                      </a:r>
                    </a:p>
                  </a:txBody>
                  <a:tcPr marL="68580" marR="68580"/>
                </a:tc>
                <a:extLst>
                  <a:ext uri="{0D108BD9-81ED-4DB2-BD59-A6C34878D82A}">
                    <a16:rowId xmlns:a16="http://schemas.microsoft.com/office/drawing/2014/main" val="10001"/>
                  </a:ext>
                </a:extLst>
              </a:tr>
              <a:tr h="0">
                <a:tc>
                  <a:txBody>
                    <a:bodyPr/>
                    <a:lstStyle/>
                    <a:p>
                      <a:pPr algn="l"/>
                      <a:r>
                        <a:rPr lang="en-US" sz="1800" b="1" dirty="0">
                          <a:solidFill>
                            <a:schemeClr val="tx1"/>
                          </a:solidFill>
                          <a:latin typeface="+mn-lt"/>
                        </a:rPr>
                        <a:t>Journal/ DOI</a:t>
                      </a:r>
                      <a:endParaRPr lang="en-US" sz="1800" b="1" dirty="0">
                        <a:latin typeface="+mn-lt"/>
                      </a:endParaRPr>
                    </a:p>
                  </a:txBody>
                  <a:tcPr marL="68580" marR="68580"/>
                </a:tc>
                <a:tc>
                  <a:txBody>
                    <a:bodyPr/>
                    <a:lstStyle/>
                    <a:p>
                      <a:r>
                        <a:rPr lang="en-GB" sz="1800" kern="1200" dirty="0">
                          <a:solidFill>
                            <a:schemeClr val="dk1"/>
                          </a:solidFill>
                          <a:effectLst/>
                          <a:latin typeface="+mn-lt"/>
                          <a:ea typeface="+mn-ea"/>
                          <a:cs typeface="+mn-cs"/>
                        </a:rPr>
                        <a:t>Small Business Economics / https://doi.org/10.1007/s11187-022-00598-6</a:t>
                      </a:r>
                    </a:p>
                  </a:txBody>
                  <a:tcPr marL="68580" marR="68580"/>
                </a:tc>
                <a:extLst>
                  <a:ext uri="{0D108BD9-81ED-4DB2-BD59-A6C34878D82A}">
                    <a16:rowId xmlns:a16="http://schemas.microsoft.com/office/drawing/2014/main" val="10002"/>
                  </a:ext>
                </a:extLst>
              </a:tr>
              <a:tr h="1362184">
                <a:tc>
                  <a:txBody>
                    <a:bodyPr/>
                    <a:lstStyle/>
                    <a:p>
                      <a:pPr algn="l"/>
                      <a:r>
                        <a:rPr lang="en-US" sz="1800" b="1" dirty="0">
                          <a:solidFill>
                            <a:schemeClr val="tx1"/>
                          </a:solidFill>
                          <a:latin typeface="+mn-lt"/>
                        </a:rPr>
                        <a:t>Statement of Problem</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Lack of proper understanding of how entrepreneurial support policies act as a mediator in the influence of financial constraints on small business owner growth aspirations.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3"/>
                  </a:ext>
                </a:extLst>
              </a:tr>
              <a:tr h="158353">
                <a:tc>
                  <a:txBody>
                    <a:bodyPr/>
                    <a:lstStyle/>
                    <a:p>
                      <a:pPr algn="l"/>
                      <a:r>
                        <a:rPr lang="en-US" sz="1800" b="1">
                          <a:solidFill>
                            <a:schemeClr val="tx1"/>
                          </a:solidFill>
                          <a:latin typeface="+mn-lt"/>
                        </a:rPr>
                        <a:t>Methodology</a:t>
                      </a:r>
                      <a:endParaRPr lang="en-US" sz="1800" b="1" dirty="0">
                        <a:solidFill>
                          <a:schemeClr val="tx1"/>
                        </a:solidFill>
                        <a:latin typeface="+mn-lt"/>
                      </a:endParaRPr>
                    </a:p>
                  </a:txBody>
                  <a:tcPr marL="68580" marR="68580"/>
                </a:tc>
                <a:tc>
                  <a:txBody>
                    <a:bodyPr/>
                    <a:lstStyle/>
                    <a:p>
                      <a:r>
                        <a:rPr lang="en-GB" sz="1800" kern="1200" dirty="0">
                          <a:solidFill>
                            <a:schemeClr val="dk1"/>
                          </a:solidFill>
                          <a:effectLst/>
                          <a:latin typeface="+mn-lt"/>
                          <a:ea typeface="+mn-ea"/>
                          <a:cs typeface="+mn-cs"/>
                        </a:rPr>
                        <a:t> Quantitative Survey Design.</a:t>
                      </a:r>
                    </a:p>
                  </a:txBody>
                  <a:tcPr marL="68580" marR="68580"/>
                </a:tc>
                <a:extLst>
                  <a:ext uri="{0D108BD9-81ED-4DB2-BD59-A6C34878D82A}">
                    <a16:rowId xmlns:a16="http://schemas.microsoft.com/office/drawing/2014/main" val="10004"/>
                  </a:ext>
                </a:extLst>
              </a:tr>
              <a:tr h="773070">
                <a:tc>
                  <a:txBody>
                    <a:bodyPr/>
                    <a:lstStyle/>
                    <a:p>
                      <a:pPr algn="l"/>
                      <a:r>
                        <a:rPr lang="en-US" sz="1800" b="1" dirty="0">
                          <a:solidFill>
                            <a:schemeClr val="tx1"/>
                          </a:solidFill>
                          <a:latin typeface="+mn-lt"/>
                        </a:rPr>
                        <a:t>Findings:</a:t>
                      </a:r>
                    </a:p>
                  </a:txBody>
                  <a:tcPr marL="68580" marR="68580"/>
                </a:tc>
                <a:tc>
                  <a:txBody>
                    <a:bodyPr/>
                    <a:lstStyle/>
                    <a:p>
                      <a:r>
                        <a:rPr lang="en-GB" sz="1800" kern="1200" dirty="0">
                          <a:solidFill>
                            <a:schemeClr val="dk1"/>
                          </a:solidFill>
                          <a:effectLst/>
                          <a:latin typeface="+mn-lt"/>
                          <a:ea typeface="+mn-ea"/>
                          <a:cs typeface="+mn-cs"/>
                        </a:rPr>
                        <a:t>Entrepreneurial growth desires are negatively influenced by economic limitations but with the strong moderation of support policies towards entrepreneurs. In particular, targeted subsidy schemes and money management education exhibit stronger moderation compared to general tax incentives. The effectiveness of support policies depends on the entrepreneur type, with necessity-based entrepreneurs supported differently than opportunity-based entrepreneurs.</a:t>
                      </a:r>
                    </a:p>
                  </a:txBody>
                  <a:tcPr marL="68580" marR="68580"/>
                </a:tc>
                <a:extLst>
                  <a:ext uri="{0D108BD9-81ED-4DB2-BD59-A6C34878D82A}">
                    <a16:rowId xmlns:a16="http://schemas.microsoft.com/office/drawing/2014/main" val="10005"/>
                  </a:ext>
                </a:extLst>
              </a:tr>
              <a:tr h="745744">
                <a:tc>
                  <a:txBody>
                    <a:bodyPr/>
                    <a:lstStyle/>
                    <a:p>
                      <a:pPr algn="l"/>
                      <a:r>
                        <a:rPr lang="en-US" sz="1800" b="1" dirty="0">
                          <a:solidFill>
                            <a:schemeClr val="tx1"/>
                          </a:solidFill>
                          <a:latin typeface="+mn-lt"/>
                        </a:rPr>
                        <a:t>Contribution  to knowledge</a:t>
                      </a:r>
                    </a:p>
                  </a:txBody>
                  <a:tcPr marL="68580" marR="6858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200" dirty="0">
                          <a:solidFill>
                            <a:schemeClr val="dk1"/>
                          </a:solidFill>
                          <a:effectLst/>
                          <a:latin typeface="+mn-lt"/>
                          <a:ea typeface="+mn-ea"/>
                          <a:cs typeface="+mn-cs"/>
                        </a:rPr>
                        <a:t>  The study offers a sophisticated explanation of how certain policy tools alleviate the adverse effect of financial constraint on growth aspirations, which guide more targeted policy measures.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10006"/>
                  </a:ext>
                </a:extLst>
              </a:tr>
              <a:tr h="0">
                <a:tc>
                  <a:txBody>
                    <a:bodyPr/>
                    <a:lstStyle/>
                    <a:p>
                      <a:pPr algn="l"/>
                      <a:r>
                        <a:rPr lang="en-US" sz="1800" b="1" dirty="0">
                          <a:solidFill>
                            <a:schemeClr val="tx1"/>
                          </a:solidFill>
                          <a:latin typeface="+mn-lt"/>
                        </a:rPr>
                        <a:t>Gaps</a:t>
                      </a:r>
                    </a:p>
                  </a:txBody>
                  <a:tcPr marL="68580" marR="68580"/>
                </a:tc>
                <a:tc>
                  <a:txBody>
                    <a:bodyPr/>
                    <a:lstStyle/>
                    <a:p>
                      <a:r>
                        <a:rPr lang="en-GB" sz="1800" kern="1200" dirty="0">
                          <a:solidFill>
                            <a:schemeClr val="dk1"/>
                          </a:solidFill>
                          <a:effectLst/>
                          <a:latin typeface="+mn-lt"/>
                          <a:ea typeface="+mn-ea"/>
                          <a:cs typeface="+mn-cs"/>
                        </a:rPr>
                        <a:t>Statutory governance problems primarily are dealt with by the study whilst  The study primarily depends on expressed growth aspirations instead of observed growth performances. Additionally, the study offers minimal information on how digital finance innovations are reshaping the dynamics among traditional financial constraints and entrepreneurial expansion.</a:t>
                      </a:r>
                    </a:p>
                  </a:txBody>
                  <a:tcPr marL="68580" marR="68580"/>
                </a:tc>
                <a:extLst>
                  <a:ext uri="{0D108BD9-81ED-4DB2-BD59-A6C34878D82A}">
                    <a16:rowId xmlns:a16="http://schemas.microsoft.com/office/drawing/2014/main" val="10007"/>
                  </a:ext>
                </a:extLst>
              </a:tr>
            </a:tbl>
          </a:graphicData>
        </a:graphic>
      </p:graphicFrame>
      <p:sp>
        <p:nvSpPr>
          <p:cNvPr id="7" name="Title 1">
            <a:extLst>
              <a:ext uri="{FF2B5EF4-FFF2-40B4-BE49-F238E27FC236}">
                <a16:creationId xmlns:a16="http://schemas.microsoft.com/office/drawing/2014/main" id="{1163AFAB-9352-B416-DF95-7681957BC92C}"/>
              </a:ext>
            </a:extLst>
          </p:cNvPr>
          <p:cNvSpPr txBox="1">
            <a:spLocks/>
          </p:cNvSpPr>
          <p:nvPr/>
        </p:nvSpPr>
        <p:spPr>
          <a:xfrm>
            <a:off x="1371600" y="0"/>
            <a:ext cx="64008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t>ARTICLE 80</a:t>
            </a:r>
          </a:p>
        </p:txBody>
      </p:sp>
    </p:spTree>
    <p:extLst>
      <p:ext uri="{BB962C8B-B14F-4D97-AF65-F5344CB8AC3E}">
        <p14:creationId xmlns:p14="http://schemas.microsoft.com/office/powerpoint/2010/main" val="2880528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1102</TotalTime>
  <Words>19919</Words>
  <Application>Microsoft Office PowerPoint</Application>
  <PresentationFormat>On-screen Show (4:3)</PresentationFormat>
  <Paragraphs>1519</Paragraphs>
  <Slides>81</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Arial</vt:lpstr>
      <vt:lpstr>Calibri</vt:lpstr>
      <vt:lpstr>Calibri Light</vt:lpstr>
      <vt:lpstr>Times New Roman</vt:lpstr>
      <vt:lpstr>Tw Cen MT</vt:lpstr>
      <vt:lpstr>Office Theme</vt:lpstr>
      <vt:lpstr>PowerPoint Presentation</vt:lpstr>
      <vt:lpstr>ARTICLE 1</vt:lpstr>
      <vt:lpstr>ARTICLE 2</vt:lpstr>
      <vt:lpstr>ARTICLE 3</vt:lpstr>
      <vt:lpstr>ARTICLE 4</vt:lpstr>
      <vt:lpstr>ARTICLE 5</vt:lpstr>
      <vt:lpstr>Article 6</vt:lpstr>
      <vt:lpstr>PowerPoint Presentation</vt:lpstr>
      <vt:lpstr>Article 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ARTICLE 41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Ayomide Oluniyi</cp:lastModifiedBy>
  <cp:revision>15</cp:revision>
  <dcterms:created xsi:type="dcterms:W3CDTF">2023-08-06T15:47:06Z</dcterms:created>
  <dcterms:modified xsi:type="dcterms:W3CDTF">2025-04-23T14:50:39Z</dcterms:modified>
</cp:coreProperties>
</file>